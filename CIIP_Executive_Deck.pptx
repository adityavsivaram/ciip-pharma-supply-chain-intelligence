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Base CIIP Score</c:v>
                </c:pt>
              </c:strCache>
            </c:strRef>
          </c:tx>
          <c:spPr>
            <a:solidFill>
              <a:srgbClr val="D97706"/>
            </a:solidFill>
            <a:effectLst/>
          </c:spPr>
          <c:invertIfNegative val="0"/>
          <c:dLbls>
            <c:numFmt formatCode="#,##0" sourceLinked="0"/>
            <c:txPr>
              <a:bodyPr/>
              <a:lstStyle/>
              <a:p>
                <a:pPr>
                  <a:defRPr b="0" i="0" strike="noStrike" sz="800" u="none">
                    <a:solidFill>
                      <a:srgbClr val="F8FAFC"/>
                    </a:solidFill>
                    <a:latin typeface="Arial"/>
                  </a:defRPr>
                </a:pPr>
              </a:p>
            </c:txPr>
            <c:showLegendKey val="0"/>
            <c:showVal val="1"/>
            <c:showCatName val="0"/>
            <c:showSerName val="0"/>
            <c:showPercent val="0"/>
            <c:showBubbleSize val="0"/>
            <c:showLeaderLines val="0"/>
          </c:dLbls>
          <c:cat>
            <c:multiLvlStrRef>
              <c:f>Sheet1!$A$2:$A$6</c:f>
              <c:multiLvlStrCache>
                <c:ptCount val="5"/>
                <c:lvl>
                  <c:pt idx="0">
                    <c:v>LNG Japan</c:v>
                  </c:pt>
                  <c:pt idx="1">
                    <c:v>Soda Ash</c:v>
                  </c:pt>
                  <c:pt idx="2">
                    <c:v>Methanol</c:v>
                  </c:pt>
                  <c:pt idx="3">
                    <c:v>Acetic Acid</c:v>
                  </c:pt>
                  <c:pt idx="4">
                    <c:v>Polysilicon</c:v>
                  </c:pt>
                </c:lvl>
              </c:multiLvlStrCache>
            </c:multiLvlStrRef>
          </c:cat>
          <c:val>
            <c:numRef>
              <c:f>Sheet1!$B$2:$B$6</c:f>
              <c:numCache>
                <c:formatCode>General</c:formatCode>
                <c:ptCount val="5"/>
                <c:pt idx="0">
                  <c:v>9.5</c:v>
                </c:pt>
                <c:pt idx="1">
                  <c:v>8.67</c:v>
                </c:pt>
                <c:pt idx="2">
                  <c:v>7.5</c:v>
                </c:pt>
                <c:pt idx="3">
                  <c:v>7.5</c:v>
                </c:pt>
                <c:pt idx="4">
                  <c:v>6</c:v>
                </c:pt>
              </c:numCache>
            </c:numRef>
          </c:val>
        </c:ser>
        <c:ser>
          <c:idx val="1"/>
          <c:order val="1"/>
          <c:tx>
            <c:strRef>
              <c:f>Sheet1!$C$1</c:f>
              <c:strCache>
                <c:ptCount val="1"/>
                <c:pt idx="0">
                  <c:v>Weighted CIIP</c:v>
                </c:pt>
              </c:strCache>
            </c:strRef>
          </c:tx>
          <c:spPr>
            <a:solidFill>
              <a:srgbClr val="3B82F6"/>
            </a:solidFill>
            <a:effectLst/>
          </c:spPr>
          <c:invertIfNegative val="0"/>
          <c:dLbls>
            <c:numFmt formatCode="#,##0" sourceLinked="0"/>
            <c:txPr>
              <a:bodyPr/>
              <a:lstStyle/>
              <a:p>
                <a:pPr>
                  <a:defRPr b="0" i="0" strike="noStrike" sz="800" u="none">
                    <a:solidFill>
                      <a:srgbClr val="F8FAFC"/>
                    </a:solidFill>
                    <a:latin typeface="Arial"/>
                  </a:defRPr>
                </a:pPr>
              </a:p>
            </c:txPr>
            <c:showLegendKey val="0"/>
            <c:showVal val="1"/>
            <c:showCatName val="0"/>
            <c:showSerName val="0"/>
            <c:showPercent val="0"/>
            <c:showBubbleSize val="0"/>
            <c:showLeaderLines val="0"/>
          </c:dLbls>
          <c:cat>
            <c:multiLvlStrRef>
              <c:f>Sheet1!$A$2:$A$6</c:f>
              <c:multiLvlStrCache>
                <c:ptCount val="5"/>
                <c:lvl>
                  <c:pt idx="0">
                    <c:v>LNG Japan</c:v>
                  </c:pt>
                  <c:pt idx="1">
                    <c:v>Soda Ash</c:v>
                  </c:pt>
                  <c:pt idx="2">
                    <c:v>Methanol</c:v>
                  </c:pt>
                  <c:pt idx="3">
                    <c:v>Acetic Acid</c:v>
                  </c:pt>
                  <c:pt idx="4">
                    <c:v>Polysilicon</c:v>
                  </c:pt>
                </c:lvl>
              </c:multiLvlStrCache>
            </c:multiLvlStrRef>
          </c:cat>
          <c:val>
            <c:numRef>
              <c:f>Sheet1!$C$2:$C$6</c:f>
              <c:numCache>
                <c:formatCode>General</c:formatCode>
                <c:ptCount val="5"/>
                <c:pt idx="0">
                  <c:v>9.8</c:v>
                </c:pt>
                <c:pt idx="1">
                  <c:v>8.8</c:v>
                </c:pt>
                <c:pt idx="2">
                  <c:v>7.9</c:v>
                </c:pt>
                <c:pt idx="3">
                  <c:v>8.1</c:v>
                </c:pt>
                <c:pt idx="4">
                  <c:v>5.7</c:v>
                </c:pt>
              </c:numCache>
            </c:numRef>
          </c:val>
        </c:ser>
        <c:dLbls>
          <c:numFmt formatCode="#,##0" sourceLinked="0"/>
          <c:txPr>
            <a:bodyPr/>
            <a:lstStyle/>
            <a:p>
              <a:pPr>
                <a:defRPr b="0" i="0" strike="noStrike" sz="800" u="none">
                  <a:solidFill>
                    <a:srgbClr val="F8FAF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max val="10"/>
        </c:scaling>
        <c:delete val="0"/>
        <c:axPos val="b"/>
        <c:majorGridlines>
          <c:spPr>
            <a:ln w="6350" cap="flat">
              <a:solidFill>
                <a:srgbClr val="21262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solidFill>
          <a:srgbClr val="161B22"/>
        </a:solidFill>
        <a:ln>
          <a:noFill/>
        </a:ln>
        <a:effectLst/>
      </c:spPr>
    </c:plotArea>
    <c:legend>
      <c:legendPos val="b"/>
      <c:overlay val="0"/>
    </c:legend>
    <c:plotVisOnly val="1"/>
    <c:dispBlanksAs val="span"/>
  </c:chart>
  <c:spPr>
    <a:solidFill>
      <a:srgbClr val="161B2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B0D"/>
        </a:solidFill>
      </p:bgPr>
    </p:bg>
    <p:spTree>
      <p:nvGrpSpPr>
        <p:cNvPr id="1" name=""/>
        <p:cNvGrpSpPr/>
        <p:nvPr/>
      </p:nvGrpSpPr>
      <p:grpSpPr>
        <a:xfrm>
          <a:off x="0" y="0"/>
          <a:ext cx="0" cy="0"/>
          <a:chOff x="0" y="0"/>
          <a:chExt cx="0" cy="0"/>
        </a:xfrm>
      </p:grpSpPr>
      <p:sp>
        <p:nvSpPr>
          <p:cNvPr id="2" name="Shape 0"/>
          <p:cNvSpPr/>
          <p:nvPr/>
        </p:nvSpPr>
        <p:spPr>
          <a:xfrm>
            <a:off x="0" y="0"/>
            <a:ext cx="9144000" cy="27432"/>
          </a:xfrm>
          <a:prstGeom prst="rect">
            <a:avLst/>
          </a:prstGeom>
          <a:solidFill>
            <a:srgbClr val="D97706"/>
          </a:solidFill>
          <a:ln w="12700">
            <a:solidFill>
              <a:srgbClr val="D97706"/>
            </a:solidFill>
            <a:prstDash val="solid"/>
          </a:ln>
        </p:spPr>
      </p:sp>
      <p:sp>
        <p:nvSpPr>
          <p:cNvPr id="3" name="Shape 1"/>
          <p:cNvSpPr/>
          <p:nvPr/>
        </p:nvSpPr>
        <p:spPr>
          <a:xfrm>
            <a:off x="502920" y="1005840"/>
            <a:ext cx="54864" cy="2926080"/>
          </a:xfrm>
          <a:prstGeom prst="rect">
            <a:avLst/>
          </a:prstGeom>
          <a:solidFill>
            <a:srgbClr val="D97706"/>
          </a:solidFill>
          <a:ln w="12700">
            <a:solidFill>
              <a:srgbClr val="D97706"/>
            </a:solidFill>
            <a:prstDash val="solid"/>
          </a:ln>
        </p:spPr>
      </p:sp>
      <p:sp>
        <p:nvSpPr>
          <p:cNvPr id="4" name="Text 2"/>
          <p:cNvSpPr/>
          <p:nvPr/>
        </p:nvSpPr>
        <p:spPr>
          <a:xfrm>
            <a:off x="713232" y="960120"/>
            <a:ext cx="5486400" cy="411480"/>
          </a:xfrm>
          <a:prstGeom prst="rect">
            <a:avLst/>
          </a:prstGeom>
          <a:noFill/>
          <a:ln/>
        </p:spPr>
        <p:txBody>
          <a:bodyPr wrap="square" lIns="0" tIns="0" rIns="0" bIns="0" rtlCol="0" anchor="ctr"/>
          <a:lstStyle/>
          <a:p>
            <a:pPr indent="0" marL="0">
              <a:buNone/>
            </a:pPr>
            <a:r>
              <a:rPr lang="en-US" sz="1100" b="1" spc="600" kern="0" dirty="0">
                <a:solidFill>
                  <a:srgbClr val="D97706"/>
                </a:solidFill>
                <a:latin typeface="Calibri" pitchFamily="34" charset="0"/>
                <a:ea typeface="Calibri" pitchFamily="34" charset="-122"/>
                <a:cs typeface="Calibri" pitchFamily="34" charset="-120"/>
              </a:rPr>
              <a:t>CIIP INDEX</a:t>
            </a:r>
            <a:endParaRPr lang="en-US" sz="1100" dirty="0"/>
          </a:p>
        </p:txBody>
      </p:sp>
      <p:sp>
        <p:nvSpPr>
          <p:cNvPr id="5" name="Text 3"/>
          <p:cNvSpPr/>
          <p:nvPr/>
        </p:nvSpPr>
        <p:spPr>
          <a:xfrm>
            <a:off x="713232" y="1353312"/>
            <a:ext cx="6858000" cy="1737360"/>
          </a:xfrm>
          <a:prstGeom prst="rect">
            <a:avLst/>
          </a:prstGeom>
          <a:noFill/>
          <a:ln/>
        </p:spPr>
        <p:txBody>
          <a:bodyPr wrap="square" lIns="0" tIns="0" rIns="0" bIns="0" rtlCol="0" anchor="ctr"/>
          <a:lstStyle/>
          <a:p>
            <a:pPr indent="0" marL="0">
              <a:buNone/>
            </a:pPr>
            <a:r>
              <a:rPr lang="en-US" sz="3800" b="1" dirty="0">
                <a:solidFill>
                  <a:srgbClr val="F8FAFC"/>
                </a:solidFill>
                <a:latin typeface="Calibri" pitchFamily="34" charset="0"/>
                <a:ea typeface="Calibri" pitchFamily="34" charset="-122"/>
                <a:cs typeface="Calibri" pitchFamily="34" charset="-120"/>
              </a:rPr>
              <a:t>India Pharma Supply</a:t>
            </a:r>
            <a:endParaRPr lang="en-US" sz="3800" dirty="0"/>
          </a:p>
          <a:p>
            <a:pPr indent="0" marL="0">
              <a:buNone/>
            </a:pPr>
            <a:r>
              <a:rPr lang="en-US" sz="3800" b="1" dirty="0">
                <a:solidFill>
                  <a:srgbClr val="F8FAFC"/>
                </a:solidFill>
                <a:latin typeface="Calibri" pitchFamily="34" charset="0"/>
                <a:ea typeface="Calibri" pitchFamily="34" charset="-122"/>
                <a:cs typeface="Calibri" pitchFamily="34" charset="-120"/>
              </a:rPr>
              <a:t>Chain Intelligence System</a:t>
            </a:r>
            <a:endParaRPr lang="en-US" sz="3800" dirty="0"/>
          </a:p>
        </p:txBody>
      </p:sp>
      <p:sp>
        <p:nvSpPr>
          <p:cNvPr id="6" name="Text 4"/>
          <p:cNvSpPr/>
          <p:nvPr/>
        </p:nvSpPr>
        <p:spPr>
          <a:xfrm>
            <a:off x="713232" y="3127248"/>
            <a:ext cx="6858000" cy="36576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Upstream Risk Scoring  ·  Demand Forecasting  ·  Scenario Intelligence</a:t>
            </a:r>
            <a:endParaRPr lang="en-US" sz="1300" dirty="0"/>
          </a:p>
        </p:txBody>
      </p:sp>
      <p:sp>
        <p:nvSpPr>
          <p:cNvPr id="7" name="Shape 5"/>
          <p:cNvSpPr/>
          <p:nvPr/>
        </p:nvSpPr>
        <p:spPr>
          <a:xfrm>
            <a:off x="713232" y="3566160"/>
            <a:ext cx="6400800" cy="18288"/>
          </a:xfrm>
          <a:prstGeom prst="rect">
            <a:avLst/>
          </a:prstGeom>
          <a:solidFill>
            <a:srgbClr val="334155"/>
          </a:solidFill>
          <a:ln w="12700">
            <a:solidFill>
              <a:srgbClr val="334155"/>
            </a:solidFill>
            <a:prstDash val="solid"/>
          </a:ln>
        </p:spPr>
      </p:sp>
      <p:sp>
        <p:nvSpPr>
          <p:cNvPr id="8" name="Text 6"/>
          <p:cNvSpPr/>
          <p:nvPr/>
        </p:nvSpPr>
        <p:spPr>
          <a:xfrm>
            <a:off x="713232" y="3657600"/>
            <a:ext cx="68580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Aditya V Sivaram Poduri  ·  India Supply Chain Signals  ·  June 2026  ·  v2.0</a:t>
            </a:r>
            <a:endParaRPr lang="en-US" sz="1000" dirty="0"/>
          </a:p>
        </p:txBody>
      </p:sp>
      <p:sp>
        <p:nvSpPr>
          <p:cNvPr id="9" name="Shape 7"/>
          <p:cNvSpPr/>
          <p:nvPr/>
        </p:nvSpPr>
        <p:spPr>
          <a:xfrm>
            <a:off x="7360920" y="822960"/>
            <a:ext cx="1554480" cy="822960"/>
          </a:xfrm>
          <a:prstGeom prst="rect">
            <a:avLst/>
          </a:prstGeom>
          <a:solidFill>
            <a:srgbClr val="161B22"/>
          </a:solidFill>
          <a:ln w="9525">
            <a:solidFill>
              <a:srgbClr val="21262D"/>
            </a:solidFill>
            <a:prstDash val="solid"/>
          </a:ln>
        </p:spPr>
      </p:sp>
      <p:sp>
        <p:nvSpPr>
          <p:cNvPr id="10" name="Text 8"/>
          <p:cNvSpPr/>
          <p:nvPr/>
        </p:nvSpPr>
        <p:spPr>
          <a:xfrm>
            <a:off x="7406640" y="859536"/>
            <a:ext cx="1463040" cy="384048"/>
          </a:xfrm>
          <a:prstGeom prst="rect">
            <a:avLst/>
          </a:prstGeom>
          <a:noFill/>
          <a:ln/>
        </p:spPr>
        <p:txBody>
          <a:bodyPr wrap="square" lIns="0" tIns="0" rIns="0" bIns="0" rtlCol="0" anchor="ctr"/>
          <a:lstStyle/>
          <a:p>
            <a:pPr algn="ctr" indent="0" marL="0">
              <a:buNone/>
            </a:pPr>
            <a:r>
              <a:rPr lang="en-US" sz="2600" b="1" dirty="0">
                <a:solidFill>
                  <a:srgbClr val="D97706"/>
                </a:solidFill>
                <a:latin typeface="Calibri" pitchFamily="34" charset="0"/>
                <a:ea typeface="Calibri" pitchFamily="34" charset="-122"/>
                <a:cs typeface="Calibri" pitchFamily="34" charset="-120"/>
              </a:rPr>
              <a:t>5</a:t>
            </a:r>
            <a:endParaRPr lang="en-US" sz="2600" dirty="0"/>
          </a:p>
        </p:txBody>
      </p:sp>
      <p:sp>
        <p:nvSpPr>
          <p:cNvPr id="11" name="Text 9"/>
          <p:cNvSpPr/>
          <p:nvPr/>
        </p:nvSpPr>
        <p:spPr>
          <a:xfrm>
            <a:off x="7406640" y="1243584"/>
            <a:ext cx="1463040" cy="34747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Upstream Materials</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Analyzed</a:t>
            </a:r>
            <a:endParaRPr lang="en-US" sz="850" dirty="0"/>
          </a:p>
        </p:txBody>
      </p:sp>
      <p:sp>
        <p:nvSpPr>
          <p:cNvPr id="12" name="Shape 10"/>
          <p:cNvSpPr/>
          <p:nvPr/>
        </p:nvSpPr>
        <p:spPr>
          <a:xfrm>
            <a:off x="7360920" y="1828800"/>
            <a:ext cx="1554480" cy="822960"/>
          </a:xfrm>
          <a:prstGeom prst="rect">
            <a:avLst/>
          </a:prstGeom>
          <a:solidFill>
            <a:srgbClr val="161B22"/>
          </a:solidFill>
          <a:ln w="9525">
            <a:solidFill>
              <a:srgbClr val="21262D"/>
            </a:solidFill>
            <a:prstDash val="solid"/>
          </a:ln>
        </p:spPr>
      </p:sp>
      <p:sp>
        <p:nvSpPr>
          <p:cNvPr id="13" name="Text 11"/>
          <p:cNvSpPr/>
          <p:nvPr/>
        </p:nvSpPr>
        <p:spPr>
          <a:xfrm>
            <a:off x="7406640" y="1865376"/>
            <a:ext cx="1463040" cy="384048"/>
          </a:xfrm>
          <a:prstGeom prst="rect">
            <a:avLst/>
          </a:prstGeom>
          <a:noFill/>
          <a:ln/>
        </p:spPr>
        <p:txBody>
          <a:bodyPr wrap="square" lIns="0" tIns="0" rIns="0" bIns="0" rtlCol="0" anchor="ctr"/>
          <a:lstStyle/>
          <a:p>
            <a:pPr algn="ctr" indent="0" marL="0">
              <a:buNone/>
            </a:pPr>
            <a:r>
              <a:rPr lang="en-US" sz="2600" b="1" dirty="0">
                <a:solidFill>
                  <a:srgbClr val="D97706"/>
                </a:solidFill>
                <a:latin typeface="Calibri" pitchFamily="34" charset="0"/>
                <a:ea typeface="Calibri" pitchFamily="34" charset="-122"/>
                <a:cs typeface="Calibri" pitchFamily="34" charset="-120"/>
              </a:rPr>
              <a:t>10K</a:t>
            </a:r>
            <a:endParaRPr lang="en-US" sz="2600" dirty="0"/>
          </a:p>
        </p:txBody>
      </p:sp>
      <p:sp>
        <p:nvSpPr>
          <p:cNvPr id="14" name="Text 12"/>
          <p:cNvSpPr/>
          <p:nvPr/>
        </p:nvSpPr>
        <p:spPr>
          <a:xfrm>
            <a:off x="7406640" y="2249424"/>
            <a:ext cx="1463040" cy="34747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Monte Carlo</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Simulations</a:t>
            </a:r>
            <a:endParaRPr lang="en-US" sz="850" dirty="0"/>
          </a:p>
        </p:txBody>
      </p:sp>
      <p:sp>
        <p:nvSpPr>
          <p:cNvPr id="15" name="Shape 13"/>
          <p:cNvSpPr/>
          <p:nvPr/>
        </p:nvSpPr>
        <p:spPr>
          <a:xfrm>
            <a:off x="7360920" y="2834640"/>
            <a:ext cx="1554480" cy="822960"/>
          </a:xfrm>
          <a:prstGeom prst="rect">
            <a:avLst/>
          </a:prstGeom>
          <a:solidFill>
            <a:srgbClr val="161B22"/>
          </a:solidFill>
          <a:ln w="9525">
            <a:solidFill>
              <a:srgbClr val="21262D"/>
            </a:solidFill>
            <a:prstDash val="solid"/>
          </a:ln>
        </p:spPr>
      </p:sp>
      <p:sp>
        <p:nvSpPr>
          <p:cNvPr id="16" name="Text 14"/>
          <p:cNvSpPr/>
          <p:nvPr/>
        </p:nvSpPr>
        <p:spPr>
          <a:xfrm>
            <a:off x="7406640" y="2871216"/>
            <a:ext cx="1463040" cy="384048"/>
          </a:xfrm>
          <a:prstGeom prst="rect">
            <a:avLst/>
          </a:prstGeom>
          <a:noFill/>
          <a:ln/>
        </p:spPr>
        <p:txBody>
          <a:bodyPr wrap="square" lIns="0" tIns="0" rIns="0" bIns="0" rtlCol="0" anchor="ctr"/>
          <a:lstStyle/>
          <a:p>
            <a:pPr algn="ctr" indent="0" marL="0">
              <a:buNone/>
            </a:pPr>
            <a:r>
              <a:rPr lang="en-US" sz="2600" b="1" dirty="0">
                <a:solidFill>
                  <a:srgbClr val="D97706"/>
                </a:solidFill>
                <a:latin typeface="Calibri" pitchFamily="34" charset="0"/>
                <a:ea typeface="Calibri" pitchFamily="34" charset="-122"/>
                <a:cs typeface="Calibri" pitchFamily="34" charset="-120"/>
              </a:rPr>
              <a:t>9.5</a:t>
            </a:r>
            <a:endParaRPr lang="en-US" sz="2600" dirty="0"/>
          </a:p>
        </p:txBody>
      </p:sp>
      <p:sp>
        <p:nvSpPr>
          <p:cNvPr id="17" name="Text 15"/>
          <p:cNvSpPr/>
          <p:nvPr/>
        </p:nvSpPr>
        <p:spPr>
          <a:xfrm>
            <a:off x="7406640" y="3255264"/>
            <a:ext cx="1463040" cy="34747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Highest CIIP</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Risk Score</a:t>
            </a:r>
            <a:endParaRPr lang="en-US" sz="850" dirty="0"/>
          </a:p>
        </p:txBody>
      </p:sp>
      <p:sp>
        <p:nvSpPr>
          <p:cNvPr id="18" name="Shape 16"/>
          <p:cNvSpPr/>
          <p:nvPr/>
        </p:nvSpPr>
        <p:spPr>
          <a:xfrm>
            <a:off x="7360920" y="3840480"/>
            <a:ext cx="1554480" cy="822960"/>
          </a:xfrm>
          <a:prstGeom prst="rect">
            <a:avLst/>
          </a:prstGeom>
          <a:solidFill>
            <a:srgbClr val="161B22"/>
          </a:solidFill>
          <a:ln w="9525">
            <a:solidFill>
              <a:srgbClr val="21262D"/>
            </a:solidFill>
            <a:prstDash val="solid"/>
          </a:ln>
        </p:spPr>
      </p:sp>
      <p:sp>
        <p:nvSpPr>
          <p:cNvPr id="19" name="Text 17"/>
          <p:cNvSpPr/>
          <p:nvPr/>
        </p:nvSpPr>
        <p:spPr>
          <a:xfrm>
            <a:off x="7406640" y="3877056"/>
            <a:ext cx="1463040" cy="384048"/>
          </a:xfrm>
          <a:prstGeom prst="rect">
            <a:avLst/>
          </a:prstGeom>
          <a:noFill/>
          <a:ln/>
        </p:spPr>
        <p:txBody>
          <a:bodyPr wrap="square" lIns="0" tIns="0" rIns="0" bIns="0" rtlCol="0" anchor="ctr"/>
          <a:lstStyle/>
          <a:p>
            <a:pPr algn="ctr" indent="0" marL="0">
              <a:buNone/>
            </a:pPr>
            <a:r>
              <a:rPr lang="en-US" sz="2600" b="1" dirty="0">
                <a:solidFill>
                  <a:srgbClr val="D97706"/>
                </a:solidFill>
                <a:latin typeface="Calibri" pitchFamily="34" charset="0"/>
                <a:ea typeface="Calibri" pitchFamily="34" charset="-122"/>
                <a:cs typeface="Calibri" pitchFamily="34" charset="-120"/>
              </a:rPr>
              <a:t>2</a:t>
            </a:r>
            <a:endParaRPr lang="en-US" sz="2600" dirty="0"/>
          </a:p>
        </p:txBody>
      </p:sp>
      <p:sp>
        <p:nvSpPr>
          <p:cNvPr id="20" name="Text 18"/>
          <p:cNvSpPr/>
          <p:nvPr/>
        </p:nvSpPr>
        <p:spPr>
          <a:xfrm>
            <a:off x="7406640" y="4261104"/>
            <a:ext cx="1463040" cy="347472"/>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CRITICAL Risk</a:t>
            </a:r>
            <a:endParaRPr lang="en-US" sz="850" dirty="0"/>
          </a:p>
          <a:p>
            <a:pPr algn="ctr" indent="0" marL="0">
              <a:buNone/>
            </a:pPr>
            <a:r>
              <a:rPr lang="en-US" sz="850" dirty="0">
                <a:solidFill>
                  <a:srgbClr val="94A3B8"/>
                </a:solidFill>
                <a:latin typeface="Calibri" pitchFamily="34" charset="0"/>
                <a:ea typeface="Calibri" pitchFamily="34" charset="-122"/>
                <a:cs typeface="Calibri" pitchFamily="34" charset="-120"/>
              </a:rPr>
              <a:t>Materials</a:t>
            </a:r>
            <a:endParaRPr lang="en-US" sz="850" dirty="0"/>
          </a:p>
        </p:txBody>
      </p:sp>
      <p:sp>
        <p:nvSpPr>
          <p:cNvPr id="21" name="Shape 19"/>
          <p:cNvSpPr/>
          <p:nvPr/>
        </p:nvSpPr>
        <p:spPr>
          <a:xfrm>
            <a:off x="0" y="5116068"/>
            <a:ext cx="9144000" cy="27432"/>
          </a:xfrm>
          <a:prstGeom prst="rect">
            <a:avLst/>
          </a:prstGeom>
          <a:solidFill>
            <a:srgbClr val="1C2230"/>
          </a:solidFill>
          <a:ln w="12700">
            <a:solidFill>
              <a:srgbClr val="1C223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EXECUTIVE SUMMARY</a:t>
            </a:r>
            <a:endParaRPr lang="en-US" sz="900" dirty="0"/>
          </a:p>
        </p:txBody>
      </p:sp>
      <p:sp>
        <p:nvSpPr>
          <p:cNvPr id="3" name="Text 1"/>
          <p:cNvSpPr/>
          <p:nvPr/>
        </p:nvSpPr>
        <p:spPr>
          <a:xfrm>
            <a:off x="457200" y="457200"/>
            <a:ext cx="73152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The Strategic Risk Picture — June 2026</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Shape 3"/>
          <p:cNvSpPr/>
          <p:nvPr/>
        </p:nvSpPr>
        <p:spPr>
          <a:xfrm>
            <a:off x="457200" y="1005840"/>
            <a:ext cx="2011680" cy="3611880"/>
          </a:xfrm>
          <a:prstGeom prst="rect">
            <a:avLst/>
          </a:prstGeom>
          <a:solidFill>
            <a:srgbClr val="161B22"/>
          </a:solidFill>
          <a:ln w="9525">
            <a:solidFill>
              <a:srgbClr val="21262D"/>
            </a:solidFill>
            <a:prstDash val="solid"/>
          </a:ln>
        </p:spPr>
      </p:sp>
      <p:sp>
        <p:nvSpPr>
          <p:cNvPr id="6" name="Shape 4"/>
          <p:cNvSpPr/>
          <p:nvPr/>
        </p:nvSpPr>
        <p:spPr>
          <a:xfrm>
            <a:off x="457200" y="1005840"/>
            <a:ext cx="2011680" cy="54864"/>
          </a:xfrm>
          <a:prstGeom prst="rect">
            <a:avLst/>
          </a:prstGeom>
          <a:solidFill>
            <a:srgbClr val="B91C1C"/>
          </a:solidFill>
          <a:ln w="12700">
            <a:solidFill>
              <a:srgbClr val="B91C1C"/>
            </a:solidFill>
            <a:prstDash val="solid"/>
          </a:ln>
        </p:spPr>
      </p:sp>
      <p:sp>
        <p:nvSpPr>
          <p:cNvPr id="7" name="Text 5"/>
          <p:cNvSpPr/>
          <p:nvPr/>
        </p:nvSpPr>
        <p:spPr>
          <a:xfrm>
            <a:off x="566928" y="1115568"/>
            <a:ext cx="1792224" cy="5029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  LNG Japan — CRITICAL</a:t>
            </a:r>
            <a:endParaRPr lang="en-US" sz="950" dirty="0"/>
          </a:p>
        </p:txBody>
      </p:sp>
      <p:sp>
        <p:nvSpPr>
          <p:cNvPr id="8" name="Text 6"/>
          <p:cNvSpPr/>
          <p:nvPr/>
        </p:nvSpPr>
        <p:spPr>
          <a:xfrm>
            <a:off x="566928" y="1618488"/>
            <a:ext cx="1792224" cy="347472"/>
          </a:xfrm>
          <a:prstGeom prst="rect">
            <a:avLst/>
          </a:prstGeom>
          <a:noFill/>
          <a:ln/>
        </p:spPr>
        <p:txBody>
          <a:bodyPr wrap="square" lIns="0" tIns="0" rIns="0" bIns="0" rtlCol="0" anchor="ctr"/>
          <a:lstStyle/>
          <a:p>
            <a:pPr indent="0" marL="0">
              <a:buNone/>
            </a:pPr>
            <a:r>
              <a:rPr lang="en-US" sz="1800" b="1" dirty="0">
                <a:solidFill>
                  <a:srgbClr val="B91C1C"/>
                </a:solidFill>
                <a:latin typeface="Calibri" pitchFamily="34" charset="0"/>
                <a:ea typeface="Calibri" pitchFamily="34" charset="-122"/>
                <a:cs typeface="Calibri" pitchFamily="34" charset="-120"/>
              </a:rPr>
              <a:t>9.5 / 10</a:t>
            </a:r>
            <a:endParaRPr lang="en-US" sz="1800" dirty="0"/>
          </a:p>
        </p:txBody>
      </p:sp>
      <p:sp>
        <p:nvSpPr>
          <p:cNvPr id="9" name="Shape 7"/>
          <p:cNvSpPr/>
          <p:nvPr/>
        </p:nvSpPr>
        <p:spPr>
          <a:xfrm>
            <a:off x="566928" y="1984248"/>
            <a:ext cx="1792224" cy="9144"/>
          </a:xfrm>
          <a:prstGeom prst="rect">
            <a:avLst/>
          </a:prstGeom>
          <a:solidFill>
            <a:srgbClr val="334155"/>
          </a:solidFill>
          <a:ln w="12700">
            <a:solidFill>
              <a:srgbClr val="334155"/>
            </a:solidFill>
            <a:prstDash val="solid"/>
          </a:ln>
        </p:spPr>
      </p:sp>
      <p:sp>
        <p:nvSpPr>
          <p:cNvPr id="10" name="Text 8"/>
          <p:cNvSpPr/>
          <p:nvPr/>
        </p:nvSpPr>
        <p:spPr>
          <a:xfrm>
            <a:off x="566928" y="2057400"/>
            <a:ext cx="1792224" cy="237744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Energy costs forecast UP 35.2% over 12 months. Transmits into API manufacturing costs within 6–8 weeks. Highest tail risk in the portfolio.</a:t>
            </a:r>
            <a:endParaRPr lang="en-US" sz="900" dirty="0"/>
          </a:p>
        </p:txBody>
      </p:sp>
      <p:sp>
        <p:nvSpPr>
          <p:cNvPr id="11" name="Shape 9"/>
          <p:cNvSpPr/>
          <p:nvPr/>
        </p:nvSpPr>
        <p:spPr>
          <a:xfrm>
            <a:off x="2606040" y="1005840"/>
            <a:ext cx="2011680" cy="3611880"/>
          </a:xfrm>
          <a:prstGeom prst="rect">
            <a:avLst/>
          </a:prstGeom>
          <a:solidFill>
            <a:srgbClr val="161B22"/>
          </a:solidFill>
          <a:ln w="9525">
            <a:solidFill>
              <a:srgbClr val="21262D"/>
            </a:solidFill>
            <a:prstDash val="solid"/>
          </a:ln>
        </p:spPr>
      </p:sp>
      <p:sp>
        <p:nvSpPr>
          <p:cNvPr id="12" name="Shape 10"/>
          <p:cNvSpPr/>
          <p:nvPr/>
        </p:nvSpPr>
        <p:spPr>
          <a:xfrm>
            <a:off x="2606040" y="1005840"/>
            <a:ext cx="2011680" cy="54864"/>
          </a:xfrm>
          <a:prstGeom prst="rect">
            <a:avLst/>
          </a:prstGeom>
          <a:solidFill>
            <a:srgbClr val="C2410C"/>
          </a:solidFill>
          <a:ln w="12700">
            <a:solidFill>
              <a:srgbClr val="C2410C"/>
            </a:solidFill>
            <a:prstDash val="solid"/>
          </a:ln>
        </p:spPr>
      </p:sp>
      <p:sp>
        <p:nvSpPr>
          <p:cNvPr id="13" name="Text 11"/>
          <p:cNvSpPr/>
          <p:nvPr/>
        </p:nvSpPr>
        <p:spPr>
          <a:xfrm>
            <a:off x="2715768" y="1115568"/>
            <a:ext cx="1792224" cy="5029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  Soda Ash — CRITICAL</a:t>
            </a:r>
            <a:endParaRPr lang="en-US" sz="950" dirty="0"/>
          </a:p>
        </p:txBody>
      </p:sp>
      <p:sp>
        <p:nvSpPr>
          <p:cNvPr id="14" name="Text 12"/>
          <p:cNvSpPr/>
          <p:nvPr/>
        </p:nvSpPr>
        <p:spPr>
          <a:xfrm>
            <a:off x="2715768" y="1618488"/>
            <a:ext cx="1792224" cy="347472"/>
          </a:xfrm>
          <a:prstGeom prst="rect">
            <a:avLst/>
          </a:prstGeom>
          <a:noFill/>
          <a:ln/>
        </p:spPr>
        <p:txBody>
          <a:bodyPr wrap="square" lIns="0" tIns="0" rIns="0" bIns="0" rtlCol="0" anchor="ctr"/>
          <a:lstStyle/>
          <a:p>
            <a:pPr indent="0" marL="0">
              <a:buNone/>
            </a:pPr>
            <a:r>
              <a:rPr lang="en-US" sz="1800" b="1" dirty="0">
                <a:solidFill>
                  <a:srgbClr val="C2410C"/>
                </a:solidFill>
                <a:latin typeface="Calibri" pitchFamily="34" charset="0"/>
                <a:ea typeface="Calibri" pitchFamily="34" charset="-122"/>
                <a:cs typeface="Calibri" pitchFamily="34" charset="-120"/>
              </a:rPr>
              <a:t>8.67 / 10</a:t>
            </a:r>
            <a:endParaRPr lang="en-US" sz="1800" dirty="0"/>
          </a:p>
        </p:txBody>
      </p:sp>
      <p:sp>
        <p:nvSpPr>
          <p:cNvPr id="15" name="Shape 13"/>
          <p:cNvSpPr/>
          <p:nvPr/>
        </p:nvSpPr>
        <p:spPr>
          <a:xfrm>
            <a:off x="2715768" y="1984248"/>
            <a:ext cx="1792224" cy="9144"/>
          </a:xfrm>
          <a:prstGeom prst="rect">
            <a:avLst/>
          </a:prstGeom>
          <a:solidFill>
            <a:srgbClr val="334155"/>
          </a:solidFill>
          <a:ln w="12700">
            <a:solidFill>
              <a:srgbClr val="334155"/>
            </a:solidFill>
            <a:prstDash val="solid"/>
          </a:ln>
        </p:spPr>
      </p:sp>
      <p:sp>
        <p:nvSpPr>
          <p:cNvPr id="16" name="Text 14"/>
          <p:cNvSpPr/>
          <p:nvPr/>
        </p:nvSpPr>
        <p:spPr>
          <a:xfrm>
            <a:off x="2715768" y="2057400"/>
            <a:ext cx="1792224" cy="237744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Cross-industry competition from solar, construction, and pharma simultaneously. Despite price softening, structural concentration risk is unchanged.</a:t>
            </a:r>
            <a:endParaRPr lang="en-US" sz="900" dirty="0"/>
          </a:p>
        </p:txBody>
      </p:sp>
      <p:sp>
        <p:nvSpPr>
          <p:cNvPr id="17" name="Shape 15"/>
          <p:cNvSpPr/>
          <p:nvPr/>
        </p:nvSpPr>
        <p:spPr>
          <a:xfrm>
            <a:off x="4754880" y="1005840"/>
            <a:ext cx="2011680" cy="3611880"/>
          </a:xfrm>
          <a:prstGeom prst="rect">
            <a:avLst/>
          </a:prstGeom>
          <a:solidFill>
            <a:srgbClr val="161B22"/>
          </a:solidFill>
          <a:ln w="9525">
            <a:solidFill>
              <a:srgbClr val="21262D"/>
            </a:solidFill>
            <a:prstDash val="solid"/>
          </a:ln>
        </p:spPr>
      </p:sp>
      <p:sp>
        <p:nvSpPr>
          <p:cNvPr id="18" name="Shape 16"/>
          <p:cNvSpPr/>
          <p:nvPr/>
        </p:nvSpPr>
        <p:spPr>
          <a:xfrm>
            <a:off x="4754880" y="1005840"/>
            <a:ext cx="2011680" cy="54864"/>
          </a:xfrm>
          <a:prstGeom prst="rect">
            <a:avLst/>
          </a:prstGeom>
          <a:solidFill>
            <a:srgbClr val="F59E0B"/>
          </a:solidFill>
          <a:ln w="12700">
            <a:solidFill>
              <a:srgbClr val="F59E0B"/>
            </a:solidFill>
            <a:prstDash val="solid"/>
          </a:ln>
        </p:spPr>
      </p:sp>
      <p:sp>
        <p:nvSpPr>
          <p:cNvPr id="19" name="Text 17"/>
          <p:cNvSpPr/>
          <p:nvPr/>
        </p:nvSpPr>
        <p:spPr>
          <a:xfrm>
            <a:off x="4864608" y="1115568"/>
            <a:ext cx="1792224" cy="5029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  Methanol &amp; Acetic Acid — HIGH</a:t>
            </a:r>
            <a:endParaRPr lang="en-US" sz="950" dirty="0"/>
          </a:p>
        </p:txBody>
      </p:sp>
      <p:sp>
        <p:nvSpPr>
          <p:cNvPr id="20" name="Text 18"/>
          <p:cNvSpPr/>
          <p:nvPr/>
        </p:nvSpPr>
        <p:spPr>
          <a:xfrm>
            <a:off x="4864608" y="1618488"/>
            <a:ext cx="1792224" cy="347472"/>
          </a:xfrm>
          <a:prstGeom prst="rect">
            <a:avLst/>
          </a:prstGeom>
          <a:noFill/>
          <a:ln/>
        </p:spPr>
        <p:txBody>
          <a:bodyPr wrap="square" lIns="0" tIns="0" rIns="0" bIns="0"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7.5 / 10</a:t>
            </a:r>
            <a:endParaRPr lang="en-US" sz="1800" dirty="0"/>
          </a:p>
        </p:txBody>
      </p:sp>
      <p:sp>
        <p:nvSpPr>
          <p:cNvPr id="21" name="Shape 19"/>
          <p:cNvSpPr/>
          <p:nvPr/>
        </p:nvSpPr>
        <p:spPr>
          <a:xfrm>
            <a:off x="4864608" y="1984248"/>
            <a:ext cx="1792224" cy="9144"/>
          </a:xfrm>
          <a:prstGeom prst="rect">
            <a:avLst/>
          </a:prstGeom>
          <a:solidFill>
            <a:srgbClr val="334155"/>
          </a:solidFill>
          <a:ln w="12700">
            <a:solidFill>
              <a:srgbClr val="334155"/>
            </a:solidFill>
            <a:prstDash val="solid"/>
          </a:ln>
        </p:spPr>
      </p:sp>
      <p:sp>
        <p:nvSpPr>
          <p:cNvPr id="22" name="Text 20"/>
          <p:cNvSpPr/>
          <p:nvPr/>
        </p:nvSpPr>
        <p:spPr>
          <a:xfrm>
            <a:off x="4864608" y="2057400"/>
            <a:ext cx="1792224" cy="237744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Both materials facing upward price pressure. Methanol UP 7.9%, Acetic Acid stable but geopolitically exposed through China supply concentration.</a:t>
            </a:r>
            <a:endParaRPr lang="en-US" sz="900" dirty="0"/>
          </a:p>
        </p:txBody>
      </p:sp>
      <p:sp>
        <p:nvSpPr>
          <p:cNvPr id="23" name="Shape 21"/>
          <p:cNvSpPr/>
          <p:nvPr/>
        </p:nvSpPr>
        <p:spPr>
          <a:xfrm>
            <a:off x="6903720" y="1005840"/>
            <a:ext cx="2011680" cy="3611880"/>
          </a:xfrm>
          <a:prstGeom prst="rect">
            <a:avLst/>
          </a:prstGeom>
          <a:solidFill>
            <a:srgbClr val="161B22"/>
          </a:solidFill>
          <a:ln w="9525">
            <a:solidFill>
              <a:srgbClr val="21262D"/>
            </a:solidFill>
            <a:prstDash val="solid"/>
          </a:ln>
        </p:spPr>
      </p:sp>
      <p:sp>
        <p:nvSpPr>
          <p:cNvPr id="24" name="Shape 22"/>
          <p:cNvSpPr/>
          <p:nvPr/>
        </p:nvSpPr>
        <p:spPr>
          <a:xfrm>
            <a:off x="6903720" y="1005840"/>
            <a:ext cx="2011680" cy="54864"/>
          </a:xfrm>
          <a:prstGeom prst="rect">
            <a:avLst/>
          </a:prstGeom>
          <a:solidFill>
            <a:srgbClr val="14B8A6"/>
          </a:solidFill>
          <a:ln w="12700">
            <a:solidFill>
              <a:srgbClr val="14B8A6"/>
            </a:solidFill>
            <a:prstDash val="solid"/>
          </a:ln>
        </p:spPr>
      </p:sp>
      <p:sp>
        <p:nvSpPr>
          <p:cNvPr id="25" name="Text 23"/>
          <p:cNvSpPr/>
          <p:nvPr/>
        </p:nvSpPr>
        <p:spPr>
          <a:xfrm>
            <a:off x="7013448" y="1115568"/>
            <a:ext cx="1792224" cy="5029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  Polysilicon — MEDIUM</a:t>
            </a:r>
            <a:endParaRPr lang="en-US" sz="950" dirty="0"/>
          </a:p>
        </p:txBody>
      </p:sp>
      <p:sp>
        <p:nvSpPr>
          <p:cNvPr id="26" name="Text 24"/>
          <p:cNvSpPr/>
          <p:nvPr/>
        </p:nvSpPr>
        <p:spPr>
          <a:xfrm>
            <a:off x="7013448" y="1618488"/>
            <a:ext cx="1792224" cy="347472"/>
          </a:xfrm>
          <a:prstGeom prst="rect">
            <a:avLst/>
          </a:prstGeom>
          <a:noFill/>
          <a:ln/>
        </p:spPr>
        <p:txBody>
          <a:bodyPr wrap="square" lIns="0" tIns="0" rIns="0" bIns="0" rtlCol="0" anchor="ctr"/>
          <a:lstStyle/>
          <a:p>
            <a:pPr indent="0" marL="0">
              <a:buNone/>
            </a:pPr>
            <a:r>
              <a:rPr lang="en-US" sz="1800" b="1" dirty="0">
                <a:solidFill>
                  <a:srgbClr val="14B8A6"/>
                </a:solidFill>
                <a:latin typeface="Calibri" pitchFamily="34" charset="0"/>
                <a:ea typeface="Calibri" pitchFamily="34" charset="-122"/>
                <a:cs typeface="Calibri" pitchFamily="34" charset="-120"/>
              </a:rPr>
              <a:t>6.0 / 10</a:t>
            </a:r>
            <a:endParaRPr lang="en-US" sz="1800" dirty="0"/>
          </a:p>
        </p:txBody>
      </p:sp>
      <p:sp>
        <p:nvSpPr>
          <p:cNvPr id="27" name="Shape 25"/>
          <p:cNvSpPr/>
          <p:nvPr/>
        </p:nvSpPr>
        <p:spPr>
          <a:xfrm>
            <a:off x="7013448" y="1984248"/>
            <a:ext cx="1792224" cy="9144"/>
          </a:xfrm>
          <a:prstGeom prst="rect">
            <a:avLst/>
          </a:prstGeom>
          <a:solidFill>
            <a:srgbClr val="334155"/>
          </a:solidFill>
          <a:ln w="12700">
            <a:solidFill>
              <a:srgbClr val="334155"/>
            </a:solidFill>
            <a:prstDash val="solid"/>
          </a:ln>
        </p:spPr>
      </p:sp>
      <p:sp>
        <p:nvSpPr>
          <p:cNvPr id="28" name="Text 26"/>
          <p:cNvSpPr/>
          <p:nvPr/>
        </p:nvSpPr>
        <p:spPr>
          <a:xfrm>
            <a:off x="7013448" y="2057400"/>
            <a:ext cx="1792224" cy="237744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Post-solar oversupply correction. Price DOWN 59.6% — but dataset rated PROXY with LOW confidence. Cross-industry signal remains structurally present.</a:t>
            </a:r>
            <a:endParaRPr lang="en-US" sz="900" dirty="0"/>
          </a:p>
        </p:txBody>
      </p:sp>
      <p:sp>
        <p:nvSpPr>
          <p:cNvPr id="29" name="Shape 27"/>
          <p:cNvSpPr/>
          <p:nvPr/>
        </p:nvSpPr>
        <p:spPr>
          <a:xfrm>
            <a:off x="457200" y="4736592"/>
            <a:ext cx="8229600" cy="329184"/>
          </a:xfrm>
          <a:prstGeom prst="rect">
            <a:avLst/>
          </a:prstGeom>
          <a:solidFill>
            <a:srgbClr val="1C2230"/>
          </a:solidFill>
          <a:ln w="9525">
            <a:solidFill>
              <a:srgbClr val="21262D"/>
            </a:solidFill>
            <a:prstDash val="solid"/>
          </a:ln>
        </p:spPr>
      </p:sp>
      <p:sp>
        <p:nvSpPr>
          <p:cNvPr id="30" name="Text 28"/>
          <p:cNvSpPr/>
          <p:nvPr/>
        </p:nvSpPr>
        <p:spPr>
          <a:xfrm>
            <a:off x="594360" y="4736592"/>
            <a:ext cx="7955280" cy="329184"/>
          </a:xfrm>
          <a:prstGeom prst="rect">
            <a:avLst/>
          </a:prstGeom>
          <a:noFill/>
          <a:ln/>
        </p:spPr>
        <p:txBody>
          <a:bodyPr wrap="square" lIns="0" tIns="0" rIns="0" bIns="0" rtlCol="0" anchor="ctr"/>
          <a:lstStyle/>
          <a:p>
            <a:pPr indent="0" marL="0">
              <a:buNone/>
            </a:pPr>
            <a:r>
              <a:rPr lang="en-US" sz="950" i="1" dirty="0">
                <a:solidFill>
                  <a:srgbClr val="D97706"/>
                </a:solidFill>
                <a:latin typeface="Calibri" pitchFamily="34" charset="0"/>
                <a:ea typeface="Calibri" pitchFamily="34" charset="-122"/>
                <a:cs typeface="Calibri" pitchFamily="34" charset="-120"/>
              </a:rPr>
              <a:t>Strategic Signal:  Indian pharma procurement teams are monitoring supplier performance. They should be monitoring what feeds those suppliers — 6 to 8 weeks upstream.</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THE PROBLEM</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Why Standard Procurement Intelligence Fails</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Shape 3"/>
          <p:cNvSpPr/>
          <p:nvPr/>
        </p:nvSpPr>
        <p:spPr>
          <a:xfrm>
            <a:off x="457200" y="1005840"/>
            <a:ext cx="3840480" cy="3611880"/>
          </a:xfrm>
          <a:prstGeom prst="rect">
            <a:avLst/>
          </a:prstGeom>
          <a:solidFill>
            <a:srgbClr val="161B22"/>
          </a:solidFill>
          <a:ln w="9525">
            <a:solidFill>
              <a:srgbClr val="21262D"/>
            </a:solidFill>
            <a:prstDash val="solid"/>
          </a:ln>
        </p:spPr>
      </p:sp>
      <p:sp>
        <p:nvSpPr>
          <p:cNvPr id="6" name="Text 4"/>
          <p:cNvSpPr/>
          <p:nvPr/>
        </p:nvSpPr>
        <p:spPr>
          <a:xfrm>
            <a:off x="594360" y="1115568"/>
            <a:ext cx="3566160" cy="292608"/>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What Most Systems See</a:t>
            </a:r>
            <a:endParaRPr lang="en-US" sz="1300" dirty="0"/>
          </a:p>
        </p:txBody>
      </p:sp>
      <p:sp>
        <p:nvSpPr>
          <p:cNvPr id="7" name="Shape 5"/>
          <p:cNvSpPr/>
          <p:nvPr/>
        </p:nvSpPr>
        <p:spPr>
          <a:xfrm>
            <a:off x="594360" y="1508760"/>
            <a:ext cx="3566160" cy="411480"/>
          </a:xfrm>
          <a:prstGeom prst="rect">
            <a:avLst/>
          </a:prstGeom>
          <a:solidFill>
            <a:srgbClr val="1C2230"/>
          </a:solidFill>
          <a:ln w="6350">
            <a:solidFill>
              <a:srgbClr val="334155"/>
            </a:solidFill>
            <a:prstDash val="solid"/>
          </a:ln>
        </p:spPr>
      </p:sp>
      <p:sp>
        <p:nvSpPr>
          <p:cNvPr id="8" name="Shape 6"/>
          <p:cNvSpPr/>
          <p:nvPr/>
        </p:nvSpPr>
        <p:spPr>
          <a:xfrm>
            <a:off x="594360" y="1508760"/>
            <a:ext cx="54864" cy="411480"/>
          </a:xfrm>
          <a:prstGeom prst="rect">
            <a:avLst/>
          </a:prstGeom>
          <a:solidFill>
            <a:srgbClr val="334155"/>
          </a:solidFill>
          <a:ln w="12700">
            <a:solidFill>
              <a:srgbClr val="334155"/>
            </a:solidFill>
            <a:prstDash val="solid"/>
          </a:ln>
        </p:spPr>
      </p:sp>
      <p:sp>
        <p:nvSpPr>
          <p:cNvPr id="9" name="Text 7"/>
          <p:cNvSpPr/>
          <p:nvPr/>
        </p:nvSpPr>
        <p:spPr>
          <a:xfrm>
            <a:off x="749808" y="1508760"/>
            <a:ext cx="3319272"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Tier 1 supplier performance metrics</a:t>
            </a:r>
            <a:endParaRPr lang="en-US" sz="1000" dirty="0"/>
          </a:p>
        </p:txBody>
      </p:sp>
      <p:sp>
        <p:nvSpPr>
          <p:cNvPr id="10" name="Shape 8"/>
          <p:cNvSpPr/>
          <p:nvPr/>
        </p:nvSpPr>
        <p:spPr>
          <a:xfrm>
            <a:off x="594360" y="2011680"/>
            <a:ext cx="3566160" cy="411480"/>
          </a:xfrm>
          <a:prstGeom prst="rect">
            <a:avLst/>
          </a:prstGeom>
          <a:solidFill>
            <a:srgbClr val="1C2230"/>
          </a:solidFill>
          <a:ln w="6350">
            <a:solidFill>
              <a:srgbClr val="334155"/>
            </a:solidFill>
            <a:prstDash val="solid"/>
          </a:ln>
        </p:spPr>
      </p:sp>
      <p:sp>
        <p:nvSpPr>
          <p:cNvPr id="11" name="Shape 9"/>
          <p:cNvSpPr/>
          <p:nvPr/>
        </p:nvSpPr>
        <p:spPr>
          <a:xfrm>
            <a:off x="594360" y="2011680"/>
            <a:ext cx="54864" cy="411480"/>
          </a:xfrm>
          <a:prstGeom prst="rect">
            <a:avLst/>
          </a:prstGeom>
          <a:solidFill>
            <a:srgbClr val="334155"/>
          </a:solidFill>
          <a:ln w="12700">
            <a:solidFill>
              <a:srgbClr val="334155"/>
            </a:solidFill>
            <a:prstDash val="solid"/>
          </a:ln>
        </p:spPr>
      </p:sp>
      <p:sp>
        <p:nvSpPr>
          <p:cNvPr id="12" name="Text 10"/>
          <p:cNvSpPr/>
          <p:nvPr/>
        </p:nvSpPr>
        <p:spPr>
          <a:xfrm>
            <a:off x="749808" y="2011680"/>
            <a:ext cx="3319272"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Purchase order status and delivery timelines</a:t>
            </a:r>
            <a:endParaRPr lang="en-US" sz="1000" dirty="0"/>
          </a:p>
        </p:txBody>
      </p:sp>
      <p:sp>
        <p:nvSpPr>
          <p:cNvPr id="13" name="Shape 11"/>
          <p:cNvSpPr/>
          <p:nvPr/>
        </p:nvSpPr>
        <p:spPr>
          <a:xfrm>
            <a:off x="594360" y="2514600"/>
            <a:ext cx="3566160" cy="411480"/>
          </a:xfrm>
          <a:prstGeom prst="rect">
            <a:avLst/>
          </a:prstGeom>
          <a:solidFill>
            <a:srgbClr val="1C2230"/>
          </a:solidFill>
          <a:ln w="6350">
            <a:solidFill>
              <a:srgbClr val="334155"/>
            </a:solidFill>
            <a:prstDash val="solid"/>
          </a:ln>
        </p:spPr>
      </p:sp>
      <p:sp>
        <p:nvSpPr>
          <p:cNvPr id="14" name="Shape 12"/>
          <p:cNvSpPr/>
          <p:nvPr/>
        </p:nvSpPr>
        <p:spPr>
          <a:xfrm>
            <a:off x="594360" y="2514600"/>
            <a:ext cx="54864" cy="411480"/>
          </a:xfrm>
          <a:prstGeom prst="rect">
            <a:avLst/>
          </a:prstGeom>
          <a:solidFill>
            <a:srgbClr val="334155"/>
          </a:solidFill>
          <a:ln w="12700">
            <a:solidFill>
              <a:srgbClr val="334155"/>
            </a:solidFill>
            <a:prstDash val="solid"/>
          </a:ln>
        </p:spPr>
      </p:sp>
      <p:sp>
        <p:nvSpPr>
          <p:cNvPr id="15" name="Text 13"/>
          <p:cNvSpPr/>
          <p:nvPr/>
        </p:nvSpPr>
        <p:spPr>
          <a:xfrm>
            <a:off x="749808" y="2514600"/>
            <a:ext cx="3319272"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Direct material cost variance</a:t>
            </a:r>
            <a:endParaRPr lang="en-US" sz="1000" dirty="0"/>
          </a:p>
        </p:txBody>
      </p:sp>
      <p:sp>
        <p:nvSpPr>
          <p:cNvPr id="16" name="Shape 14"/>
          <p:cNvSpPr/>
          <p:nvPr/>
        </p:nvSpPr>
        <p:spPr>
          <a:xfrm>
            <a:off x="594360" y="3017520"/>
            <a:ext cx="3566160" cy="411480"/>
          </a:xfrm>
          <a:prstGeom prst="rect">
            <a:avLst/>
          </a:prstGeom>
          <a:solidFill>
            <a:srgbClr val="1C2230"/>
          </a:solidFill>
          <a:ln w="6350">
            <a:solidFill>
              <a:srgbClr val="334155"/>
            </a:solidFill>
            <a:prstDash val="solid"/>
          </a:ln>
        </p:spPr>
      </p:sp>
      <p:sp>
        <p:nvSpPr>
          <p:cNvPr id="17" name="Shape 15"/>
          <p:cNvSpPr/>
          <p:nvPr/>
        </p:nvSpPr>
        <p:spPr>
          <a:xfrm>
            <a:off x="594360" y="3017520"/>
            <a:ext cx="54864" cy="411480"/>
          </a:xfrm>
          <a:prstGeom prst="rect">
            <a:avLst/>
          </a:prstGeom>
          <a:solidFill>
            <a:srgbClr val="334155"/>
          </a:solidFill>
          <a:ln w="12700">
            <a:solidFill>
              <a:srgbClr val="334155"/>
            </a:solidFill>
            <a:prstDash val="solid"/>
          </a:ln>
        </p:spPr>
      </p:sp>
      <p:sp>
        <p:nvSpPr>
          <p:cNvPr id="18" name="Text 16"/>
          <p:cNvSpPr/>
          <p:nvPr/>
        </p:nvSpPr>
        <p:spPr>
          <a:xfrm>
            <a:off x="749808" y="3017520"/>
            <a:ext cx="3319272"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Approved vendor scorecard</a:t>
            </a:r>
            <a:endParaRPr lang="en-US" sz="1000" dirty="0"/>
          </a:p>
        </p:txBody>
      </p:sp>
      <p:sp>
        <p:nvSpPr>
          <p:cNvPr id="19" name="Shape 17"/>
          <p:cNvSpPr/>
          <p:nvPr/>
        </p:nvSpPr>
        <p:spPr>
          <a:xfrm>
            <a:off x="594360" y="3520440"/>
            <a:ext cx="3566160" cy="411480"/>
          </a:xfrm>
          <a:prstGeom prst="rect">
            <a:avLst/>
          </a:prstGeom>
          <a:solidFill>
            <a:srgbClr val="1C2230"/>
          </a:solidFill>
          <a:ln w="6350">
            <a:solidFill>
              <a:srgbClr val="334155"/>
            </a:solidFill>
            <a:prstDash val="solid"/>
          </a:ln>
        </p:spPr>
      </p:sp>
      <p:sp>
        <p:nvSpPr>
          <p:cNvPr id="20" name="Shape 18"/>
          <p:cNvSpPr/>
          <p:nvPr/>
        </p:nvSpPr>
        <p:spPr>
          <a:xfrm>
            <a:off x="594360" y="3520440"/>
            <a:ext cx="54864" cy="411480"/>
          </a:xfrm>
          <a:prstGeom prst="rect">
            <a:avLst/>
          </a:prstGeom>
          <a:solidFill>
            <a:srgbClr val="334155"/>
          </a:solidFill>
          <a:ln w="12700">
            <a:solidFill>
              <a:srgbClr val="334155"/>
            </a:solidFill>
            <a:prstDash val="solid"/>
          </a:ln>
        </p:spPr>
      </p:sp>
      <p:sp>
        <p:nvSpPr>
          <p:cNvPr id="21" name="Text 19"/>
          <p:cNvSpPr/>
          <p:nvPr/>
        </p:nvSpPr>
        <p:spPr>
          <a:xfrm>
            <a:off x="749808" y="3520440"/>
            <a:ext cx="3319272" cy="41148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ERP-reported inventory positions</a:t>
            </a:r>
            <a:endParaRPr lang="en-US" sz="1000" dirty="0"/>
          </a:p>
        </p:txBody>
      </p:sp>
      <p:sp>
        <p:nvSpPr>
          <p:cNvPr id="22" name="Shape 20"/>
          <p:cNvSpPr/>
          <p:nvPr/>
        </p:nvSpPr>
        <p:spPr>
          <a:xfrm>
            <a:off x="4572000" y="1005840"/>
            <a:ext cx="4114800" cy="3611880"/>
          </a:xfrm>
          <a:prstGeom prst="rect">
            <a:avLst/>
          </a:prstGeom>
          <a:solidFill>
            <a:srgbClr val="161B22"/>
          </a:solidFill>
          <a:ln w="9525">
            <a:solidFill>
              <a:srgbClr val="B91C1C"/>
            </a:solidFill>
            <a:prstDash val="solid"/>
          </a:ln>
        </p:spPr>
      </p:sp>
      <p:sp>
        <p:nvSpPr>
          <p:cNvPr id="23" name="Shape 21"/>
          <p:cNvSpPr/>
          <p:nvPr/>
        </p:nvSpPr>
        <p:spPr>
          <a:xfrm>
            <a:off x="4572000" y="1005840"/>
            <a:ext cx="4114800" cy="54864"/>
          </a:xfrm>
          <a:prstGeom prst="rect">
            <a:avLst/>
          </a:prstGeom>
          <a:solidFill>
            <a:srgbClr val="B91C1C"/>
          </a:solidFill>
          <a:ln w="12700">
            <a:solidFill>
              <a:srgbClr val="B91C1C"/>
            </a:solidFill>
            <a:prstDash val="solid"/>
          </a:ln>
        </p:spPr>
      </p:sp>
      <p:sp>
        <p:nvSpPr>
          <p:cNvPr id="24" name="Text 22"/>
          <p:cNvSpPr/>
          <p:nvPr/>
        </p:nvSpPr>
        <p:spPr>
          <a:xfrm>
            <a:off x="4709160" y="1115568"/>
            <a:ext cx="3840480" cy="292608"/>
          </a:xfrm>
          <a:prstGeom prst="rect">
            <a:avLst/>
          </a:prstGeom>
          <a:noFill/>
          <a:ln/>
        </p:spPr>
        <p:txBody>
          <a:bodyPr wrap="square" lIns="0" tIns="0" rIns="0" bIns="0" rtlCol="0" anchor="ctr"/>
          <a:lstStyle/>
          <a:p>
            <a:pPr indent="0" marL="0">
              <a:buNone/>
            </a:pPr>
            <a:r>
              <a:rPr lang="en-US" sz="1300" b="1" dirty="0">
                <a:solidFill>
                  <a:srgbClr val="F8FAFC"/>
                </a:solidFill>
                <a:latin typeface="Calibri" pitchFamily="34" charset="0"/>
                <a:ea typeface="Calibri" pitchFamily="34" charset="-122"/>
                <a:cs typeface="Calibri" pitchFamily="34" charset="-120"/>
              </a:rPr>
              <a:t>What No System Currently Maps</a:t>
            </a:r>
            <a:endParaRPr lang="en-US" sz="1300" dirty="0"/>
          </a:p>
        </p:txBody>
      </p:sp>
      <p:sp>
        <p:nvSpPr>
          <p:cNvPr id="25" name="Shape 23"/>
          <p:cNvSpPr/>
          <p:nvPr/>
        </p:nvSpPr>
        <p:spPr>
          <a:xfrm>
            <a:off x="4709160" y="1508760"/>
            <a:ext cx="3840480" cy="640080"/>
          </a:xfrm>
          <a:prstGeom prst="rect">
            <a:avLst/>
          </a:prstGeom>
          <a:solidFill>
            <a:srgbClr val="1C2230"/>
          </a:solidFill>
          <a:ln w="6350">
            <a:solidFill>
              <a:srgbClr val="334155"/>
            </a:solidFill>
            <a:prstDash val="solid"/>
          </a:ln>
        </p:spPr>
      </p:sp>
      <p:sp>
        <p:nvSpPr>
          <p:cNvPr id="26" name="Shape 24"/>
          <p:cNvSpPr/>
          <p:nvPr/>
        </p:nvSpPr>
        <p:spPr>
          <a:xfrm>
            <a:off x="4709160" y="1508760"/>
            <a:ext cx="45720" cy="640080"/>
          </a:xfrm>
          <a:prstGeom prst="rect">
            <a:avLst/>
          </a:prstGeom>
          <a:solidFill>
            <a:srgbClr val="B91C1C"/>
          </a:solidFill>
          <a:ln w="12700">
            <a:solidFill>
              <a:srgbClr val="B91C1C"/>
            </a:solidFill>
            <a:prstDash val="solid"/>
          </a:ln>
        </p:spPr>
      </p:sp>
      <p:sp>
        <p:nvSpPr>
          <p:cNvPr id="27" name="Text 25"/>
          <p:cNvSpPr/>
          <p:nvPr/>
        </p:nvSpPr>
        <p:spPr>
          <a:xfrm>
            <a:off x="4864608" y="1536192"/>
            <a:ext cx="3593592"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Cross-industry upstream input competition</a:t>
            </a:r>
            <a:endParaRPr lang="en-US" sz="1000" dirty="0"/>
          </a:p>
        </p:txBody>
      </p:sp>
      <p:sp>
        <p:nvSpPr>
          <p:cNvPr id="28" name="Text 26"/>
          <p:cNvSpPr/>
          <p:nvPr/>
        </p:nvSpPr>
        <p:spPr>
          <a:xfrm>
            <a:off x="4864608" y="1792224"/>
            <a:ext cx="3593592"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Solar, construction, FMCG competing for same chemicals</a:t>
            </a:r>
            <a:endParaRPr lang="en-US" sz="900" dirty="0"/>
          </a:p>
        </p:txBody>
      </p:sp>
      <p:sp>
        <p:nvSpPr>
          <p:cNvPr id="29" name="Shape 27"/>
          <p:cNvSpPr/>
          <p:nvPr/>
        </p:nvSpPr>
        <p:spPr>
          <a:xfrm>
            <a:off x="4709160" y="2240280"/>
            <a:ext cx="3840480" cy="640080"/>
          </a:xfrm>
          <a:prstGeom prst="rect">
            <a:avLst/>
          </a:prstGeom>
          <a:solidFill>
            <a:srgbClr val="1C2230"/>
          </a:solidFill>
          <a:ln w="6350">
            <a:solidFill>
              <a:srgbClr val="334155"/>
            </a:solidFill>
            <a:prstDash val="solid"/>
          </a:ln>
        </p:spPr>
      </p:sp>
      <p:sp>
        <p:nvSpPr>
          <p:cNvPr id="30" name="Shape 28"/>
          <p:cNvSpPr/>
          <p:nvPr/>
        </p:nvSpPr>
        <p:spPr>
          <a:xfrm>
            <a:off x="4709160" y="2240280"/>
            <a:ext cx="45720" cy="640080"/>
          </a:xfrm>
          <a:prstGeom prst="rect">
            <a:avLst/>
          </a:prstGeom>
          <a:solidFill>
            <a:srgbClr val="B91C1C"/>
          </a:solidFill>
          <a:ln w="12700">
            <a:solidFill>
              <a:srgbClr val="B91C1C"/>
            </a:solidFill>
            <a:prstDash val="solid"/>
          </a:ln>
        </p:spPr>
      </p:sp>
      <p:sp>
        <p:nvSpPr>
          <p:cNvPr id="31" name="Text 29"/>
          <p:cNvSpPr/>
          <p:nvPr/>
        </p:nvSpPr>
        <p:spPr>
          <a:xfrm>
            <a:off x="4864608" y="2267712"/>
            <a:ext cx="3593592"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Geopolitical transmission paths</a:t>
            </a:r>
            <a:endParaRPr lang="en-US" sz="1000" dirty="0"/>
          </a:p>
        </p:txBody>
      </p:sp>
      <p:sp>
        <p:nvSpPr>
          <p:cNvPr id="32" name="Text 30"/>
          <p:cNvSpPr/>
          <p:nvPr/>
        </p:nvSpPr>
        <p:spPr>
          <a:xfrm>
            <a:off x="4864608" y="2523744"/>
            <a:ext cx="3593592"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LNG price → China energy → API cost → pharma batch</a:t>
            </a:r>
            <a:endParaRPr lang="en-US" sz="900" dirty="0"/>
          </a:p>
        </p:txBody>
      </p:sp>
      <p:sp>
        <p:nvSpPr>
          <p:cNvPr id="33" name="Shape 31"/>
          <p:cNvSpPr/>
          <p:nvPr/>
        </p:nvSpPr>
        <p:spPr>
          <a:xfrm>
            <a:off x="4709160" y="2971800"/>
            <a:ext cx="3840480" cy="640080"/>
          </a:xfrm>
          <a:prstGeom prst="rect">
            <a:avLst/>
          </a:prstGeom>
          <a:solidFill>
            <a:srgbClr val="1C2230"/>
          </a:solidFill>
          <a:ln w="6350">
            <a:solidFill>
              <a:srgbClr val="334155"/>
            </a:solidFill>
            <a:prstDash val="solid"/>
          </a:ln>
        </p:spPr>
      </p:sp>
      <p:sp>
        <p:nvSpPr>
          <p:cNvPr id="34" name="Shape 32"/>
          <p:cNvSpPr/>
          <p:nvPr/>
        </p:nvSpPr>
        <p:spPr>
          <a:xfrm>
            <a:off x="4709160" y="2971800"/>
            <a:ext cx="45720" cy="640080"/>
          </a:xfrm>
          <a:prstGeom prst="rect">
            <a:avLst/>
          </a:prstGeom>
          <a:solidFill>
            <a:srgbClr val="B91C1C"/>
          </a:solidFill>
          <a:ln w="12700">
            <a:solidFill>
              <a:srgbClr val="B91C1C"/>
            </a:solidFill>
            <a:prstDash val="solid"/>
          </a:ln>
        </p:spPr>
      </p:sp>
      <p:sp>
        <p:nvSpPr>
          <p:cNvPr id="35" name="Text 33"/>
          <p:cNvSpPr/>
          <p:nvPr/>
        </p:nvSpPr>
        <p:spPr>
          <a:xfrm>
            <a:off x="4864608" y="2999232"/>
            <a:ext cx="3593592"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6–8 week upstream lead signal</a:t>
            </a:r>
            <a:endParaRPr lang="en-US" sz="1000" dirty="0"/>
          </a:p>
        </p:txBody>
      </p:sp>
      <p:sp>
        <p:nvSpPr>
          <p:cNvPr id="36" name="Text 34"/>
          <p:cNvSpPr/>
          <p:nvPr/>
        </p:nvSpPr>
        <p:spPr>
          <a:xfrm>
            <a:off x="4864608" y="3255264"/>
            <a:ext cx="3593592"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Disruption forms upstream before dashboards register it</a:t>
            </a:r>
            <a:endParaRPr lang="en-US" sz="900" dirty="0"/>
          </a:p>
        </p:txBody>
      </p:sp>
      <p:sp>
        <p:nvSpPr>
          <p:cNvPr id="37" name="Shape 35"/>
          <p:cNvSpPr/>
          <p:nvPr/>
        </p:nvSpPr>
        <p:spPr>
          <a:xfrm>
            <a:off x="4709160" y="3703320"/>
            <a:ext cx="3840480" cy="640080"/>
          </a:xfrm>
          <a:prstGeom prst="rect">
            <a:avLst/>
          </a:prstGeom>
          <a:solidFill>
            <a:srgbClr val="1C2230"/>
          </a:solidFill>
          <a:ln w="6350">
            <a:solidFill>
              <a:srgbClr val="334155"/>
            </a:solidFill>
            <a:prstDash val="solid"/>
          </a:ln>
        </p:spPr>
      </p:sp>
      <p:sp>
        <p:nvSpPr>
          <p:cNvPr id="38" name="Shape 36"/>
          <p:cNvSpPr/>
          <p:nvPr/>
        </p:nvSpPr>
        <p:spPr>
          <a:xfrm>
            <a:off x="4709160" y="3703320"/>
            <a:ext cx="45720" cy="640080"/>
          </a:xfrm>
          <a:prstGeom prst="rect">
            <a:avLst/>
          </a:prstGeom>
          <a:solidFill>
            <a:srgbClr val="B91C1C"/>
          </a:solidFill>
          <a:ln w="12700">
            <a:solidFill>
              <a:srgbClr val="B91C1C"/>
            </a:solidFill>
            <a:prstDash val="solid"/>
          </a:ln>
        </p:spPr>
      </p:sp>
      <p:sp>
        <p:nvSpPr>
          <p:cNvPr id="39" name="Text 37"/>
          <p:cNvSpPr/>
          <p:nvPr/>
        </p:nvSpPr>
        <p:spPr>
          <a:xfrm>
            <a:off x="4864608" y="3730752"/>
            <a:ext cx="3593592"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Shared commodity concentration risk</a:t>
            </a:r>
            <a:endParaRPr lang="en-US" sz="1000" dirty="0"/>
          </a:p>
        </p:txBody>
      </p:sp>
      <p:sp>
        <p:nvSpPr>
          <p:cNvPr id="40" name="Text 38"/>
          <p:cNvSpPr/>
          <p:nvPr/>
        </p:nvSpPr>
        <p:spPr>
          <a:xfrm>
            <a:off x="4864608" y="3986784"/>
            <a:ext cx="3593592"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One input failure cascades into multiple sectors simultaneously</a:t>
            </a:r>
            <a:endParaRPr lang="en-US" sz="900" dirty="0"/>
          </a:p>
        </p:txBody>
      </p:sp>
      <p:sp>
        <p:nvSpPr>
          <p:cNvPr id="41" name="Shape 39"/>
          <p:cNvSpPr/>
          <p:nvPr/>
        </p:nvSpPr>
        <p:spPr>
          <a:xfrm>
            <a:off x="457200" y="4736592"/>
            <a:ext cx="8229600" cy="329184"/>
          </a:xfrm>
          <a:prstGeom prst="rect">
            <a:avLst/>
          </a:prstGeom>
          <a:solidFill>
            <a:srgbClr val="1C2230"/>
          </a:solidFill>
          <a:ln w="9525">
            <a:solidFill>
              <a:srgbClr val="21262D"/>
            </a:solidFill>
            <a:prstDash val="solid"/>
          </a:ln>
        </p:spPr>
      </p:sp>
      <p:sp>
        <p:nvSpPr>
          <p:cNvPr id="42" name="Text 40"/>
          <p:cNvSpPr/>
          <p:nvPr/>
        </p:nvSpPr>
        <p:spPr>
          <a:xfrm>
            <a:off x="594360" y="4736592"/>
            <a:ext cx="7955280" cy="329184"/>
          </a:xfrm>
          <a:prstGeom prst="rect">
            <a:avLst/>
          </a:prstGeom>
          <a:noFill/>
          <a:ln/>
        </p:spPr>
        <p:txBody>
          <a:bodyPr wrap="square" lIns="0" tIns="0" rIns="0" bIns="0" rtlCol="0" anchor="ctr"/>
          <a:lstStyle/>
          <a:p>
            <a:pPr indent="0" marL="0">
              <a:buNone/>
            </a:pPr>
            <a:r>
              <a:rPr lang="en-US" sz="950" i="1" dirty="0">
                <a:solidFill>
                  <a:srgbClr val="D97706"/>
                </a:solidFill>
                <a:latin typeface="Calibri" pitchFamily="34" charset="0"/>
                <a:ea typeface="Calibri" pitchFamily="34" charset="-122"/>
                <a:cs typeface="Calibri" pitchFamily="34" charset="-120"/>
              </a:rPr>
              <a:t>India's pharma industry loses an estimated ₹8,000–₹16,000 crore annually to supply chain disruptions. Most originate upstream — in industries procurement was never watching.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THE FRAMEWORK</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CIIP Index — Theoretical Foundation and Architecture</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Shape 3"/>
          <p:cNvSpPr/>
          <p:nvPr/>
        </p:nvSpPr>
        <p:spPr>
          <a:xfrm>
            <a:off x="457200" y="1005840"/>
            <a:ext cx="8229600" cy="749808"/>
          </a:xfrm>
          <a:prstGeom prst="rect">
            <a:avLst/>
          </a:prstGeom>
          <a:solidFill>
            <a:srgbClr val="1C2230"/>
          </a:solidFill>
          <a:ln w="9525">
            <a:solidFill>
              <a:srgbClr val="D97706"/>
            </a:solidFill>
            <a:prstDash val="solid"/>
          </a:ln>
        </p:spPr>
      </p:sp>
      <p:sp>
        <p:nvSpPr>
          <p:cNvPr id="6" name="Text 4"/>
          <p:cNvSpPr/>
          <p:nvPr/>
        </p:nvSpPr>
        <p:spPr>
          <a:xfrm>
            <a:off x="594360" y="1078992"/>
            <a:ext cx="7772400" cy="256032"/>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Theoretical Basis: Leontief Input-Output Economics  ·  Nobel Prize 1973</a:t>
            </a:r>
            <a:endParaRPr lang="en-US" sz="1100" dirty="0"/>
          </a:p>
        </p:txBody>
      </p:sp>
      <p:sp>
        <p:nvSpPr>
          <p:cNvPr id="7" name="Text 5"/>
          <p:cNvSpPr/>
          <p:nvPr/>
        </p:nvSpPr>
        <p:spPr>
          <a:xfrm>
            <a:off x="594360" y="1335024"/>
            <a:ext cx="7772400" cy="34747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Industries are interconnected through shared upstream inputs. Demand pressure in one sector propagates into others 6–8 weeks before appearing in direct procurement data.</a:t>
            </a:r>
            <a:endParaRPr lang="en-US" sz="1000" dirty="0"/>
          </a:p>
        </p:txBody>
      </p:sp>
      <p:sp>
        <p:nvSpPr>
          <p:cNvPr id="8" name="Shape 6"/>
          <p:cNvSpPr/>
          <p:nvPr/>
        </p:nvSpPr>
        <p:spPr>
          <a:xfrm>
            <a:off x="457200" y="1920240"/>
            <a:ext cx="8229600" cy="822960"/>
          </a:xfrm>
          <a:prstGeom prst="rect">
            <a:avLst/>
          </a:prstGeom>
          <a:solidFill>
            <a:srgbClr val="161B22"/>
          </a:solidFill>
          <a:ln w="9525">
            <a:solidFill>
              <a:srgbClr val="21262D"/>
            </a:solidFill>
            <a:prstDash val="solid"/>
          </a:ln>
        </p:spPr>
      </p:sp>
      <p:sp>
        <p:nvSpPr>
          <p:cNvPr id="9" name="Shape 7"/>
          <p:cNvSpPr/>
          <p:nvPr/>
        </p:nvSpPr>
        <p:spPr>
          <a:xfrm>
            <a:off x="457200" y="1920240"/>
            <a:ext cx="45720" cy="822960"/>
          </a:xfrm>
          <a:prstGeom prst="rect">
            <a:avLst/>
          </a:prstGeom>
          <a:solidFill>
            <a:srgbClr val="14B8A6"/>
          </a:solidFill>
          <a:ln w="12700">
            <a:solidFill>
              <a:srgbClr val="14B8A6"/>
            </a:solidFill>
            <a:prstDash val="solid"/>
          </a:ln>
        </p:spPr>
      </p:sp>
      <p:sp>
        <p:nvSpPr>
          <p:cNvPr id="10" name="Text 8"/>
          <p:cNvSpPr/>
          <p:nvPr/>
        </p:nvSpPr>
        <p:spPr>
          <a:xfrm>
            <a:off x="658368" y="1956816"/>
            <a:ext cx="457200" cy="292608"/>
          </a:xfrm>
          <a:prstGeom prst="rect">
            <a:avLst/>
          </a:prstGeom>
          <a:noFill/>
          <a:ln/>
        </p:spPr>
        <p:txBody>
          <a:bodyPr wrap="square" lIns="0" tIns="0" rIns="0" bIns="0" rtlCol="0" anchor="ctr"/>
          <a:lstStyle/>
          <a:p>
            <a:pPr indent="0" marL="0">
              <a:buNone/>
            </a:pPr>
            <a:r>
              <a:rPr lang="en-US" sz="1800" b="1" dirty="0">
                <a:solidFill>
                  <a:srgbClr val="14B8A6"/>
                </a:solidFill>
                <a:latin typeface="Calibri" pitchFamily="34" charset="0"/>
                <a:ea typeface="Calibri" pitchFamily="34" charset="-122"/>
                <a:cs typeface="Calibri" pitchFamily="34" charset="-120"/>
              </a:rPr>
              <a:t>01</a:t>
            </a:r>
            <a:endParaRPr lang="en-US" sz="1800" dirty="0"/>
          </a:p>
        </p:txBody>
      </p:sp>
      <p:sp>
        <p:nvSpPr>
          <p:cNvPr id="11" name="Text 9"/>
          <p:cNvSpPr/>
          <p:nvPr/>
        </p:nvSpPr>
        <p:spPr>
          <a:xfrm>
            <a:off x="1170432" y="1975104"/>
            <a:ext cx="5303520" cy="274320"/>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Demand Forecasting Engine</a:t>
            </a:r>
            <a:endParaRPr lang="en-US" sz="1200" dirty="0"/>
          </a:p>
        </p:txBody>
      </p:sp>
      <p:sp>
        <p:nvSpPr>
          <p:cNvPr id="12" name="Text 10"/>
          <p:cNvSpPr/>
          <p:nvPr/>
        </p:nvSpPr>
        <p:spPr>
          <a:xfrm>
            <a:off x="1170432" y="2267712"/>
            <a:ext cx="6035040" cy="4114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Prophet time series models trained on 132 monthly observations (2015–2025) per material. Monthly frequency. Conservative changepoint prior. 12-month horizon with walk-forward validation.</a:t>
            </a:r>
            <a:endParaRPr lang="en-US" sz="900" dirty="0"/>
          </a:p>
        </p:txBody>
      </p:sp>
      <p:sp>
        <p:nvSpPr>
          <p:cNvPr id="13" name="Shape 11"/>
          <p:cNvSpPr/>
          <p:nvPr/>
        </p:nvSpPr>
        <p:spPr>
          <a:xfrm>
            <a:off x="7406640" y="2103120"/>
            <a:ext cx="1188720" cy="411480"/>
          </a:xfrm>
          <a:prstGeom prst="rect">
            <a:avLst/>
          </a:prstGeom>
          <a:solidFill>
            <a:srgbClr val="1C2230"/>
          </a:solidFill>
          <a:ln w="6350">
            <a:solidFill>
              <a:srgbClr val="14B8A6"/>
            </a:solidFill>
            <a:prstDash val="solid"/>
          </a:ln>
        </p:spPr>
      </p:sp>
      <p:sp>
        <p:nvSpPr>
          <p:cNvPr id="14" name="Text 12"/>
          <p:cNvSpPr/>
          <p:nvPr/>
        </p:nvSpPr>
        <p:spPr>
          <a:xfrm>
            <a:off x="7406640" y="2103120"/>
            <a:ext cx="1188720" cy="411480"/>
          </a:xfrm>
          <a:prstGeom prst="rect">
            <a:avLst/>
          </a:prstGeom>
          <a:noFill/>
          <a:ln/>
        </p:spPr>
        <p:txBody>
          <a:bodyPr wrap="square" lIns="0" tIns="0" rIns="0" bIns="0" rtlCol="0" anchor="ctr"/>
          <a:lstStyle/>
          <a:p>
            <a:pPr algn="ctr" indent="0" marL="0">
              <a:buNone/>
            </a:pPr>
            <a:r>
              <a:rPr lang="en-US" sz="900" b="1" dirty="0">
                <a:solidFill>
                  <a:srgbClr val="14B8A6"/>
                </a:solidFill>
                <a:latin typeface="Calibri" pitchFamily="34" charset="0"/>
                <a:ea typeface="Calibri" pitchFamily="34" charset="-122"/>
                <a:cs typeface="Calibri" pitchFamily="34" charset="-120"/>
              </a:rPr>
              <a:t>MAPE validated</a:t>
            </a:r>
            <a:endParaRPr lang="en-US" sz="900" dirty="0"/>
          </a:p>
        </p:txBody>
      </p:sp>
      <p:sp>
        <p:nvSpPr>
          <p:cNvPr id="15" name="Shape 13"/>
          <p:cNvSpPr/>
          <p:nvPr/>
        </p:nvSpPr>
        <p:spPr>
          <a:xfrm>
            <a:off x="457200" y="2880360"/>
            <a:ext cx="8229600" cy="822960"/>
          </a:xfrm>
          <a:prstGeom prst="rect">
            <a:avLst/>
          </a:prstGeom>
          <a:solidFill>
            <a:srgbClr val="161B22"/>
          </a:solidFill>
          <a:ln w="9525">
            <a:solidFill>
              <a:srgbClr val="21262D"/>
            </a:solidFill>
            <a:prstDash val="solid"/>
          </a:ln>
        </p:spPr>
      </p:sp>
      <p:sp>
        <p:nvSpPr>
          <p:cNvPr id="16" name="Shape 14"/>
          <p:cNvSpPr/>
          <p:nvPr/>
        </p:nvSpPr>
        <p:spPr>
          <a:xfrm>
            <a:off x="457200" y="2880360"/>
            <a:ext cx="45720" cy="822960"/>
          </a:xfrm>
          <a:prstGeom prst="rect">
            <a:avLst/>
          </a:prstGeom>
          <a:solidFill>
            <a:srgbClr val="F59E0B"/>
          </a:solidFill>
          <a:ln w="12700">
            <a:solidFill>
              <a:srgbClr val="F59E0B"/>
            </a:solidFill>
            <a:prstDash val="solid"/>
          </a:ln>
        </p:spPr>
      </p:sp>
      <p:sp>
        <p:nvSpPr>
          <p:cNvPr id="17" name="Text 15"/>
          <p:cNvSpPr/>
          <p:nvPr/>
        </p:nvSpPr>
        <p:spPr>
          <a:xfrm>
            <a:off x="658368" y="2916936"/>
            <a:ext cx="457200" cy="292608"/>
          </a:xfrm>
          <a:prstGeom prst="rect">
            <a:avLst/>
          </a:prstGeom>
          <a:noFill/>
          <a:ln/>
        </p:spPr>
        <p:txBody>
          <a:bodyPr wrap="square" lIns="0" tIns="0" rIns="0" bIns="0"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02</a:t>
            </a:r>
            <a:endParaRPr lang="en-US" sz="1800" dirty="0"/>
          </a:p>
        </p:txBody>
      </p:sp>
      <p:sp>
        <p:nvSpPr>
          <p:cNvPr id="18" name="Text 16"/>
          <p:cNvSpPr/>
          <p:nvPr/>
        </p:nvSpPr>
        <p:spPr>
          <a:xfrm>
            <a:off x="1170432" y="2935224"/>
            <a:ext cx="5303520" cy="274320"/>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CIIP Risk Scoring Engine</a:t>
            </a:r>
            <a:endParaRPr lang="en-US" sz="1200" dirty="0"/>
          </a:p>
        </p:txBody>
      </p:sp>
      <p:sp>
        <p:nvSpPr>
          <p:cNvPr id="19" name="Text 17"/>
          <p:cNvSpPr/>
          <p:nvPr/>
        </p:nvSpPr>
        <p:spPr>
          <a:xfrm>
            <a:off x="1170432" y="3227832"/>
            <a:ext cx="6035040" cy="4114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Cross-Industry Input Pressure Index. Pharma demand 30% · Cross-industry competition 45% · Geopolitical risk 25%. Expert-calibrated with analytical weighting for volatility, import dependency, energy correlation, and supplier concentration.</a:t>
            </a:r>
            <a:endParaRPr lang="en-US" sz="900" dirty="0"/>
          </a:p>
        </p:txBody>
      </p:sp>
      <p:sp>
        <p:nvSpPr>
          <p:cNvPr id="20" name="Shape 18"/>
          <p:cNvSpPr/>
          <p:nvPr/>
        </p:nvSpPr>
        <p:spPr>
          <a:xfrm>
            <a:off x="7406640" y="3063240"/>
            <a:ext cx="1188720" cy="411480"/>
          </a:xfrm>
          <a:prstGeom prst="rect">
            <a:avLst/>
          </a:prstGeom>
          <a:solidFill>
            <a:srgbClr val="1C2230"/>
          </a:solidFill>
          <a:ln w="6350">
            <a:solidFill>
              <a:srgbClr val="F59E0B"/>
            </a:solidFill>
            <a:prstDash val="solid"/>
          </a:ln>
        </p:spPr>
      </p:sp>
      <p:sp>
        <p:nvSpPr>
          <p:cNvPr id="21" name="Text 19"/>
          <p:cNvSpPr/>
          <p:nvPr/>
        </p:nvSpPr>
        <p:spPr>
          <a:xfrm>
            <a:off x="7406640" y="3063240"/>
            <a:ext cx="1188720" cy="411480"/>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0–10 score</a:t>
            </a:r>
            <a:endParaRPr lang="en-US" sz="900" dirty="0"/>
          </a:p>
        </p:txBody>
      </p:sp>
      <p:sp>
        <p:nvSpPr>
          <p:cNvPr id="22" name="Shape 20"/>
          <p:cNvSpPr/>
          <p:nvPr/>
        </p:nvSpPr>
        <p:spPr>
          <a:xfrm>
            <a:off x="457200" y="3840480"/>
            <a:ext cx="8229600" cy="822960"/>
          </a:xfrm>
          <a:prstGeom prst="rect">
            <a:avLst/>
          </a:prstGeom>
          <a:solidFill>
            <a:srgbClr val="161B22"/>
          </a:solidFill>
          <a:ln w="9525">
            <a:solidFill>
              <a:srgbClr val="21262D"/>
            </a:solidFill>
            <a:prstDash val="solid"/>
          </a:ln>
        </p:spPr>
      </p:sp>
      <p:sp>
        <p:nvSpPr>
          <p:cNvPr id="23" name="Shape 21"/>
          <p:cNvSpPr/>
          <p:nvPr/>
        </p:nvSpPr>
        <p:spPr>
          <a:xfrm>
            <a:off x="457200" y="3840480"/>
            <a:ext cx="45720" cy="822960"/>
          </a:xfrm>
          <a:prstGeom prst="rect">
            <a:avLst/>
          </a:prstGeom>
          <a:solidFill>
            <a:srgbClr val="3B82F6"/>
          </a:solidFill>
          <a:ln w="12700">
            <a:solidFill>
              <a:srgbClr val="3B82F6"/>
            </a:solidFill>
            <a:prstDash val="solid"/>
          </a:ln>
        </p:spPr>
      </p:sp>
      <p:sp>
        <p:nvSpPr>
          <p:cNvPr id="24" name="Text 22"/>
          <p:cNvSpPr/>
          <p:nvPr/>
        </p:nvSpPr>
        <p:spPr>
          <a:xfrm>
            <a:off x="658368" y="3877056"/>
            <a:ext cx="457200" cy="292608"/>
          </a:xfrm>
          <a:prstGeom prst="rect">
            <a:avLst/>
          </a:prstGeom>
          <a:noFill/>
          <a:ln/>
        </p:spPr>
        <p:txBody>
          <a:bodyPr wrap="square" lIns="0" tIns="0" rIns="0" bIns="0" rtlCol="0" anchor="ctr"/>
          <a:lstStyle/>
          <a:p>
            <a:pPr indent="0" marL="0">
              <a:buNone/>
            </a:pPr>
            <a:r>
              <a:rPr lang="en-US" sz="1800" b="1" dirty="0">
                <a:solidFill>
                  <a:srgbClr val="3B82F6"/>
                </a:solidFill>
                <a:latin typeface="Calibri" pitchFamily="34" charset="0"/>
                <a:ea typeface="Calibri" pitchFamily="34" charset="-122"/>
                <a:cs typeface="Calibri" pitchFamily="34" charset="-120"/>
              </a:rPr>
              <a:t>03</a:t>
            </a:r>
            <a:endParaRPr lang="en-US" sz="1800" dirty="0"/>
          </a:p>
        </p:txBody>
      </p:sp>
      <p:sp>
        <p:nvSpPr>
          <p:cNvPr id="25" name="Text 23"/>
          <p:cNvSpPr/>
          <p:nvPr/>
        </p:nvSpPr>
        <p:spPr>
          <a:xfrm>
            <a:off x="1170432" y="3895344"/>
            <a:ext cx="5303520" cy="274320"/>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Intelligence &amp; Scenario Layer</a:t>
            </a:r>
            <a:endParaRPr lang="en-US" sz="1200" dirty="0"/>
          </a:p>
        </p:txBody>
      </p:sp>
      <p:sp>
        <p:nvSpPr>
          <p:cNvPr id="26" name="Text 24"/>
          <p:cNvSpPr/>
          <p:nvPr/>
        </p:nvSpPr>
        <p:spPr>
          <a:xfrm>
            <a:off x="1170432" y="4187952"/>
            <a:ext cx="6035040" cy="4114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Monte Carlo simulation (10,000 paths). Three enterprise scenarios: Hormuz escalation, China export controls, India PLI acceleration. Confidence scoring across four analytical components.</a:t>
            </a:r>
            <a:endParaRPr lang="en-US" sz="900" dirty="0"/>
          </a:p>
        </p:txBody>
      </p:sp>
      <p:sp>
        <p:nvSpPr>
          <p:cNvPr id="27" name="Shape 25"/>
          <p:cNvSpPr/>
          <p:nvPr/>
        </p:nvSpPr>
        <p:spPr>
          <a:xfrm>
            <a:off x="7406640" y="4023360"/>
            <a:ext cx="1188720" cy="411480"/>
          </a:xfrm>
          <a:prstGeom prst="rect">
            <a:avLst/>
          </a:prstGeom>
          <a:solidFill>
            <a:srgbClr val="1C2230"/>
          </a:solidFill>
          <a:ln w="6350">
            <a:solidFill>
              <a:srgbClr val="3B82F6"/>
            </a:solidFill>
            <a:prstDash val="solid"/>
          </a:ln>
        </p:spPr>
      </p:sp>
      <p:sp>
        <p:nvSpPr>
          <p:cNvPr id="28" name="Text 26"/>
          <p:cNvSpPr/>
          <p:nvPr/>
        </p:nvSpPr>
        <p:spPr>
          <a:xfrm>
            <a:off x="7406640" y="4023360"/>
            <a:ext cx="1188720" cy="411480"/>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10K simulations</a:t>
            </a:r>
            <a:endParaRPr lang="en-US" sz="900" dirty="0"/>
          </a:p>
        </p:txBody>
      </p:sp>
      <p:sp>
        <p:nvSpPr>
          <p:cNvPr id="29" name="Shape 27"/>
          <p:cNvSpPr/>
          <p:nvPr/>
        </p:nvSpPr>
        <p:spPr>
          <a:xfrm>
            <a:off x="457200" y="4736592"/>
            <a:ext cx="8229600" cy="329184"/>
          </a:xfrm>
          <a:prstGeom prst="rect">
            <a:avLst/>
          </a:prstGeom>
          <a:solidFill>
            <a:srgbClr val="1C2230"/>
          </a:solidFill>
          <a:ln w="9525">
            <a:solidFill>
              <a:srgbClr val="21262D"/>
            </a:solidFill>
            <a:prstDash val="solid"/>
          </a:ln>
        </p:spPr>
      </p:sp>
      <p:sp>
        <p:nvSpPr>
          <p:cNvPr id="30" name="Text 28"/>
          <p:cNvSpPr/>
          <p:nvPr/>
        </p:nvSpPr>
        <p:spPr>
          <a:xfrm>
            <a:off x="594360" y="4736592"/>
            <a:ext cx="7955280" cy="329184"/>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CIIP Score  =  (Pharma Demand × 0.30)  +  (Cross-Industry Competition × 0.45)  +  (Geopolitical Risk × 0.25)   ·   Scale: 0 to 10</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DATA FOUNDATION</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Five Pharma Upstream Inputs — Source Credibility and Dataset Profile</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Text 3"/>
          <p:cNvSpPr/>
          <p:nvPr/>
        </p:nvSpPr>
        <p:spPr>
          <a:xfrm>
            <a:off x="457200" y="1005840"/>
            <a:ext cx="1600200" cy="274320"/>
          </a:xfrm>
          <a:prstGeom prst="rect">
            <a:avLst/>
          </a:prstGeom>
          <a:noFill/>
          <a:ln/>
        </p:spPr>
        <p:txBody>
          <a:bodyPr wrap="square" lIns="0" tIns="0" rIns="0" bIns="0"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Material / Role</a:t>
            </a:r>
            <a:endParaRPr lang="en-US" sz="850" dirty="0"/>
          </a:p>
        </p:txBody>
      </p:sp>
      <p:sp>
        <p:nvSpPr>
          <p:cNvPr id="6" name="Text 4"/>
          <p:cNvSpPr/>
          <p:nvPr/>
        </p:nvSpPr>
        <p:spPr>
          <a:xfrm>
            <a:off x="2103120" y="1005840"/>
            <a:ext cx="1828800" cy="274320"/>
          </a:xfrm>
          <a:prstGeom prst="rect">
            <a:avLst/>
          </a:prstGeom>
          <a:noFill/>
          <a:ln/>
        </p:spPr>
        <p:txBody>
          <a:bodyPr wrap="square" lIns="0" tIns="0" rIns="0" bIns="0"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Source</a:t>
            </a:r>
            <a:endParaRPr lang="en-US" sz="850" dirty="0"/>
          </a:p>
        </p:txBody>
      </p:sp>
      <p:sp>
        <p:nvSpPr>
          <p:cNvPr id="7" name="Text 5"/>
          <p:cNvSpPr/>
          <p:nvPr/>
        </p:nvSpPr>
        <p:spPr>
          <a:xfrm>
            <a:off x="3977640" y="1005840"/>
            <a:ext cx="1188720" cy="274320"/>
          </a:xfrm>
          <a:prstGeom prst="rect">
            <a:avLst/>
          </a:prstGeom>
          <a:noFill/>
          <a:ln/>
        </p:spPr>
        <p:txBody>
          <a:bodyPr wrap="square" lIns="0" tIns="0" rIns="0" bIns="0"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Last Price</a:t>
            </a:r>
            <a:endParaRPr lang="en-US" sz="850" dirty="0"/>
          </a:p>
        </p:txBody>
      </p:sp>
      <p:sp>
        <p:nvSpPr>
          <p:cNvPr id="8" name="Text 6"/>
          <p:cNvSpPr/>
          <p:nvPr/>
        </p:nvSpPr>
        <p:spPr>
          <a:xfrm>
            <a:off x="5212080" y="1005840"/>
            <a:ext cx="960120" cy="274320"/>
          </a:xfrm>
          <a:prstGeom prst="rect">
            <a:avLst/>
          </a:prstGeom>
          <a:noFill/>
          <a:ln/>
        </p:spPr>
        <p:txBody>
          <a:bodyPr wrap="square" lIns="0" tIns="0" rIns="0" bIns="0"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12M Forecast</a:t>
            </a:r>
            <a:endParaRPr lang="en-US" sz="850" dirty="0"/>
          </a:p>
        </p:txBody>
      </p:sp>
      <p:sp>
        <p:nvSpPr>
          <p:cNvPr id="9" name="Text 7"/>
          <p:cNvSpPr/>
          <p:nvPr/>
        </p:nvSpPr>
        <p:spPr>
          <a:xfrm>
            <a:off x="6217920" y="1005840"/>
            <a:ext cx="1051560" cy="274320"/>
          </a:xfrm>
          <a:prstGeom prst="rect">
            <a:avLst/>
          </a:prstGeom>
          <a:noFill/>
          <a:ln/>
        </p:spPr>
        <p:txBody>
          <a:bodyPr wrap="square" lIns="0" tIns="0" rIns="0" bIns="0"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Direction</a:t>
            </a:r>
            <a:endParaRPr lang="en-US" sz="850" dirty="0"/>
          </a:p>
        </p:txBody>
      </p:sp>
      <p:sp>
        <p:nvSpPr>
          <p:cNvPr id="10" name="Text 8"/>
          <p:cNvSpPr/>
          <p:nvPr/>
        </p:nvSpPr>
        <p:spPr>
          <a:xfrm>
            <a:off x="7315200" y="1005840"/>
            <a:ext cx="1554480" cy="274320"/>
          </a:xfrm>
          <a:prstGeom prst="rect">
            <a:avLst/>
          </a:prstGeom>
          <a:noFill/>
          <a:ln/>
        </p:spPr>
        <p:txBody>
          <a:bodyPr wrap="square" lIns="0" tIns="0" rIns="0" bIns="0" rtlCol="0" anchor="ctr"/>
          <a:lstStyle/>
          <a:p>
            <a:pPr indent="0" marL="0">
              <a:buNone/>
            </a:pPr>
            <a:r>
              <a:rPr lang="en-US" sz="850" b="1" spc="100" kern="0" dirty="0">
                <a:solidFill>
                  <a:srgbClr val="64748B"/>
                </a:solidFill>
                <a:latin typeface="Calibri" pitchFamily="34" charset="0"/>
                <a:ea typeface="Calibri" pitchFamily="34" charset="-122"/>
                <a:cs typeface="Calibri" pitchFamily="34" charset="-120"/>
              </a:rPr>
              <a:t>Credibility</a:t>
            </a:r>
            <a:endParaRPr lang="en-US" sz="850" dirty="0"/>
          </a:p>
        </p:txBody>
      </p:sp>
      <p:sp>
        <p:nvSpPr>
          <p:cNvPr id="11" name="Shape 9"/>
          <p:cNvSpPr/>
          <p:nvPr/>
        </p:nvSpPr>
        <p:spPr>
          <a:xfrm>
            <a:off x="457200" y="1261872"/>
            <a:ext cx="8229600" cy="13716"/>
          </a:xfrm>
          <a:prstGeom prst="rect">
            <a:avLst/>
          </a:prstGeom>
          <a:solidFill>
            <a:srgbClr val="334155"/>
          </a:solidFill>
          <a:ln w="12700">
            <a:solidFill>
              <a:srgbClr val="334155"/>
            </a:solidFill>
            <a:prstDash val="solid"/>
          </a:ln>
        </p:spPr>
      </p:sp>
      <p:sp>
        <p:nvSpPr>
          <p:cNvPr id="12" name="Shape 10"/>
          <p:cNvSpPr/>
          <p:nvPr/>
        </p:nvSpPr>
        <p:spPr>
          <a:xfrm>
            <a:off x="457200" y="1298448"/>
            <a:ext cx="8229600" cy="621792"/>
          </a:xfrm>
          <a:prstGeom prst="rect">
            <a:avLst/>
          </a:prstGeom>
          <a:solidFill>
            <a:srgbClr val="161B22"/>
          </a:solidFill>
          <a:ln w="6350">
            <a:solidFill>
              <a:srgbClr val="21262D"/>
            </a:solidFill>
            <a:prstDash val="solid"/>
          </a:ln>
        </p:spPr>
      </p:sp>
      <p:sp>
        <p:nvSpPr>
          <p:cNvPr id="13" name="Text 11"/>
          <p:cNvSpPr/>
          <p:nvPr/>
        </p:nvSpPr>
        <p:spPr>
          <a:xfrm>
            <a:off x="530352" y="1353312"/>
            <a:ext cx="1508760" cy="237744"/>
          </a:xfrm>
          <a:prstGeom prst="rect">
            <a:avLst/>
          </a:prstGeom>
          <a:noFill/>
          <a:ln/>
        </p:spPr>
        <p:txBody>
          <a:bodyPr wrap="square" lIns="0" tIns="0" rIns="0" bIns="0"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LNG Japan</a:t>
            </a:r>
            <a:endParaRPr lang="en-US" sz="1050" dirty="0"/>
          </a:p>
        </p:txBody>
      </p:sp>
      <p:sp>
        <p:nvSpPr>
          <p:cNvPr id="14" name="Text 12"/>
          <p:cNvSpPr/>
          <p:nvPr/>
        </p:nvSpPr>
        <p:spPr>
          <a:xfrm>
            <a:off x="530352" y="1600200"/>
            <a:ext cx="150876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Energy proxy for Chinese API manufacturing</a:t>
            </a:r>
            <a:endParaRPr lang="en-US" sz="800" dirty="0"/>
          </a:p>
        </p:txBody>
      </p:sp>
      <p:sp>
        <p:nvSpPr>
          <p:cNvPr id="15" name="Text 13"/>
          <p:cNvSpPr/>
          <p:nvPr/>
        </p:nvSpPr>
        <p:spPr>
          <a:xfrm>
            <a:off x="2103120" y="1444752"/>
            <a:ext cx="173736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World Bank Pink Sheet</a:t>
            </a:r>
            <a:endParaRPr lang="en-US" sz="850" dirty="0"/>
          </a:p>
        </p:txBody>
      </p:sp>
      <p:sp>
        <p:nvSpPr>
          <p:cNvPr id="16" name="Text 14"/>
          <p:cNvSpPr/>
          <p:nvPr/>
        </p:nvSpPr>
        <p:spPr>
          <a:xfrm>
            <a:off x="3977640" y="1444752"/>
            <a:ext cx="1005840" cy="329184"/>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$12.00</a:t>
            </a:r>
            <a:endParaRPr lang="en-US" sz="1200" dirty="0"/>
          </a:p>
        </p:txBody>
      </p:sp>
      <p:sp>
        <p:nvSpPr>
          <p:cNvPr id="17" name="Text 15"/>
          <p:cNvSpPr/>
          <p:nvPr/>
        </p:nvSpPr>
        <p:spPr>
          <a:xfrm>
            <a:off x="3977640" y="1645920"/>
            <a:ext cx="1005840" cy="201168"/>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USD/MMBtu</a:t>
            </a:r>
            <a:endParaRPr lang="en-US" sz="750" dirty="0"/>
          </a:p>
        </p:txBody>
      </p:sp>
      <p:sp>
        <p:nvSpPr>
          <p:cNvPr id="18" name="Text 16"/>
          <p:cNvSpPr/>
          <p:nvPr/>
        </p:nvSpPr>
        <p:spPr>
          <a:xfrm>
            <a:off x="5212080" y="1444752"/>
            <a:ext cx="1005840" cy="329184"/>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$16.23</a:t>
            </a:r>
            <a:endParaRPr lang="en-US" sz="1200" dirty="0"/>
          </a:p>
        </p:txBody>
      </p:sp>
      <p:sp>
        <p:nvSpPr>
          <p:cNvPr id="19" name="Text 17"/>
          <p:cNvSpPr/>
          <p:nvPr/>
        </p:nvSpPr>
        <p:spPr>
          <a:xfrm>
            <a:off x="6217920" y="1444752"/>
            <a:ext cx="1005840" cy="329184"/>
          </a:xfrm>
          <a:prstGeom prst="rect">
            <a:avLst/>
          </a:prstGeom>
          <a:noFill/>
          <a:ln/>
        </p:spPr>
        <p:txBody>
          <a:bodyPr wrap="square" lIns="0" tIns="0" rIns="0" bIns="0" rtlCol="0" anchor="ctr"/>
          <a:lstStyle/>
          <a:p>
            <a:pPr indent="0" marL="0">
              <a:buNone/>
            </a:pPr>
            <a:r>
              <a:rPr lang="en-US" sz="1000" b="1" dirty="0">
                <a:solidFill>
                  <a:srgbClr val="B91C1C"/>
                </a:solidFill>
                <a:latin typeface="Calibri" pitchFamily="34" charset="0"/>
                <a:ea typeface="Calibri" pitchFamily="34" charset="-122"/>
                <a:cs typeface="Calibri" pitchFamily="34" charset="-120"/>
              </a:rPr>
              <a:t>UP 35.2%</a:t>
            </a:r>
            <a:endParaRPr lang="en-US" sz="1000" dirty="0"/>
          </a:p>
        </p:txBody>
      </p:sp>
      <p:sp>
        <p:nvSpPr>
          <p:cNvPr id="20" name="Shape 18"/>
          <p:cNvSpPr/>
          <p:nvPr/>
        </p:nvSpPr>
        <p:spPr>
          <a:xfrm>
            <a:off x="7360920" y="1481328"/>
            <a:ext cx="914400" cy="237744"/>
          </a:xfrm>
          <a:prstGeom prst="rect">
            <a:avLst/>
          </a:prstGeom>
          <a:solidFill>
            <a:srgbClr val="1C2230"/>
          </a:solidFill>
          <a:ln w="9525">
            <a:solidFill>
              <a:srgbClr val="059669"/>
            </a:solidFill>
            <a:prstDash val="solid"/>
          </a:ln>
        </p:spPr>
      </p:sp>
      <p:sp>
        <p:nvSpPr>
          <p:cNvPr id="21" name="Text 19"/>
          <p:cNvSpPr/>
          <p:nvPr/>
        </p:nvSpPr>
        <p:spPr>
          <a:xfrm>
            <a:off x="7360920" y="1481328"/>
            <a:ext cx="914400" cy="237744"/>
          </a:xfrm>
          <a:prstGeom prst="rect">
            <a:avLst/>
          </a:prstGeom>
          <a:noFill/>
          <a:ln/>
        </p:spPr>
        <p:txBody>
          <a:bodyPr wrap="square" lIns="0" tIns="0" rIns="0" bIns="0" rtlCol="0" anchor="ctr"/>
          <a:lstStyle/>
          <a:p>
            <a:pPr algn="ctr" indent="0" marL="0">
              <a:buNone/>
            </a:pPr>
            <a:r>
              <a:rPr lang="en-US" sz="850" b="1" dirty="0">
                <a:solidFill>
                  <a:srgbClr val="059669"/>
                </a:solidFill>
                <a:latin typeface="Calibri" pitchFamily="34" charset="0"/>
                <a:ea typeface="Calibri" pitchFamily="34" charset="-122"/>
                <a:cs typeface="Calibri" pitchFamily="34" charset="-120"/>
              </a:rPr>
              <a:t>PRIMARY</a:t>
            </a:r>
            <a:endParaRPr lang="en-US" sz="850" dirty="0"/>
          </a:p>
        </p:txBody>
      </p:sp>
      <p:sp>
        <p:nvSpPr>
          <p:cNvPr id="22" name="Shape 20"/>
          <p:cNvSpPr/>
          <p:nvPr/>
        </p:nvSpPr>
        <p:spPr>
          <a:xfrm>
            <a:off x="457200" y="1993392"/>
            <a:ext cx="8229600" cy="621792"/>
          </a:xfrm>
          <a:prstGeom prst="rect">
            <a:avLst/>
          </a:prstGeom>
          <a:solidFill>
            <a:srgbClr val="0D1117"/>
          </a:solidFill>
          <a:ln w="6350">
            <a:solidFill>
              <a:srgbClr val="21262D"/>
            </a:solidFill>
            <a:prstDash val="solid"/>
          </a:ln>
        </p:spPr>
      </p:sp>
      <p:sp>
        <p:nvSpPr>
          <p:cNvPr id="23" name="Text 21"/>
          <p:cNvSpPr/>
          <p:nvPr/>
        </p:nvSpPr>
        <p:spPr>
          <a:xfrm>
            <a:off x="530352" y="2048256"/>
            <a:ext cx="1508760" cy="237744"/>
          </a:xfrm>
          <a:prstGeom prst="rect">
            <a:avLst/>
          </a:prstGeom>
          <a:noFill/>
          <a:ln/>
        </p:spPr>
        <p:txBody>
          <a:bodyPr wrap="square" lIns="0" tIns="0" rIns="0" bIns="0"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Soda Ash</a:t>
            </a:r>
            <a:endParaRPr lang="en-US" sz="1050" dirty="0"/>
          </a:p>
        </p:txBody>
      </p:sp>
      <p:sp>
        <p:nvSpPr>
          <p:cNvPr id="24" name="Text 22"/>
          <p:cNvSpPr/>
          <p:nvPr/>
        </p:nvSpPr>
        <p:spPr>
          <a:xfrm>
            <a:off x="530352" y="2295144"/>
            <a:ext cx="150876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Glass packaging excipient + solar cross-sector</a:t>
            </a:r>
            <a:endParaRPr lang="en-US" sz="800" dirty="0"/>
          </a:p>
        </p:txBody>
      </p:sp>
      <p:sp>
        <p:nvSpPr>
          <p:cNvPr id="25" name="Text 23"/>
          <p:cNvSpPr/>
          <p:nvPr/>
        </p:nvSpPr>
        <p:spPr>
          <a:xfrm>
            <a:off x="2103120" y="2139696"/>
            <a:ext cx="173736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FRED reconstructed proxy</a:t>
            </a:r>
            <a:endParaRPr lang="en-US" sz="850" dirty="0"/>
          </a:p>
        </p:txBody>
      </p:sp>
      <p:sp>
        <p:nvSpPr>
          <p:cNvPr id="26" name="Text 24"/>
          <p:cNvSpPr/>
          <p:nvPr/>
        </p:nvSpPr>
        <p:spPr>
          <a:xfrm>
            <a:off x="3977640" y="2139696"/>
            <a:ext cx="1005840" cy="329184"/>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$362.90</a:t>
            </a:r>
            <a:endParaRPr lang="en-US" sz="1200" dirty="0"/>
          </a:p>
        </p:txBody>
      </p:sp>
      <p:sp>
        <p:nvSpPr>
          <p:cNvPr id="27" name="Text 25"/>
          <p:cNvSpPr/>
          <p:nvPr/>
        </p:nvSpPr>
        <p:spPr>
          <a:xfrm>
            <a:off x="3977640" y="2340864"/>
            <a:ext cx="1005840" cy="201168"/>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USD/MT</a:t>
            </a:r>
            <a:endParaRPr lang="en-US" sz="750" dirty="0"/>
          </a:p>
        </p:txBody>
      </p:sp>
      <p:sp>
        <p:nvSpPr>
          <p:cNvPr id="28" name="Text 26"/>
          <p:cNvSpPr/>
          <p:nvPr/>
        </p:nvSpPr>
        <p:spPr>
          <a:xfrm>
            <a:off x="5212080" y="2139696"/>
            <a:ext cx="1005840" cy="329184"/>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$342.33</a:t>
            </a:r>
            <a:endParaRPr lang="en-US" sz="1200" dirty="0"/>
          </a:p>
        </p:txBody>
      </p:sp>
      <p:sp>
        <p:nvSpPr>
          <p:cNvPr id="29" name="Text 27"/>
          <p:cNvSpPr/>
          <p:nvPr/>
        </p:nvSpPr>
        <p:spPr>
          <a:xfrm>
            <a:off x="6217920" y="2139696"/>
            <a:ext cx="1005840" cy="329184"/>
          </a:xfrm>
          <a:prstGeom prst="rect">
            <a:avLst/>
          </a:prstGeom>
          <a:noFill/>
          <a:ln/>
        </p:spPr>
        <p:txBody>
          <a:bodyPr wrap="square" lIns="0" tIns="0" rIns="0" bIns="0" rtlCol="0" anchor="ctr"/>
          <a:lstStyle/>
          <a:p>
            <a:pPr indent="0" marL="0">
              <a:buNone/>
            </a:pPr>
            <a:r>
              <a:rPr lang="en-US" sz="1000" b="1" dirty="0">
                <a:solidFill>
                  <a:srgbClr val="059669"/>
                </a:solidFill>
                <a:latin typeface="Calibri" pitchFamily="34" charset="0"/>
                <a:ea typeface="Calibri" pitchFamily="34" charset="-122"/>
                <a:cs typeface="Calibri" pitchFamily="34" charset="-120"/>
              </a:rPr>
              <a:t>DOWN 5.7%</a:t>
            </a:r>
            <a:endParaRPr lang="en-US" sz="1000" dirty="0"/>
          </a:p>
        </p:txBody>
      </p:sp>
      <p:sp>
        <p:nvSpPr>
          <p:cNvPr id="30" name="Shape 28"/>
          <p:cNvSpPr/>
          <p:nvPr/>
        </p:nvSpPr>
        <p:spPr>
          <a:xfrm>
            <a:off x="7360920" y="2176272"/>
            <a:ext cx="914400" cy="237744"/>
          </a:xfrm>
          <a:prstGeom prst="rect">
            <a:avLst/>
          </a:prstGeom>
          <a:solidFill>
            <a:srgbClr val="1C2230"/>
          </a:solidFill>
          <a:ln w="9525">
            <a:solidFill>
              <a:srgbClr val="C2410C"/>
            </a:solidFill>
            <a:prstDash val="solid"/>
          </a:ln>
        </p:spPr>
      </p:sp>
      <p:sp>
        <p:nvSpPr>
          <p:cNvPr id="31" name="Text 29"/>
          <p:cNvSpPr/>
          <p:nvPr/>
        </p:nvSpPr>
        <p:spPr>
          <a:xfrm>
            <a:off x="7360920" y="2176272"/>
            <a:ext cx="914400" cy="237744"/>
          </a:xfrm>
          <a:prstGeom prst="rect">
            <a:avLst/>
          </a:prstGeom>
          <a:noFill/>
          <a:ln/>
        </p:spPr>
        <p:txBody>
          <a:bodyPr wrap="square" lIns="0" tIns="0" rIns="0" bIns="0" rtlCol="0" anchor="ctr"/>
          <a:lstStyle/>
          <a:p>
            <a:pPr algn="ctr" indent="0" marL="0">
              <a:buNone/>
            </a:pPr>
            <a:r>
              <a:rPr lang="en-US" sz="850" b="1" dirty="0">
                <a:solidFill>
                  <a:srgbClr val="C2410C"/>
                </a:solidFill>
                <a:latin typeface="Calibri" pitchFamily="34" charset="0"/>
                <a:ea typeface="Calibri" pitchFamily="34" charset="-122"/>
                <a:cs typeface="Calibri" pitchFamily="34" charset="-120"/>
              </a:rPr>
              <a:t>PROXY</a:t>
            </a:r>
            <a:endParaRPr lang="en-US" sz="850" dirty="0"/>
          </a:p>
        </p:txBody>
      </p:sp>
      <p:sp>
        <p:nvSpPr>
          <p:cNvPr id="32" name="Shape 30"/>
          <p:cNvSpPr/>
          <p:nvPr/>
        </p:nvSpPr>
        <p:spPr>
          <a:xfrm>
            <a:off x="457200" y="2688336"/>
            <a:ext cx="8229600" cy="621792"/>
          </a:xfrm>
          <a:prstGeom prst="rect">
            <a:avLst/>
          </a:prstGeom>
          <a:solidFill>
            <a:srgbClr val="161B22"/>
          </a:solidFill>
          <a:ln w="6350">
            <a:solidFill>
              <a:srgbClr val="21262D"/>
            </a:solidFill>
            <a:prstDash val="solid"/>
          </a:ln>
        </p:spPr>
      </p:sp>
      <p:sp>
        <p:nvSpPr>
          <p:cNvPr id="33" name="Text 31"/>
          <p:cNvSpPr/>
          <p:nvPr/>
        </p:nvSpPr>
        <p:spPr>
          <a:xfrm>
            <a:off x="530352" y="2743200"/>
            <a:ext cx="1508760" cy="237744"/>
          </a:xfrm>
          <a:prstGeom prst="rect">
            <a:avLst/>
          </a:prstGeom>
          <a:noFill/>
          <a:ln/>
        </p:spPr>
        <p:txBody>
          <a:bodyPr wrap="square" lIns="0" tIns="0" rIns="0" bIns="0"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Methanol</a:t>
            </a:r>
            <a:endParaRPr lang="en-US" sz="1050" dirty="0"/>
          </a:p>
        </p:txBody>
      </p:sp>
      <p:sp>
        <p:nvSpPr>
          <p:cNvPr id="34" name="Text 32"/>
          <p:cNvSpPr/>
          <p:nvPr/>
        </p:nvSpPr>
        <p:spPr>
          <a:xfrm>
            <a:off x="530352" y="2990088"/>
            <a:ext cx="150876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Solvent feedstock for API synthesis</a:t>
            </a:r>
            <a:endParaRPr lang="en-US" sz="800" dirty="0"/>
          </a:p>
        </p:txBody>
      </p:sp>
      <p:sp>
        <p:nvSpPr>
          <p:cNvPr id="35" name="Text 33"/>
          <p:cNvSpPr/>
          <p:nvPr/>
        </p:nvSpPr>
        <p:spPr>
          <a:xfrm>
            <a:off x="2103120" y="2834640"/>
            <a:ext cx="173736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Methanex contract prices</a:t>
            </a:r>
            <a:endParaRPr lang="en-US" sz="850" dirty="0"/>
          </a:p>
        </p:txBody>
      </p:sp>
      <p:sp>
        <p:nvSpPr>
          <p:cNvPr id="36" name="Text 34"/>
          <p:cNvSpPr/>
          <p:nvPr/>
        </p:nvSpPr>
        <p:spPr>
          <a:xfrm>
            <a:off x="3977640" y="2834640"/>
            <a:ext cx="1005840" cy="329184"/>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$802.00</a:t>
            </a:r>
            <a:endParaRPr lang="en-US" sz="1200" dirty="0"/>
          </a:p>
        </p:txBody>
      </p:sp>
      <p:sp>
        <p:nvSpPr>
          <p:cNvPr id="37" name="Text 35"/>
          <p:cNvSpPr/>
          <p:nvPr/>
        </p:nvSpPr>
        <p:spPr>
          <a:xfrm>
            <a:off x="3977640" y="3035808"/>
            <a:ext cx="1005840" cy="201168"/>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USD/MT</a:t>
            </a:r>
            <a:endParaRPr lang="en-US" sz="750" dirty="0"/>
          </a:p>
        </p:txBody>
      </p:sp>
      <p:sp>
        <p:nvSpPr>
          <p:cNvPr id="38" name="Text 36"/>
          <p:cNvSpPr/>
          <p:nvPr/>
        </p:nvSpPr>
        <p:spPr>
          <a:xfrm>
            <a:off x="5212080" y="2834640"/>
            <a:ext cx="1005840" cy="329184"/>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$865.07</a:t>
            </a:r>
            <a:endParaRPr lang="en-US" sz="1200" dirty="0"/>
          </a:p>
        </p:txBody>
      </p:sp>
      <p:sp>
        <p:nvSpPr>
          <p:cNvPr id="39" name="Text 37"/>
          <p:cNvSpPr/>
          <p:nvPr/>
        </p:nvSpPr>
        <p:spPr>
          <a:xfrm>
            <a:off x="6217920" y="2834640"/>
            <a:ext cx="1005840" cy="329184"/>
          </a:xfrm>
          <a:prstGeom prst="rect">
            <a:avLst/>
          </a:prstGeom>
          <a:noFill/>
          <a:ln/>
        </p:spPr>
        <p:txBody>
          <a:bodyPr wrap="square" lIns="0" tIns="0" rIns="0" bIns="0" rtlCol="0" anchor="ctr"/>
          <a:lstStyle/>
          <a:p>
            <a:pPr indent="0" marL="0">
              <a:buNone/>
            </a:pPr>
            <a:r>
              <a:rPr lang="en-US" sz="1000" b="1" dirty="0">
                <a:solidFill>
                  <a:srgbClr val="B91C1C"/>
                </a:solidFill>
                <a:latin typeface="Calibri" pitchFamily="34" charset="0"/>
                <a:ea typeface="Calibri" pitchFamily="34" charset="-122"/>
                <a:cs typeface="Calibri" pitchFamily="34" charset="-120"/>
              </a:rPr>
              <a:t>UP 7.9%</a:t>
            </a:r>
            <a:endParaRPr lang="en-US" sz="1000" dirty="0"/>
          </a:p>
        </p:txBody>
      </p:sp>
      <p:sp>
        <p:nvSpPr>
          <p:cNvPr id="40" name="Shape 38"/>
          <p:cNvSpPr/>
          <p:nvPr/>
        </p:nvSpPr>
        <p:spPr>
          <a:xfrm>
            <a:off x="7360920" y="2871216"/>
            <a:ext cx="914400" cy="237744"/>
          </a:xfrm>
          <a:prstGeom prst="rect">
            <a:avLst/>
          </a:prstGeom>
          <a:solidFill>
            <a:srgbClr val="1C2230"/>
          </a:solidFill>
          <a:ln w="9525">
            <a:solidFill>
              <a:srgbClr val="059669"/>
            </a:solidFill>
            <a:prstDash val="solid"/>
          </a:ln>
        </p:spPr>
      </p:sp>
      <p:sp>
        <p:nvSpPr>
          <p:cNvPr id="41" name="Text 39"/>
          <p:cNvSpPr/>
          <p:nvPr/>
        </p:nvSpPr>
        <p:spPr>
          <a:xfrm>
            <a:off x="7360920" y="2871216"/>
            <a:ext cx="914400" cy="237744"/>
          </a:xfrm>
          <a:prstGeom prst="rect">
            <a:avLst/>
          </a:prstGeom>
          <a:noFill/>
          <a:ln/>
        </p:spPr>
        <p:txBody>
          <a:bodyPr wrap="square" lIns="0" tIns="0" rIns="0" bIns="0" rtlCol="0" anchor="ctr"/>
          <a:lstStyle/>
          <a:p>
            <a:pPr algn="ctr" indent="0" marL="0">
              <a:buNone/>
            </a:pPr>
            <a:r>
              <a:rPr lang="en-US" sz="850" b="1" dirty="0">
                <a:solidFill>
                  <a:srgbClr val="059669"/>
                </a:solidFill>
                <a:latin typeface="Calibri" pitchFamily="34" charset="0"/>
                <a:ea typeface="Calibri" pitchFamily="34" charset="-122"/>
                <a:cs typeface="Calibri" pitchFamily="34" charset="-120"/>
              </a:rPr>
              <a:t>PRIMARY</a:t>
            </a:r>
            <a:endParaRPr lang="en-US" sz="850" dirty="0"/>
          </a:p>
        </p:txBody>
      </p:sp>
      <p:sp>
        <p:nvSpPr>
          <p:cNvPr id="42" name="Shape 40"/>
          <p:cNvSpPr/>
          <p:nvPr/>
        </p:nvSpPr>
        <p:spPr>
          <a:xfrm>
            <a:off x="457200" y="3383280"/>
            <a:ext cx="8229600" cy="621792"/>
          </a:xfrm>
          <a:prstGeom prst="rect">
            <a:avLst/>
          </a:prstGeom>
          <a:solidFill>
            <a:srgbClr val="0D1117"/>
          </a:solidFill>
          <a:ln w="6350">
            <a:solidFill>
              <a:srgbClr val="21262D"/>
            </a:solidFill>
            <a:prstDash val="solid"/>
          </a:ln>
        </p:spPr>
      </p:sp>
      <p:sp>
        <p:nvSpPr>
          <p:cNvPr id="43" name="Text 41"/>
          <p:cNvSpPr/>
          <p:nvPr/>
        </p:nvSpPr>
        <p:spPr>
          <a:xfrm>
            <a:off x="530352" y="3438144"/>
            <a:ext cx="1508760" cy="237744"/>
          </a:xfrm>
          <a:prstGeom prst="rect">
            <a:avLst/>
          </a:prstGeom>
          <a:noFill/>
          <a:ln/>
        </p:spPr>
        <p:txBody>
          <a:bodyPr wrap="square" lIns="0" tIns="0" rIns="0" bIns="0"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Acetic Acid</a:t>
            </a:r>
            <a:endParaRPr lang="en-US" sz="1050" dirty="0"/>
          </a:p>
        </p:txBody>
      </p:sp>
      <p:sp>
        <p:nvSpPr>
          <p:cNvPr id="44" name="Text 42"/>
          <p:cNvSpPr/>
          <p:nvPr/>
        </p:nvSpPr>
        <p:spPr>
          <a:xfrm>
            <a:off x="530352" y="3685032"/>
            <a:ext cx="150876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Feedstock for multiple pharmaceutical APIs</a:t>
            </a:r>
            <a:endParaRPr lang="en-US" sz="800" dirty="0"/>
          </a:p>
        </p:txBody>
      </p:sp>
      <p:sp>
        <p:nvSpPr>
          <p:cNvPr id="45" name="Text 43"/>
          <p:cNvSpPr/>
          <p:nvPr/>
        </p:nvSpPr>
        <p:spPr>
          <a:xfrm>
            <a:off x="2103120" y="3529584"/>
            <a:ext cx="173736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Chemanalyst/ICIS proxy</a:t>
            </a:r>
            <a:endParaRPr lang="en-US" sz="850" dirty="0"/>
          </a:p>
        </p:txBody>
      </p:sp>
      <p:sp>
        <p:nvSpPr>
          <p:cNvPr id="46" name="Text 44"/>
          <p:cNvSpPr/>
          <p:nvPr/>
        </p:nvSpPr>
        <p:spPr>
          <a:xfrm>
            <a:off x="3977640" y="3529584"/>
            <a:ext cx="1005840" cy="329184"/>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$680.00</a:t>
            </a:r>
            <a:endParaRPr lang="en-US" sz="1200" dirty="0"/>
          </a:p>
        </p:txBody>
      </p:sp>
      <p:sp>
        <p:nvSpPr>
          <p:cNvPr id="47" name="Text 45"/>
          <p:cNvSpPr/>
          <p:nvPr/>
        </p:nvSpPr>
        <p:spPr>
          <a:xfrm>
            <a:off x="3977640" y="3730752"/>
            <a:ext cx="1005840" cy="201168"/>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USD/MT</a:t>
            </a:r>
            <a:endParaRPr lang="en-US" sz="750" dirty="0"/>
          </a:p>
        </p:txBody>
      </p:sp>
      <p:sp>
        <p:nvSpPr>
          <p:cNvPr id="48" name="Text 46"/>
          <p:cNvSpPr/>
          <p:nvPr/>
        </p:nvSpPr>
        <p:spPr>
          <a:xfrm>
            <a:off x="5212080" y="3529584"/>
            <a:ext cx="1005840" cy="329184"/>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$687.35</a:t>
            </a:r>
            <a:endParaRPr lang="en-US" sz="1200" dirty="0"/>
          </a:p>
        </p:txBody>
      </p:sp>
      <p:sp>
        <p:nvSpPr>
          <p:cNvPr id="49" name="Text 47"/>
          <p:cNvSpPr/>
          <p:nvPr/>
        </p:nvSpPr>
        <p:spPr>
          <a:xfrm>
            <a:off x="6217920" y="3529584"/>
            <a:ext cx="1005840" cy="329184"/>
          </a:xfrm>
          <a:prstGeom prst="rect">
            <a:avLst/>
          </a:prstGeom>
          <a:noFill/>
          <a:ln/>
        </p:spPr>
        <p:txBody>
          <a:bodyPr wrap="square" lIns="0" tIns="0" rIns="0" bIns="0" rtlCol="0" anchor="ctr"/>
          <a:lstStyle/>
          <a:p>
            <a:pPr indent="0" marL="0">
              <a:buNone/>
            </a:pPr>
            <a:r>
              <a:rPr lang="en-US" sz="1000" b="1" dirty="0">
                <a:solidFill>
                  <a:srgbClr val="14B8A6"/>
                </a:solidFill>
                <a:latin typeface="Calibri" pitchFamily="34" charset="0"/>
                <a:ea typeface="Calibri" pitchFamily="34" charset="-122"/>
                <a:cs typeface="Calibri" pitchFamily="34" charset="-120"/>
              </a:rPr>
              <a:t>STABLE</a:t>
            </a:r>
            <a:endParaRPr lang="en-US" sz="1000" dirty="0"/>
          </a:p>
        </p:txBody>
      </p:sp>
      <p:sp>
        <p:nvSpPr>
          <p:cNvPr id="50" name="Shape 48"/>
          <p:cNvSpPr/>
          <p:nvPr/>
        </p:nvSpPr>
        <p:spPr>
          <a:xfrm>
            <a:off x="7360920" y="3566160"/>
            <a:ext cx="914400" cy="237744"/>
          </a:xfrm>
          <a:prstGeom prst="rect">
            <a:avLst/>
          </a:prstGeom>
          <a:solidFill>
            <a:srgbClr val="1C2230"/>
          </a:solidFill>
          <a:ln w="9525">
            <a:solidFill>
              <a:srgbClr val="C2410C"/>
            </a:solidFill>
            <a:prstDash val="solid"/>
          </a:ln>
        </p:spPr>
      </p:sp>
      <p:sp>
        <p:nvSpPr>
          <p:cNvPr id="51" name="Text 49"/>
          <p:cNvSpPr/>
          <p:nvPr/>
        </p:nvSpPr>
        <p:spPr>
          <a:xfrm>
            <a:off x="7360920" y="3566160"/>
            <a:ext cx="914400" cy="237744"/>
          </a:xfrm>
          <a:prstGeom prst="rect">
            <a:avLst/>
          </a:prstGeom>
          <a:noFill/>
          <a:ln/>
        </p:spPr>
        <p:txBody>
          <a:bodyPr wrap="square" lIns="0" tIns="0" rIns="0" bIns="0" rtlCol="0" anchor="ctr"/>
          <a:lstStyle/>
          <a:p>
            <a:pPr algn="ctr" indent="0" marL="0">
              <a:buNone/>
            </a:pPr>
            <a:r>
              <a:rPr lang="en-US" sz="850" b="1" dirty="0">
                <a:solidFill>
                  <a:srgbClr val="C2410C"/>
                </a:solidFill>
                <a:latin typeface="Calibri" pitchFamily="34" charset="0"/>
                <a:ea typeface="Calibri" pitchFamily="34" charset="-122"/>
                <a:cs typeface="Calibri" pitchFamily="34" charset="-120"/>
              </a:rPr>
              <a:t>PROXY</a:t>
            </a:r>
            <a:endParaRPr lang="en-US" sz="850" dirty="0"/>
          </a:p>
        </p:txBody>
      </p:sp>
      <p:sp>
        <p:nvSpPr>
          <p:cNvPr id="52" name="Shape 50"/>
          <p:cNvSpPr/>
          <p:nvPr/>
        </p:nvSpPr>
        <p:spPr>
          <a:xfrm>
            <a:off x="457200" y="4078224"/>
            <a:ext cx="8229600" cy="621792"/>
          </a:xfrm>
          <a:prstGeom prst="rect">
            <a:avLst/>
          </a:prstGeom>
          <a:solidFill>
            <a:srgbClr val="161B22"/>
          </a:solidFill>
          <a:ln w="6350">
            <a:solidFill>
              <a:srgbClr val="21262D"/>
            </a:solidFill>
            <a:prstDash val="solid"/>
          </a:ln>
        </p:spPr>
      </p:sp>
      <p:sp>
        <p:nvSpPr>
          <p:cNvPr id="53" name="Text 51"/>
          <p:cNvSpPr/>
          <p:nvPr/>
        </p:nvSpPr>
        <p:spPr>
          <a:xfrm>
            <a:off x="530352" y="4133088"/>
            <a:ext cx="1508760" cy="237744"/>
          </a:xfrm>
          <a:prstGeom prst="rect">
            <a:avLst/>
          </a:prstGeom>
          <a:noFill/>
          <a:ln/>
        </p:spPr>
        <p:txBody>
          <a:bodyPr wrap="square" lIns="0" tIns="0" rIns="0" bIns="0" rtlCol="0" anchor="ctr"/>
          <a:lstStyle/>
          <a:p>
            <a:pPr indent="0" marL="0">
              <a:buNone/>
            </a:pPr>
            <a:r>
              <a:rPr lang="en-US" sz="1050" b="1" dirty="0">
                <a:solidFill>
                  <a:srgbClr val="F8FAFC"/>
                </a:solidFill>
                <a:latin typeface="Calibri" pitchFamily="34" charset="0"/>
                <a:ea typeface="Calibri" pitchFamily="34" charset="-122"/>
                <a:cs typeface="Calibri" pitchFamily="34" charset="-120"/>
              </a:rPr>
              <a:t>Polysilicon</a:t>
            </a:r>
            <a:endParaRPr lang="en-US" sz="1050" dirty="0"/>
          </a:p>
        </p:txBody>
      </p:sp>
      <p:sp>
        <p:nvSpPr>
          <p:cNvPr id="54" name="Text 52"/>
          <p:cNvSpPr/>
          <p:nvPr/>
        </p:nvSpPr>
        <p:spPr>
          <a:xfrm>
            <a:off x="530352" y="4379976"/>
            <a:ext cx="1508760" cy="256032"/>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Solar glass cross-industry signal</a:t>
            </a:r>
            <a:endParaRPr lang="en-US" sz="800" dirty="0"/>
          </a:p>
        </p:txBody>
      </p:sp>
      <p:sp>
        <p:nvSpPr>
          <p:cNvPr id="55" name="Text 53"/>
          <p:cNvSpPr/>
          <p:nvPr/>
        </p:nvSpPr>
        <p:spPr>
          <a:xfrm>
            <a:off x="2103120" y="4224528"/>
            <a:ext cx="173736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PVInsights/Bloomberg proxy</a:t>
            </a:r>
            <a:endParaRPr lang="en-US" sz="850" dirty="0"/>
          </a:p>
        </p:txBody>
      </p:sp>
      <p:sp>
        <p:nvSpPr>
          <p:cNvPr id="56" name="Text 54"/>
          <p:cNvSpPr/>
          <p:nvPr/>
        </p:nvSpPr>
        <p:spPr>
          <a:xfrm>
            <a:off x="3977640" y="4224528"/>
            <a:ext cx="1005840" cy="329184"/>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$9.00</a:t>
            </a:r>
            <a:endParaRPr lang="en-US" sz="1200" dirty="0"/>
          </a:p>
        </p:txBody>
      </p:sp>
      <p:sp>
        <p:nvSpPr>
          <p:cNvPr id="57" name="Text 55"/>
          <p:cNvSpPr/>
          <p:nvPr/>
        </p:nvSpPr>
        <p:spPr>
          <a:xfrm>
            <a:off x="3977640" y="4425696"/>
            <a:ext cx="1005840" cy="201168"/>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USD/KG</a:t>
            </a:r>
            <a:endParaRPr lang="en-US" sz="750" dirty="0"/>
          </a:p>
        </p:txBody>
      </p:sp>
      <p:sp>
        <p:nvSpPr>
          <p:cNvPr id="58" name="Text 56"/>
          <p:cNvSpPr/>
          <p:nvPr/>
        </p:nvSpPr>
        <p:spPr>
          <a:xfrm>
            <a:off x="5212080" y="4224528"/>
            <a:ext cx="1005840" cy="329184"/>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$3.64</a:t>
            </a:r>
            <a:endParaRPr lang="en-US" sz="1200" dirty="0"/>
          </a:p>
        </p:txBody>
      </p:sp>
      <p:sp>
        <p:nvSpPr>
          <p:cNvPr id="59" name="Text 57"/>
          <p:cNvSpPr/>
          <p:nvPr/>
        </p:nvSpPr>
        <p:spPr>
          <a:xfrm>
            <a:off x="6217920" y="4224528"/>
            <a:ext cx="1005840" cy="329184"/>
          </a:xfrm>
          <a:prstGeom prst="rect">
            <a:avLst/>
          </a:prstGeom>
          <a:noFill/>
          <a:ln/>
        </p:spPr>
        <p:txBody>
          <a:bodyPr wrap="square" lIns="0" tIns="0" rIns="0" bIns="0" rtlCol="0" anchor="ctr"/>
          <a:lstStyle/>
          <a:p>
            <a:pPr indent="0" marL="0">
              <a:buNone/>
            </a:pPr>
            <a:r>
              <a:rPr lang="en-US" sz="1000" b="1" dirty="0">
                <a:solidFill>
                  <a:srgbClr val="059669"/>
                </a:solidFill>
                <a:latin typeface="Calibri" pitchFamily="34" charset="0"/>
                <a:ea typeface="Calibri" pitchFamily="34" charset="-122"/>
                <a:cs typeface="Calibri" pitchFamily="34" charset="-120"/>
              </a:rPr>
              <a:t>DOWN 59.6%</a:t>
            </a:r>
            <a:endParaRPr lang="en-US" sz="1000" dirty="0"/>
          </a:p>
        </p:txBody>
      </p:sp>
      <p:sp>
        <p:nvSpPr>
          <p:cNvPr id="60" name="Shape 58"/>
          <p:cNvSpPr/>
          <p:nvPr/>
        </p:nvSpPr>
        <p:spPr>
          <a:xfrm>
            <a:off x="7360920" y="4261104"/>
            <a:ext cx="914400" cy="237744"/>
          </a:xfrm>
          <a:prstGeom prst="rect">
            <a:avLst/>
          </a:prstGeom>
          <a:solidFill>
            <a:srgbClr val="1C2230"/>
          </a:solidFill>
          <a:ln w="9525">
            <a:solidFill>
              <a:srgbClr val="C2410C"/>
            </a:solidFill>
            <a:prstDash val="solid"/>
          </a:ln>
        </p:spPr>
      </p:sp>
      <p:sp>
        <p:nvSpPr>
          <p:cNvPr id="61" name="Text 59"/>
          <p:cNvSpPr/>
          <p:nvPr/>
        </p:nvSpPr>
        <p:spPr>
          <a:xfrm>
            <a:off x="7360920" y="4261104"/>
            <a:ext cx="914400" cy="237744"/>
          </a:xfrm>
          <a:prstGeom prst="rect">
            <a:avLst/>
          </a:prstGeom>
          <a:noFill/>
          <a:ln/>
        </p:spPr>
        <p:txBody>
          <a:bodyPr wrap="square" lIns="0" tIns="0" rIns="0" bIns="0" rtlCol="0" anchor="ctr"/>
          <a:lstStyle/>
          <a:p>
            <a:pPr algn="ctr" indent="0" marL="0">
              <a:buNone/>
            </a:pPr>
            <a:r>
              <a:rPr lang="en-US" sz="850" b="1" dirty="0">
                <a:solidFill>
                  <a:srgbClr val="C2410C"/>
                </a:solidFill>
                <a:latin typeface="Calibri" pitchFamily="34" charset="0"/>
                <a:ea typeface="Calibri" pitchFamily="34" charset="-122"/>
                <a:cs typeface="Calibri" pitchFamily="34" charset="-120"/>
              </a:rPr>
              <a:t>PROXY</a:t>
            </a:r>
            <a:endParaRPr lang="en-US" sz="850" dirty="0"/>
          </a:p>
        </p:txBody>
      </p:sp>
      <p:sp>
        <p:nvSpPr>
          <p:cNvPr id="62" name="Text 60"/>
          <p:cNvSpPr/>
          <p:nvPr/>
        </p:nvSpPr>
        <p:spPr>
          <a:xfrm>
            <a:off x="457200" y="4809744"/>
            <a:ext cx="8229600" cy="256032"/>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PROXY datasets are reconstructed public-market proxies. Validate against primary sources (ICIS, S&amp;P Global) before procurement decisions.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CIIP RISK SCORECARD</a:t>
            </a:r>
            <a:endParaRPr lang="en-US" sz="900" dirty="0"/>
          </a:p>
        </p:txBody>
      </p:sp>
      <p:sp>
        <p:nvSpPr>
          <p:cNvPr id="3" name="Text 1"/>
          <p:cNvSpPr/>
          <p:nvPr/>
        </p:nvSpPr>
        <p:spPr>
          <a:xfrm>
            <a:off x="457200" y="457200"/>
            <a:ext cx="7772400" cy="50292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Base vs Analytically Weighted Risk Assessment — All Five Materials</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graphicFrame>
        <p:nvGraphicFramePr>
          <p:cNvPr id="5" name="Chart 0" descr=""/>
          <p:cNvGraphicFramePr/>
          <p:nvPr/>
        </p:nvGraphicFramePr>
        <p:xfrm>
          <a:off x="457200" y="100584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89320" y="1005840"/>
            <a:ext cx="2697480" cy="384048"/>
          </a:xfrm>
          <a:prstGeom prst="rect">
            <a:avLst/>
          </a:prstGeom>
          <a:solidFill>
            <a:srgbClr val="1C2230"/>
          </a:solidFill>
          <a:ln w="9525">
            <a:solidFill>
              <a:srgbClr val="21262D"/>
            </a:solidFill>
            <a:prstDash val="solid"/>
          </a:ln>
        </p:spPr>
      </p:sp>
      <p:sp>
        <p:nvSpPr>
          <p:cNvPr id="7" name="Text 4"/>
          <p:cNvSpPr/>
          <p:nvPr/>
        </p:nvSpPr>
        <p:spPr>
          <a:xfrm>
            <a:off x="6035040" y="1097280"/>
            <a:ext cx="640080" cy="228600"/>
          </a:xfrm>
          <a:prstGeom prst="rect">
            <a:avLst/>
          </a:prstGeom>
          <a:noFill/>
          <a:ln/>
        </p:spPr>
        <p:txBody>
          <a:bodyPr wrap="square" lIns="0" tIns="0" rIns="0" bIns="0" rtlCol="0" anchor="ctr"/>
          <a:lstStyle/>
          <a:p>
            <a:pPr indent="0" marL="0">
              <a:buNone/>
            </a:pPr>
            <a:r>
              <a:rPr lang="en-US" sz="750" b="1" spc="50" kern="0" dirty="0">
                <a:solidFill>
                  <a:srgbClr val="64748B"/>
                </a:solidFill>
                <a:latin typeface="Calibri" pitchFamily="34" charset="0"/>
                <a:ea typeface="Calibri" pitchFamily="34" charset="-122"/>
                <a:cs typeface="Calibri" pitchFamily="34" charset="-120"/>
              </a:rPr>
              <a:t>Material</a:t>
            </a:r>
            <a:endParaRPr lang="en-US" sz="750" dirty="0"/>
          </a:p>
        </p:txBody>
      </p:sp>
      <p:sp>
        <p:nvSpPr>
          <p:cNvPr id="8" name="Text 5"/>
          <p:cNvSpPr/>
          <p:nvPr/>
        </p:nvSpPr>
        <p:spPr>
          <a:xfrm>
            <a:off x="7040880" y="1097280"/>
            <a:ext cx="640080" cy="228600"/>
          </a:xfrm>
          <a:prstGeom prst="rect">
            <a:avLst/>
          </a:prstGeom>
          <a:noFill/>
          <a:ln/>
        </p:spPr>
        <p:txBody>
          <a:bodyPr wrap="square" lIns="0" tIns="0" rIns="0" bIns="0" rtlCol="0" anchor="ctr"/>
          <a:lstStyle/>
          <a:p>
            <a:pPr indent="0" marL="0">
              <a:buNone/>
            </a:pPr>
            <a:r>
              <a:rPr lang="en-US" sz="750" b="1" spc="50" kern="0" dirty="0">
                <a:solidFill>
                  <a:srgbClr val="64748B"/>
                </a:solidFill>
                <a:latin typeface="Calibri" pitchFamily="34" charset="0"/>
                <a:ea typeface="Calibri" pitchFamily="34" charset="-122"/>
                <a:cs typeface="Calibri" pitchFamily="34" charset="-120"/>
              </a:rPr>
              <a:t>Score</a:t>
            </a:r>
            <a:endParaRPr lang="en-US" sz="750" dirty="0"/>
          </a:p>
        </p:txBody>
      </p:sp>
      <p:sp>
        <p:nvSpPr>
          <p:cNvPr id="9" name="Text 6"/>
          <p:cNvSpPr/>
          <p:nvPr/>
        </p:nvSpPr>
        <p:spPr>
          <a:xfrm>
            <a:off x="7589520" y="1097280"/>
            <a:ext cx="640080" cy="228600"/>
          </a:xfrm>
          <a:prstGeom prst="rect">
            <a:avLst/>
          </a:prstGeom>
          <a:noFill/>
          <a:ln/>
        </p:spPr>
        <p:txBody>
          <a:bodyPr wrap="square" lIns="0" tIns="0" rIns="0" bIns="0" rtlCol="0" anchor="ctr"/>
          <a:lstStyle/>
          <a:p>
            <a:pPr indent="0" marL="0">
              <a:buNone/>
            </a:pPr>
            <a:r>
              <a:rPr lang="en-US" sz="750" b="1" spc="50" kern="0" dirty="0">
                <a:solidFill>
                  <a:srgbClr val="64748B"/>
                </a:solidFill>
                <a:latin typeface="Calibri" pitchFamily="34" charset="0"/>
                <a:ea typeface="Calibri" pitchFamily="34" charset="-122"/>
                <a:cs typeface="Calibri" pitchFamily="34" charset="-120"/>
              </a:rPr>
              <a:t>Risk</a:t>
            </a:r>
            <a:endParaRPr lang="en-US" sz="750" dirty="0"/>
          </a:p>
        </p:txBody>
      </p:sp>
      <p:sp>
        <p:nvSpPr>
          <p:cNvPr id="10" name="Text 7"/>
          <p:cNvSpPr/>
          <p:nvPr/>
        </p:nvSpPr>
        <p:spPr>
          <a:xfrm>
            <a:off x="8092440" y="1097280"/>
            <a:ext cx="640080" cy="228600"/>
          </a:xfrm>
          <a:prstGeom prst="rect">
            <a:avLst/>
          </a:prstGeom>
          <a:noFill/>
          <a:ln/>
        </p:spPr>
        <p:txBody>
          <a:bodyPr wrap="square" lIns="0" tIns="0" rIns="0" bIns="0" rtlCol="0" anchor="ctr"/>
          <a:lstStyle/>
          <a:p>
            <a:pPr indent="0" marL="0">
              <a:buNone/>
            </a:pPr>
            <a:r>
              <a:rPr lang="en-US" sz="750" b="1" spc="50" kern="0" dirty="0">
                <a:solidFill>
                  <a:srgbClr val="64748B"/>
                </a:solidFill>
                <a:latin typeface="Calibri" pitchFamily="34" charset="0"/>
                <a:ea typeface="Calibri" pitchFamily="34" charset="-122"/>
                <a:cs typeface="Calibri" pitchFamily="34" charset="-120"/>
              </a:rPr>
              <a:t>Confidence</a:t>
            </a:r>
            <a:endParaRPr lang="en-US" sz="750" dirty="0"/>
          </a:p>
        </p:txBody>
      </p:sp>
      <p:sp>
        <p:nvSpPr>
          <p:cNvPr id="11" name="Shape 8"/>
          <p:cNvSpPr/>
          <p:nvPr/>
        </p:nvSpPr>
        <p:spPr>
          <a:xfrm>
            <a:off x="5989320" y="1444752"/>
            <a:ext cx="2697480" cy="566928"/>
          </a:xfrm>
          <a:prstGeom prst="rect">
            <a:avLst/>
          </a:prstGeom>
          <a:solidFill>
            <a:srgbClr val="161B22"/>
          </a:solidFill>
          <a:ln w="6350">
            <a:solidFill>
              <a:srgbClr val="21262D"/>
            </a:solidFill>
            <a:prstDash val="solid"/>
          </a:ln>
        </p:spPr>
      </p:sp>
      <p:sp>
        <p:nvSpPr>
          <p:cNvPr id="12" name="Shape 9"/>
          <p:cNvSpPr/>
          <p:nvPr/>
        </p:nvSpPr>
        <p:spPr>
          <a:xfrm>
            <a:off x="5989320" y="1444752"/>
            <a:ext cx="45720" cy="566928"/>
          </a:xfrm>
          <a:prstGeom prst="rect">
            <a:avLst/>
          </a:prstGeom>
          <a:solidFill>
            <a:srgbClr val="B91C1C"/>
          </a:solidFill>
          <a:ln w="12700">
            <a:solidFill>
              <a:srgbClr val="B91C1C"/>
            </a:solidFill>
            <a:prstDash val="solid"/>
          </a:ln>
        </p:spPr>
      </p:sp>
      <p:sp>
        <p:nvSpPr>
          <p:cNvPr id="13" name="Text 10"/>
          <p:cNvSpPr/>
          <p:nvPr/>
        </p:nvSpPr>
        <p:spPr>
          <a:xfrm>
            <a:off x="6144768" y="1499616"/>
            <a:ext cx="1005840" cy="219456"/>
          </a:xfrm>
          <a:prstGeom prst="rect">
            <a:avLst/>
          </a:prstGeom>
          <a:noFill/>
          <a:ln/>
        </p:spPr>
        <p:txBody>
          <a:bodyPr wrap="square" lIns="0" tIns="0" rIns="0" bIns="0"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LNG Japan</a:t>
            </a:r>
            <a:endParaRPr lang="en-US" sz="900" dirty="0"/>
          </a:p>
        </p:txBody>
      </p:sp>
      <p:sp>
        <p:nvSpPr>
          <p:cNvPr id="14" name="Text 11"/>
          <p:cNvSpPr/>
          <p:nvPr/>
        </p:nvSpPr>
        <p:spPr>
          <a:xfrm>
            <a:off x="6144768" y="1737360"/>
            <a:ext cx="914400" cy="201168"/>
          </a:xfrm>
          <a:prstGeom prst="rect">
            <a:avLst/>
          </a:prstGeom>
          <a:noFill/>
          <a:ln/>
        </p:spPr>
        <p:txBody>
          <a:bodyPr wrap="square" lIns="0" tIns="0" rIns="0" bIns="0" rtlCol="0" anchor="ctr"/>
          <a:lstStyle/>
          <a:p>
            <a:pPr indent="0" marL="0">
              <a:buNone/>
            </a:pPr>
            <a:r>
              <a:rPr lang="en-US" sz="750" dirty="0">
                <a:solidFill>
                  <a:srgbClr val="F59E0B"/>
                </a:solidFill>
                <a:latin typeface="Consolas" pitchFamily="34" charset="0"/>
                <a:ea typeface="Consolas" pitchFamily="34" charset="-122"/>
                <a:cs typeface="Consolas" pitchFamily="34" charset="-120"/>
              </a:rPr>
              <a:t>9.50 → 9.80</a:t>
            </a:r>
            <a:endParaRPr lang="en-US" sz="750" dirty="0"/>
          </a:p>
        </p:txBody>
      </p:sp>
      <p:sp>
        <p:nvSpPr>
          <p:cNvPr id="15" name="Shape 12"/>
          <p:cNvSpPr/>
          <p:nvPr/>
        </p:nvSpPr>
        <p:spPr>
          <a:xfrm>
            <a:off x="7132320" y="1572768"/>
            <a:ext cx="530352" cy="219456"/>
          </a:xfrm>
          <a:prstGeom prst="rect">
            <a:avLst/>
          </a:prstGeom>
          <a:solidFill>
            <a:srgbClr val="161B22"/>
          </a:solidFill>
          <a:ln w="6350">
            <a:solidFill>
              <a:srgbClr val="B91C1C"/>
            </a:solidFill>
            <a:prstDash val="solid"/>
          </a:ln>
        </p:spPr>
      </p:sp>
      <p:sp>
        <p:nvSpPr>
          <p:cNvPr id="16" name="Text 13"/>
          <p:cNvSpPr/>
          <p:nvPr/>
        </p:nvSpPr>
        <p:spPr>
          <a:xfrm>
            <a:off x="7132320" y="1572768"/>
            <a:ext cx="530352" cy="219456"/>
          </a:xfrm>
          <a:prstGeom prst="rect">
            <a:avLst/>
          </a:prstGeom>
          <a:noFill/>
          <a:ln/>
        </p:spPr>
        <p:txBody>
          <a:bodyPr wrap="square" lIns="0" tIns="0" rIns="0" bIns="0" rtlCol="0" anchor="ctr"/>
          <a:lstStyle/>
          <a:p>
            <a:pPr algn="ctr" indent="0" marL="0">
              <a:buNone/>
            </a:pPr>
            <a:r>
              <a:rPr lang="en-US" sz="700" b="1" dirty="0">
                <a:solidFill>
                  <a:srgbClr val="B91C1C"/>
                </a:solidFill>
                <a:latin typeface="Calibri" pitchFamily="34" charset="0"/>
                <a:ea typeface="Calibri" pitchFamily="34" charset="-122"/>
                <a:cs typeface="Calibri" pitchFamily="34" charset="-120"/>
              </a:rPr>
              <a:t>CRITICAL</a:t>
            </a:r>
            <a:endParaRPr lang="en-US" sz="700" dirty="0"/>
          </a:p>
        </p:txBody>
      </p:sp>
      <p:sp>
        <p:nvSpPr>
          <p:cNvPr id="17" name="Shape 14"/>
          <p:cNvSpPr/>
          <p:nvPr/>
        </p:nvSpPr>
        <p:spPr>
          <a:xfrm>
            <a:off x="7726680" y="1572768"/>
            <a:ext cx="777240" cy="219456"/>
          </a:xfrm>
          <a:prstGeom prst="rect">
            <a:avLst/>
          </a:prstGeom>
          <a:solidFill>
            <a:srgbClr val="1C2230"/>
          </a:solidFill>
          <a:ln w="6350">
            <a:solidFill>
              <a:srgbClr val="059669"/>
            </a:solidFill>
            <a:prstDash val="solid"/>
          </a:ln>
        </p:spPr>
      </p:sp>
      <p:sp>
        <p:nvSpPr>
          <p:cNvPr id="18" name="Text 15"/>
          <p:cNvSpPr/>
          <p:nvPr/>
        </p:nvSpPr>
        <p:spPr>
          <a:xfrm>
            <a:off x="7726680" y="1572768"/>
            <a:ext cx="777240" cy="219456"/>
          </a:xfrm>
          <a:prstGeom prst="rect">
            <a:avLst/>
          </a:prstGeom>
          <a:noFill/>
          <a:ln/>
        </p:spPr>
        <p:txBody>
          <a:bodyPr wrap="square" lIns="0" tIns="0" rIns="0" bIns="0" rtlCol="0" anchor="ctr"/>
          <a:lstStyle/>
          <a:p>
            <a:pPr algn="ctr" indent="0" marL="0">
              <a:buNone/>
            </a:pPr>
            <a:r>
              <a:rPr lang="en-US" sz="700" b="1" dirty="0">
                <a:solidFill>
                  <a:srgbClr val="059669"/>
                </a:solidFill>
                <a:latin typeface="Calibri" pitchFamily="34" charset="0"/>
                <a:ea typeface="Calibri" pitchFamily="34" charset="-122"/>
                <a:cs typeface="Calibri" pitchFamily="34" charset="-120"/>
              </a:rPr>
              <a:t>HIGH</a:t>
            </a:r>
            <a:endParaRPr lang="en-US" sz="700" dirty="0"/>
          </a:p>
        </p:txBody>
      </p:sp>
      <p:sp>
        <p:nvSpPr>
          <p:cNvPr id="19" name="Shape 16"/>
          <p:cNvSpPr/>
          <p:nvPr/>
        </p:nvSpPr>
        <p:spPr>
          <a:xfrm>
            <a:off x="5989320" y="2084832"/>
            <a:ext cx="2697480" cy="566928"/>
          </a:xfrm>
          <a:prstGeom prst="rect">
            <a:avLst/>
          </a:prstGeom>
          <a:solidFill>
            <a:srgbClr val="0D1117"/>
          </a:solidFill>
          <a:ln w="6350">
            <a:solidFill>
              <a:srgbClr val="21262D"/>
            </a:solidFill>
            <a:prstDash val="solid"/>
          </a:ln>
        </p:spPr>
      </p:sp>
      <p:sp>
        <p:nvSpPr>
          <p:cNvPr id="20" name="Shape 17"/>
          <p:cNvSpPr/>
          <p:nvPr/>
        </p:nvSpPr>
        <p:spPr>
          <a:xfrm>
            <a:off x="5989320" y="2084832"/>
            <a:ext cx="45720" cy="566928"/>
          </a:xfrm>
          <a:prstGeom prst="rect">
            <a:avLst/>
          </a:prstGeom>
          <a:solidFill>
            <a:srgbClr val="B91C1C"/>
          </a:solidFill>
          <a:ln w="12700">
            <a:solidFill>
              <a:srgbClr val="B91C1C"/>
            </a:solidFill>
            <a:prstDash val="solid"/>
          </a:ln>
        </p:spPr>
      </p:sp>
      <p:sp>
        <p:nvSpPr>
          <p:cNvPr id="21" name="Text 18"/>
          <p:cNvSpPr/>
          <p:nvPr/>
        </p:nvSpPr>
        <p:spPr>
          <a:xfrm>
            <a:off x="6144768" y="2139696"/>
            <a:ext cx="1005840" cy="219456"/>
          </a:xfrm>
          <a:prstGeom prst="rect">
            <a:avLst/>
          </a:prstGeom>
          <a:noFill/>
          <a:ln/>
        </p:spPr>
        <p:txBody>
          <a:bodyPr wrap="square" lIns="0" tIns="0" rIns="0" bIns="0"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Soda Ash</a:t>
            </a:r>
            <a:endParaRPr lang="en-US" sz="900" dirty="0"/>
          </a:p>
        </p:txBody>
      </p:sp>
      <p:sp>
        <p:nvSpPr>
          <p:cNvPr id="22" name="Text 19"/>
          <p:cNvSpPr/>
          <p:nvPr/>
        </p:nvSpPr>
        <p:spPr>
          <a:xfrm>
            <a:off x="6144768" y="2377440"/>
            <a:ext cx="914400" cy="201168"/>
          </a:xfrm>
          <a:prstGeom prst="rect">
            <a:avLst/>
          </a:prstGeom>
          <a:noFill/>
          <a:ln/>
        </p:spPr>
        <p:txBody>
          <a:bodyPr wrap="square" lIns="0" tIns="0" rIns="0" bIns="0" rtlCol="0" anchor="ctr"/>
          <a:lstStyle/>
          <a:p>
            <a:pPr indent="0" marL="0">
              <a:buNone/>
            </a:pPr>
            <a:r>
              <a:rPr lang="en-US" sz="750" dirty="0">
                <a:solidFill>
                  <a:srgbClr val="F59E0B"/>
                </a:solidFill>
                <a:latin typeface="Consolas" pitchFamily="34" charset="0"/>
                <a:ea typeface="Consolas" pitchFamily="34" charset="-122"/>
                <a:cs typeface="Consolas" pitchFamily="34" charset="-120"/>
              </a:rPr>
              <a:t>8.67 → 8.80</a:t>
            </a:r>
            <a:endParaRPr lang="en-US" sz="750" dirty="0"/>
          </a:p>
        </p:txBody>
      </p:sp>
      <p:sp>
        <p:nvSpPr>
          <p:cNvPr id="23" name="Shape 20"/>
          <p:cNvSpPr/>
          <p:nvPr/>
        </p:nvSpPr>
        <p:spPr>
          <a:xfrm>
            <a:off x="7132320" y="2212848"/>
            <a:ext cx="530352" cy="219456"/>
          </a:xfrm>
          <a:prstGeom prst="rect">
            <a:avLst/>
          </a:prstGeom>
          <a:solidFill>
            <a:srgbClr val="161B22"/>
          </a:solidFill>
          <a:ln w="6350">
            <a:solidFill>
              <a:srgbClr val="B91C1C"/>
            </a:solidFill>
            <a:prstDash val="solid"/>
          </a:ln>
        </p:spPr>
      </p:sp>
      <p:sp>
        <p:nvSpPr>
          <p:cNvPr id="24" name="Text 21"/>
          <p:cNvSpPr/>
          <p:nvPr/>
        </p:nvSpPr>
        <p:spPr>
          <a:xfrm>
            <a:off x="7132320" y="2212848"/>
            <a:ext cx="530352" cy="219456"/>
          </a:xfrm>
          <a:prstGeom prst="rect">
            <a:avLst/>
          </a:prstGeom>
          <a:noFill/>
          <a:ln/>
        </p:spPr>
        <p:txBody>
          <a:bodyPr wrap="square" lIns="0" tIns="0" rIns="0" bIns="0" rtlCol="0" anchor="ctr"/>
          <a:lstStyle/>
          <a:p>
            <a:pPr algn="ctr" indent="0" marL="0">
              <a:buNone/>
            </a:pPr>
            <a:r>
              <a:rPr lang="en-US" sz="700" b="1" dirty="0">
                <a:solidFill>
                  <a:srgbClr val="B91C1C"/>
                </a:solidFill>
                <a:latin typeface="Calibri" pitchFamily="34" charset="0"/>
                <a:ea typeface="Calibri" pitchFamily="34" charset="-122"/>
                <a:cs typeface="Calibri" pitchFamily="34" charset="-120"/>
              </a:rPr>
              <a:t>CRITICAL</a:t>
            </a:r>
            <a:endParaRPr lang="en-US" sz="700" dirty="0"/>
          </a:p>
        </p:txBody>
      </p:sp>
      <p:sp>
        <p:nvSpPr>
          <p:cNvPr id="25" name="Shape 22"/>
          <p:cNvSpPr/>
          <p:nvPr/>
        </p:nvSpPr>
        <p:spPr>
          <a:xfrm>
            <a:off x="7726680" y="2212848"/>
            <a:ext cx="777240" cy="219456"/>
          </a:xfrm>
          <a:prstGeom prst="rect">
            <a:avLst/>
          </a:prstGeom>
          <a:solidFill>
            <a:srgbClr val="1C2230"/>
          </a:solidFill>
          <a:ln w="6350">
            <a:solidFill>
              <a:srgbClr val="F59E0B"/>
            </a:solidFill>
            <a:prstDash val="solid"/>
          </a:ln>
        </p:spPr>
      </p:sp>
      <p:sp>
        <p:nvSpPr>
          <p:cNvPr id="26" name="Text 23"/>
          <p:cNvSpPr/>
          <p:nvPr/>
        </p:nvSpPr>
        <p:spPr>
          <a:xfrm>
            <a:off x="7726680" y="2212848"/>
            <a:ext cx="777240" cy="219456"/>
          </a:xfrm>
          <a:prstGeom prst="rect">
            <a:avLst/>
          </a:prstGeom>
          <a:noFill/>
          <a:ln/>
        </p:spPr>
        <p:txBody>
          <a:bodyPr wrap="square" lIns="0" tIns="0" rIns="0" bIns="0" rtlCol="0" anchor="ctr"/>
          <a:lstStyle/>
          <a:p>
            <a:pPr algn="ctr" indent="0" marL="0">
              <a:buNone/>
            </a:pPr>
            <a:r>
              <a:rPr lang="en-US" sz="700" b="1" dirty="0">
                <a:solidFill>
                  <a:srgbClr val="F59E0B"/>
                </a:solidFill>
                <a:latin typeface="Calibri" pitchFamily="34" charset="0"/>
                <a:ea typeface="Calibri" pitchFamily="34" charset="-122"/>
                <a:cs typeface="Calibri" pitchFamily="34" charset="-120"/>
              </a:rPr>
              <a:t>MODERATE</a:t>
            </a:r>
            <a:endParaRPr lang="en-US" sz="700" dirty="0"/>
          </a:p>
        </p:txBody>
      </p:sp>
      <p:sp>
        <p:nvSpPr>
          <p:cNvPr id="27" name="Shape 24"/>
          <p:cNvSpPr/>
          <p:nvPr/>
        </p:nvSpPr>
        <p:spPr>
          <a:xfrm>
            <a:off x="5989320" y="2724912"/>
            <a:ext cx="2697480" cy="566928"/>
          </a:xfrm>
          <a:prstGeom prst="rect">
            <a:avLst/>
          </a:prstGeom>
          <a:solidFill>
            <a:srgbClr val="161B22"/>
          </a:solidFill>
          <a:ln w="6350">
            <a:solidFill>
              <a:srgbClr val="21262D"/>
            </a:solidFill>
            <a:prstDash val="solid"/>
          </a:ln>
        </p:spPr>
      </p:sp>
      <p:sp>
        <p:nvSpPr>
          <p:cNvPr id="28" name="Shape 25"/>
          <p:cNvSpPr/>
          <p:nvPr/>
        </p:nvSpPr>
        <p:spPr>
          <a:xfrm>
            <a:off x="5989320" y="2724912"/>
            <a:ext cx="45720" cy="566928"/>
          </a:xfrm>
          <a:prstGeom prst="rect">
            <a:avLst/>
          </a:prstGeom>
          <a:solidFill>
            <a:srgbClr val="C2410C"/>
          </a:solidFill>
          <a:ln w="12700">
            <a:solidFill>
              <a:srgbClr val="C2410C"/>
            </a:solidFill>
            <a:prstDash val="solid"/>
          </a:ln>
        </p:spPr>
      </p:sp>
      <p:sp>
        <p:nvSpPr>
          <p:cNvPr id="29" name="Text 26"/>
          <p:cNvSpPr/>
          <p:nvPr/>
        </p:nvSpPr>
        <p:spPr>
          <a:xfrm>
            <a:off x="6144768" y="2779776"/>
            <a:ext cx="1005840" cy="219456"/>
          </a:xfrm>
          <a:prstGeom prst="rect">
            <a:avLst/>
          </a:prstGeom>
          <a:noFill/>
          <a:ln/>
        </p:spPr>
        <p:txBody>
          <a:bodyPr wrap="square" lIns="0" tIns="0" rIns="0" bIns="0"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Acetic Acid</a:t>
            </a:r>
            <a:endParaRPr lang="en-US" sz="900" dirty="0"/>
          </a:p>
        </p:txBody>
      </p:sp>
      <p:sp>
        <p:nvSpPr>
          <p:cNvPr id="30" name="Text 27"/>
          <p:cNvSpPr/>
          <p:nvPr/>
        </p:nvSpPr>
        <p:spPr>
          <a:xfrm>
            <a:off x="6144768" y="3017520"/>
            <a:ext cx="914400" cy="201168"/>
          </a:xfrm>
          <a:prstGeom prst="rect">
            <a:avLst/>
          </a:prstGeom>
          <a:noFill/>
          <a:ln/>
        </p:spPr>
        <p:txBody>
          <a:bodyPr wrap="square" lIns="0" tIns="0" rIns="0" bIns="0" rtlCol="0" anchor="ctr"/>
          <a:lstStyle/>
          <a:p>
            <a:pPr indent="0" marL="0">
              <a:buNone/>
            </a:pPr>
            <a:r>
              <a:rPr lang="en-US" sz="750" dirty="0">
                <a:solidFill>
                  <a:srgbClr val="F59E0B"/>
                </a:solidFill>
                <a:latin typeface="Consolas" pitchFamily="34" charset="0"/>
                <a:ea typeface="Consolas" pitchFamily="34" charset="-122"/>
                <a:cs typeface="Consolas" pitchFamily="34" charset="-120"/>
              </a:rPr>
              <a:t>7.50 → 8.10</a:t>
            </a:r>
            <a:endParaRPr lang="en-US" sz="750" dirty="0"/>
          </a:p>
        </p:txBody>
      </p:sp>
      <p:sp>
        <p:nvSpPr>
          <p:cNvPr id="31" name="Shape 28"/>
          <p:cNvSpPr/>
          <p:nvPr/>
        </p:nvSpPr>
        <p:spPr>
          <a:xfrm>
            <a:off x="7132320" y="2852928"/>
            <a:ext cx="530352" cy="219456"/>
          </a:xfrm>
          <a:prstGeom prst="rect">
            <a:avLst/>
          </a:prstGeom>
          <a:solidFill>
            <a:srgbClr val="161B22"/>
          </a:solidFill>
          <a:ln w="6350">
            <a:solidFill>
              <a:srgbClr val="C2410C"/>
            </a:solidFill>
            <a:prstDash val="solid"/>
          </a:ln>
        </p:spPr>
      </p:sp>
      <p:sp>
        <p:nvSpPr>
          <p:cNvPr id="32" name="Text 29"/>
          <p:cNvSpPr/>
          <p:nvPr/>
        </p:nvSpPr>
        <p:spPr>
          <a:xfrm>
            <a:off x="7132320" y="2852928"/>
            <a:ext cx="530352" cy="219456"/>
          </a:xfrm>
          <a:prstGeom prst="rect">
            <a:avLst/>
          </a:prstGeom>
          <a:noFill/>
          <a:ln/>
        </p:spPr>
        <p:txBody>
          <a:bodyPr wrap="square" lIns="0" tIns="0" rIns="0" bIns="0" rtlCol="0" anchor="ctr"/>
          <a:lstStyle/>
          <a:p>
            <a:pPr algn="ctr" indent="0" marL="0">
              <a:buNone/>
            </a:pPr>
            <a:r>
              <a:rPr lang="en-US" sz="700" b="1" dirty="0">
                <a:solidFill>
                  <a:srgbClr val="C2410C"/>
                </a:solidFill>
                <a:latin typeface="Calibri" pitchFamily="34" charset="0"/>
                <a:ea typeface="Calibri" pitchFamily="34" charset="-122"/>
                <a:cs typeface="Calibri" pitchFamily="34" charset="-120"/>
              </a:rPr>
              <a:t>HIGH</a:t>
            </a:r>
            <a:endParaRPr lang="en-US" sz="700" dirty="0"/>
          </a:p>
        </p:txBody>
      </p:sp>
      <p:sp>
        <p:nvSpPr>
          <p:cNvPr id="33" name="Shape 30"/>
          <p:cNvSpPr/>
          <p:nvPr/>
        </p:nvSpPr>
        <p:spPr>
          <a:xfrm>
            <a:off x="7726680" y="2852928"/>
            <a:ext cx="777240" cy="219456"/>
          </a:xfrm>
          <a:prstGeom prst="rect">
            <a:avLst/>
          </a:prstGeom>
          <a:solidFill>
            <a:srgbClr val="1C2230"/>
          </a:solidFill>
          <a:ln w="6350">
            <a:solidFill>
              <a:srgbClr val="F59E0B"/>
            </a:solidFill>
            <a:prstDash val="solid"/>
          </a:ln>
        </p:spPr>
      </p:sp>
      <p:sp>
        <p:nvSpPr>
          <p:cNvPr id="34" name="Text 31"/>
          <p:cNvSpPr/>
          <p:nvPr/>
        </p:nvSpPr>
        <p:spPr>
          <a:xfrm>
            <a:off x="7726680" y="2852928"/>
            <a:ext cx="777240" cy="219456"/>
          </a:xfrm>
          <a:prstGeom prst="rect">
            <a:avLst/>
          </a:prstGeom>
          <a:noFill/>
          <a:ln/>
        </p:spPr>
        <p:txBody>
          <a:bodyPr wrap="square" lIns="0" tIns="0" rIns="0" bIns="0" rtlCol="0" anchor="ctr"/>
          <a:lstStyle/>
          <a:p>
            <a:pPr algn="ctr" indent="0" marL="0">
              <a:buNone/>
            </a:pPr>
            <a:r>
              <a:rPr lang="en-US" sz="700" b="1" dirty="0">
                <a:solidFill>
                  <a:srgbClr val="F59E0B"/>
                </a:solidFill>
                <a:latin typeface="Calibri" pitchFamily="34" charset="0"/>
                <a:ea typeface="Calibri" pitchFamily="34" charset="-122"/>
                <a:cs typeface="Calibri" pitchFamily="34" charset="-120"/>
              </a:rPr>
              <a:t>MODERATE</a:t>
            </a:r>
            <a:endParaRPr lang="en-US" sz="700" dirty="0"/>
          </a:p>
        </p:txBody>
      </p:sp>
      <p:sp>
        <p:nvSpPr>
          <p:cNvPr id="35" name="Shape 32"/>
          <p:cNvSpPr/>
          <p:nvPr/>
        </p:nvSpPr>
        <p:spPr>
          <a:xfrm>
            <a:off x="5989320" y="3364992"/>
            <a:ext cx="2697480" cy="566928"/>
          </a:xfrm>
          <a:prstGeom prst="rect">
            <a:avLst/>
          </a:prstGeom>
          <a:solidFill>
            <a:srgbClr val="0D1117"/>
          </a:solidFill>
          <a:ln w="6350">
            <a:solidFill>
              <a:srgbClr val="21262D"/>
            </a:solidFill>
            <a:prstDash val="solid"/>
          </a:ln>
        </p:spPr>
      </p:sp>
      <p:sp>
        <p:nvSpPr>
          <p:cNvPr id="36" name="Shape 33"/>
          <p:cNvSpPr/>
          <p:nvPr/>
        </p:nvSpPr>
        <p:spPr>
          <a:xfrm>
            <a:off x="5989320" y="3364992"/>
            <a:ext cx="45720" cy="566928"/>
          </a:xfrm>
          <a:prstGeom prst="rect">
            <a:avLst/>
          </a:prstGeom>
          <a:solidFill>
            <a:srgbClr val="C2410C"/>
          </a:solidFill>
          <a:ln w="12700">
            <a:solidFill>
              <a:srgbClr val="C2410C"/>
            </a:solidFill>
            <a:prstDash val="solid"/>
          </a:ln>
        </p:spPr>
      </p:sp>
      <p:sp>
        <p:nvSpPr>
          <p:cNvPr id="37" name="Text 34"/>
          <p:cNvSpPr/>
          <p:nvPr/>
        </p:nvSpPr>
        <p:spPr>
          <a:xfrm>
            <a:off x="6144768" y="3419856"/>
            <a:ext cx="1005840" cy="219456"/>
          </a:xfrm>
          <a:prstGeom prst="rect">
            <a:avLst/>
          </a:prstGeom>
          <a:noFill/>
          <a:ln/>
        </p:spPr>
        <p:txBody>
          <a:bodyPr wrap="square" lIns="0" tIns="0" rIns="0" bIns="0"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Methanol</a:t>
            </a:r>
            <a:endParaRPr lang="en-US" sz="900" dirty="0"/>
          </a:p>
        </p:txBody>
      </p:sp>
      <p:sp>
        <p:nvSpPr>
          <p:cNvPr id="38" name="Text 35"/>
          <p:cNvSpPr/>
          <p:nvPr/>
        </p:nvSpPr>
        <p:spPr>
          <a:xfrm>
            <a:off x="6144768" y="3657600"/>
            <a:ext cx="914400" cy="201168"/>
          </a:xfrm>
          <a:prstGeom prst="rect">
            <a:avLst/>
          </a:prstGeom>
          <a:noFill/>
          <a:ln/>
        </p:spPr>
        <p:txBody>
          <a:bodyPr wrap="square" lIns="0" tIns="0" rIns="0" bIns="0" rtlCol="0" anchor="ctr"/>
          <a:lstStyle/>
          <a:p>
            <a:pPr indent="0" marL="0">
              <a:buNone/>
            </a:pPr>
            <a:r>
              <a:rPr lang="en-US" sz="750" dirty="0">
                <a:solidFill>
                  <a:srgbClr val="F59E0B"/>
                </a:solidFill>
                <a:latin typeface="Consolas" pitchFamily="34" charset="0"/>
                <a:ea typeface="Consolas" pitchFamily="34" charset="-122"/>
                <a:cs typeface="Consolas" pitchFamily="34" charset="-120"/>
              </a:rPr>
              <a:t>7.50 → 7.90</a:t>
            </a:r>
            <a:endParaRPr lang="en-US" sz="750" dirty="0"/>
          </a:p>
        </p:txBody>
      </p:sp>
      <p:sp>
        <p:nvSpPr>
          <p:cNvPr id="39" name="Shape 36"/>
          <p:cNvSpPr/>
          <p:nvPr/>
        </p:nvSpPr>
        <p:spPr>
          <a:xfrm>
            <a:off x="7132320" y="3493008"/>
            <a:ext cx="530352" cy="219456"/>
          </a:xfrm>
          <a:prstGeom prst="rect">
            <a:avLst/>
          </a:prstGeom>
          <a:solidFill>
            <a:srgbClr val="161B22"/>
          </a:solidFill>
          <a:ln w="6350">
            <a:solidFill>
              <a:srgbClr val="C2410C"/>
            </a:solidFill>
            <a:prstDash val="solid"/>
          </a:ln>
        </p:spPr>
      </p:sp>
      <p:sp>
        <p:nvSpPr>
          <p:cNvPr id="40" name="Text 37"/>
          <p:cNvSpPr/>
          <p:nvPr/>
        </p:nvSpPr>
        <p:spPr>
          <a:xfrm>
            <a:off x="7132320" y="3493008"/>
            <a:ext cx="530352" cy="219456"/>
          </a:xfrm>
          <a:prstGeom prst="rect">
            <a:avLst/>
          </a:prstGeom>
          <a:noFill/>
          <a:ln/>
        </p:spPr>
        <p:txBody>
          <a:bodyPr wrap="square" lIns="0" tIns="0" rIns="0" bIns="0" rtlCol="0" anchor="ctr"/>
          <a:lstStyle/>
          <a:p>
            <a:pPr algn="ctr" indent="0" marL="0">
              <a:buNone/>
            </a:pPr>
            <a:r>
              <a:rPr lang="en-US" sz="700" b="1" dirty="0">
                <a:solidFill>
                  <a:srgbClr val="C2410C"/>
                </a:solidFill>
                <a:latin typeface="Calibri" pitchFamily="34" charset="0"/>
                <a:ea typeface="Calibri" pitchFamily="34" charset="-122"/>
                <a:cs typeface="Calibri" pitchFamily="34" charset="-120"/>
              </a:rPr>
              <a:t>HIGH</a:t>
            </a:r>
            <a:endParaRPr lang="en-US" sz="700" dirty="0"/>
          </a:p>
        </p:txBody>
      </p:sp>
      <p:sp>
        <p:nvSpPr>
          <p:cNvPr id="41" name="Shape 38"/>
          <p:cNvSpPr/>
          <p:nvPr/>
        </p:nvSpPr>
        <p:spPr>
          <a:xfrm>
            <a:off x="7726680" y="3493008"/>
            <a:ext cx="777240" cy="219456"/>
          </a:xfrm>
          <a:prstGeom prst="rect">
            <a:avLst/>
          </a:prstGeom>
          <a:solidFill>
            <a:srgbClr val="1C2230"/>
          </a:solidFill>
          <a:ln w="6350">
            <a:solidFill>
              <a:srgbClr val="059669"/>
            </a:solidFill>
            <a:prstDash val="solid"/>
          </a:ln>
        </p:spPr>
      </p:sp>
      <p:sp>
        <p:nvSpPr>
          <p:cNvPr id="42" name="Text 39"/>
          <p:cNvSpPr/>
          <p:nvPr/>
        </p:nvSpPr>
        <p:spPr>
          <a:xfrm>
            <a:off x="7726680" y="3493008"/>
            <a:ext cx="777240" cy="219456"/>
          </a:xfrm>
          <a:prstGeom prst="rect">
            <a:avLst/>
          </a:prstGeom>
          <a:noFill/>
          <a:ln/>
        </p:spPr>
        <p:txBody>
          <a:bodyPr wrap="square" lIns="0" tIns="0" rIns="0" bIns="0" rtlCol="0" anchor="ctr"/>
          <a:lstStyle/>
          <a:p>
            <a:pPr algn="ctr" indent="0" marL="0">
              <a:buNone/>
            </a:pPr>
            <a:r>
              <a:rPr lang="en-US" sz="700" b="1" dirty="0">
                <a:solidFill>
                  <a:srgbClr val="059669"/>
                </a:solidFill>
                <a:latin typeface="Calibri" pitchFamily="34" charset="0"/>
                <a:ea typeface="Calibri" pitchFamily="34" charset="-122"/>
                <a:cs typeface="Calibri" pitchFamily="34" charset="-120"/>
              </a:rPr>
              <a:t>HIGH</a:t>
            </a:r>
            <a:endParaRPr lang="en-US" sz="700" dirty="0"/>
          </a:p>
        </p:txBody>
      </p:sp>
      <p:sp>
        <p:nvSpPr>
          <p:cNvPr id="43" name="Shape 40"/>
          <p:cNvSpPr/>
          <p:nvPr/>
        </p:nvSpPr>
        <p:spPr>
          <a:xfrm>
            <a:off x="5989320" y="4005072"/>
            <a:ext cx="2697480" cy="566928"/>
          </a:xfrm>
          <a:prstGeom prst="rect">
            <a:avLst/>
          </a:prstGeom>
          <a:solidFill>
            <a:srgbClr val="161B22"/>
          </a:solidFill>
          <a:ln w="6350">
            <a:solidFill>
              <a:srgbClr val="21262D"/>
            </a:solidFill>
            <a:prstDash val="solid"/>
          </a:ln>
        </p:spPr>
      </p:sp>
      <p:sp>
        <p:nvSpPr>
          <p:cNvPr id="44" name="Shape 41"/>
          <p:cNvSpPr/>
          <p:nvPr/>
        </p:nvSpPr>
        <p:spPr>
          <a:xfrm>
            <a:off x="5989320" y="4005072"/>
            <a:ext cx="45720" cy="566928"/>
          </a:xfrm>
          <a:prstGeom prst="rect">
            <a:avLst/>
          </a:prstGeom>
          <a:solidFill>
            <a:srgbClr val="14B8A6"/>
          </a:solidFill>
          <a:ln w="12700">
            <a:solidFill>
              <a:srgbClr val="14B8A6"/>
            </a:solidFill>
            <a:prstDash val="solid"/>
          </a:ln>
        </p:spPr>
      </p:sp>
      <p:sp>
        <p:nvSpPr>
          <p:cNvPr id="45" name="Text 42"/>
          <p:cNvSpPr/>
          <p:nvPr/>
        </p:nvSpPr>
        <p:spPr>
          <a:xfrm>
            <a:off x="6144768" y="4059936"/>
            <a:ext cx="1005840" cy="219456"/>
          </a:xfrm>
          <a:prstGeom prst="rect">
            <a:avLst/>
          </a:prstGeom>
          <a:noFill/>
          <a:ln/>
        </p:spPr>
        <p:txBody>
          <a:bodyPr wrap="square" lIns="0" tIns="0" rIns="0" bIns="0" rtlCol="0" anchor="ctr"/>
          <a:lstStyle/>
          <a:p>
            <a:pPr indent="0" marL="0">
              <a:buNone/>
            </a:pPr>
            <a:r>
              <a:rPr lang="en-US" sz="900" b="1" dirty="0">
                <a:solidFill>
                  <a:srgbClr val="F8FAFC"/>
                </a:solidFill>
                <a:latin typeface="Calibri" pitchFamily="34" charset="0"/>
                <a:ea typeface="Calibri" pitchFamily="34" charset="-122"/>
                <a:cs typeface="Calibri" pitchFamily="34" charset="-120"/>
              </a:rPr>
              <a:t>Polysilicon</a:t>
            </a:r>
            <a:endParaRPr lang="en-US" sz="900" dirty="0"/>
          </a:p>
        </p:txBody>
      </p:sp>
      <p:sp>
        <p:nvSpPr>
          <p:cNvPr id="46" name="Text 43"/>
          <p:cNvSpPr/>
          <p:nvPr/>
        </p:nvSpPr>
        <p:spPr>
          <a:xfrm>
            <a:off x="6144768" y="4297680"/>
            <a:ext cx="914400" cy="201168"/>
          </a:xfrm>
          <a:prstGeom prst="rect">
            <a:avLst/>
          </a:prstGeom>
          <a:noFill/>
          <a:ln/>
        </p:spPr>
        <p:txBody>
          <a:bodyPr wrap="square" lIns="0" tIns="0" rIns="0" bIns="0" rtlCol="0" anchor="ctr"/>
          <a:lstStyle/>
          <a:p>
            <a:pPr indent="0" marL="0">
              <a:buNone/>
            </a:pPr>
            <a:r>
              <a:rPr lang="en-US" sz="750" dirty="0">
                <a:solidFill>
                  <a:srgbClr val="F59E0B"/>
                </a:solidFill>
                <a:latin typeface="Consolas" pitchFamily="34" charset="0"/>
                <a:ea typeface="Consolas" pitchFamily="34" charset="-122"/>
                <a:cs typeface="Consolas" pitchFamily="34" charset="-120"/>
              </a:rPr>
              <a:t>6.00 → 5.70</a:t>
            </a:r>
            <a:endParaRPr lang="en-US" sz="750" dirty="0"/>
          </a:p>
        </p:txBody>
      </p:sp>
      <p:sp>
        <p:nvSpPr>
          <p:cNvPr id="47" name="Shape 44"/>
          <p:cNvSpPr/>
          <p:nvPr/>
        </p:nvSpPr>
        <p:spPr>
          <a:xfrm>
            <a:off x="7132320" y="4133088"/>
            <a:ext cx="530352" cy="219456"/>
          </a:xfrm>
          <a:prstGeom prst="rect">
            <a:avLst/>
          </a:prstGeom>
          <a:solidFill>
            <a:srgbClr val="161B22"/>
          </a:solidFill>
          <a:ln w="6350">
            <a:solidFill>
              <a:srgbClr val="14B8A6"/>
            </a:solidFill>
            <a:prstDash val="solid"/>
          </a:ln>
        </p:spPr>
      </p:sp>
      <p:sp>
        <p:nvSpPr>
          <p:cNvPr id="48" name="Text 45"/>
          <p:cNvSpPr/>
          <p:nvPr/>
        </p:nvSpPr>
        <p:spPr>
          <a:xfrm>
            <a:off x="7132320" y="4133088"/>
            <a:ext cx="530352" cy="219456"/>
          </a:xfrm>
          <a:prstGeom prst="rect">
            <a:avLst/>
          </a:prstGeom>
          <a:noFill/>
          <a:ln/>
        </p:spPr>
        <p:txBody>
          <a:bodyPr wrap="square" lIns="0" tIns="0" rIns="0" bIns="0" rtlCol="0" anchor="ctr"/>
          <a:lstStyle/>
          <a:p>
            <a:pPr algn="ctr" indent="0" marL="0">
              <a:buNone/>
            </a:pPr>
            <a:r>
              <a:rPr lang="en-US" sz="700" b="1" dirty="0">
                <a:solidFill>
                  <a:srgbClr val="14B8A6"/>
                </a:solidFill>
                <a:latin typeface="Calibri" pitchFamily="34" charset="0"/>
                <a:ea typeface="Calibri" pitchFamily="34" charset="-122"/>
                <a:cs typeface="Calibri" pitchFamily="34" charset="-120"/>
              </a:rPr>
              <a:t>MEDIUM</a:t>
            </a:r>
            <a:endParaRPr lang="en-US" sz="700" dirty="0"/>
          </a:p>
        </p:txBody>
      </p:sp>
      <p:sp>
        <p:nvSpPr>
          <p:cNvPr id="49" name="Shape 46"/>
          <p:cNvSpPr/>
          <p:nvPr/>
        </p:nvSpPr>
        <p:spPr>
          <a:xfrm>
            <a:off x="7726680" y="4133088"/>
            <a:ext cx="777240" cy="219456"/>
          </a:xfrm>
          <a:prstGeom prst="rect">
            <a:avLst/>
          </a:prstGeom>
          <a:solidFill>
            <a:srgbClr val="1C2230"/>
          </a:solidFill>
          <a:ln w="6350">
            <a:solidFill>
              <a:srgbClr val="64748B"/>
            </a:solidFill>
            <a:prstDash val="solid"/>
          </a:ln>
        </p:spPr>
      </p:sp>
      <p:sp>
        <p:nvSpPr>
          <p:cNvPr id="50" name="Text 47"/>
          <p:cNvSpPr/>
          <p:nvPr/>
        </p:nvSpPr>
        <p:spPr>
          <a:xfrm>
            <a:off x="7726680" y="4133088"/>
            <a:ext cx="777240" cy="219456"/>
          </a:xfrm>
          <a:prstGeom prst="rect">
            <a:avLst/>
          </a:prstGeom>
          <a:noFill/>
          <a:ln/>
        </p:spPr>
        <p:txBody>
          <a:bodyPr wrap="square" lIns="0" tIns="0" rIns="0" bIns="0" rtlCol="0" anchor="ctr"/>
          <a:lstStyle/>
          <a:p>
            <a:pPr algn="ctr" indent="0" marL="0">
              <a:buNone/>
            </a:pPr>
            <a:r>
              <a:rPr lang="en-US" sz="700" b="1" dirty="0">
                <a:solidFill>
                  <a:srgbClr val="64748B"/>
                </a:solidFill>
                <a:latin typeface="Calibri" pitchFamily="34" charset="0"/>
                <a:ea typeface="Calibri" pitchFamily="34" charset="-122"/>
                <a:cs typeface="Calibri" pitchFamily="34" charset="-120"/>
              </a:rPr>
              <a:t>LOW</a:t>
            </a:r>
            <a:endParaRPr lang="en-US" sz="700" dirty="0"/>
          </a:p>
        </p:txBody>
      </p:sp>
      <p:sp>
        <p:nvSpPr>
          <p:cNvPr id="51" name="Shape 48"/>
          <p:cNvSpPr/>
          <p:nvPr/>
        </p:nvSpPr>
        <p:spPr>
          <a:xfrm>
            <a:off x="457200" y="4736592"/>
            <a:ext cx="8229600" cy="329184"/>
          </a:xfrm>
          <a:prstGeom prst="rect">
            <a:avLst/>
          </a:prstGeom>
          <a:solidFill>
            <a:srgbClr val="1C2230"/>
          </a:solidFill>
          <a:ln w="9525">
            <a:solidFill>
              <a:srgbClr val="21262D"/>
            </a:solidFill>
            <a:prstDash val="solid"/>
          </a:ln>
        </p:spPr>
      </p:sp>
      <p:sp>
        <p:nvSpPr>
          <p:cNvPr id="52" name="Text 49"/>
          <p:cNvSpPr/>
          <p:nvPr/>
        </p:nvSpPr>
        <p:spPr>
          <a:xfrm>
            <a:off x="594360" y="4736592"/>
            <a:ext cx="7955280" cy="329184"/>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Analytical weighting adjusts base scores for volatility, import dependency, energy correlation, and supplier concentration. Acetic Acid escalates from 7.50 to 8.10 under weighting — a risk elevation standard scoring misses.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FORECAST VALIDATION</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Model Accuracy, Volatility Assessment, and Confidence Scoring</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Text 3"/>
          <p:cNvSpPr/>
          <p:nvPr/>
        </p:nvSpPr>
        <p:spPr>
          <a:xfrm>
            <a:off x="457200" y="1005840"/>
            <a:ext cx="1508760" cy="256032"/>
          </a:xfrm>
          <a:prstGeom prst="rect">
            <a:avLst/>
          </a:prstGeom>
          <a:noFill/>
          <a:ln/>
        </p:spPr>
        <p:txBody>
          <a:bodyPr wrap="square" lIns="0" tIns="0" rIns="0" bIns="0" rtlCol="0" anchor="ctr"/>
          <a:lstStyle/>
          <a:p>
            <a:pPr indent="0" marL="0">
              <a:buNone/>
            </a:pPr>
            <a:r>
              <a:rPr lang="en-US" sz="800" b="1" spc="50" kern="0" dirty="0">
                <a:solidFill>
                  <a:srgbClr val="64748B"/>
                </a:solidFill>
                <a:latin typeface="Calibri" pitchFamily="34" charset="0"/>
                <a:ea typeface="Calibri" pitchFamily="34" charset="-122"/>
                <a:cs typeface="Calibri" pitchFamily="34" charset="-120"/>
              </a:rPr>
              <a:t>Material</a:t>
            </a:r>
            <a:endParaRPr lang="en-US" sz="800" dirty="0"/>
          </a:p>
        </p:txBody>
      </p:sp>
      <p:sp>
        <p:nvSpPr>
          <p:cNvPr id="6" name="Text 4"/>
          <p:cNvSpPr/>
          <p:nvPr/>
        </p:nvSpPr>
        <p:spPr>
          <a:xfrm>
            <a:off x="2011680" y="1005840"/>
            <a:ext cx="1143000" cy="256032"/>
          </a:xfrm>
          <a:prstGeom prst="rect">
            <a:avLst/>
          </a:prstGeom>
          <a:noFill/>
          <a:ln/>
        </p:spPr>
        <p:txBody>
          <a:bodyPr wrap="square" lIns="0" tIns="0" rIns="0" bIns="0" rtlCol="0" anchor="ctr"/>
          <a:lstStyle/>
          <a:p>
            <a:pPr indent="0" marL="0">
              <a:buNone/>
            </a:pPr>
            <a:r>
              <a:rPr lang="en-US" sz="800" b="1" spc="50" kern="0" dirty="0">
                <a:solidFill>
                  <a:srgbClr val="64748B"/>
                </a:solidFill>
                <a:latin typeface="Calibri" pitchFamily="34" charset="0"/>
                <a:ea typeface="Calibri" pitchFamily="34" charset="-122"/>
                <a:cs typeface="Calibri" pitchFamily="34" charset="-120"/>
              </a:rPr>
              <a:t>MAPE</a:t>
            </a:r>
            <a:endParaRPr lang="en-US" sz="800" dirty="0"/>
          </a:p>
        </p:txBody>
      </p:sp>
      <p:sp>
        <p:nvSpPr>
          <p:cNvPr id="7" name="Text 5"/>
          <p:cNvSpPr/>
          <p:nvPr/>
        </p:nvSpPr>
        <p:spPr>
          <a:xfrm>
            <a:off x="3200400" y="1005840"/>
            <a:ext cx="1325880" cy="256032"/>
          </a:xfrm>
          <a:prstGeom prst="rect">
            <a:avLst/>
          </a:prstGeom>
          <a:noFill/>
          <a:ln/>
        </p:spPr>
        <p:txBody>
          <a:bodyPr wrap="square" lIns="0" tIns="0" rIns="0" bIns="0" rtlCol="0" anchor="ctr"/>
          <a:lstStyle/>
          <a:p>
            <a:pPr indent="0" marL="0">
              <a:buNone/>
            </a:pPr>
            <a:r>
              <a:rPr lang="en-US" sz="800" b="1" spc="50" kern="0" dirty="0">
                <a:solidFill>
                  <a:srgbClr val="64748B"/>
                </a:solidFill>
                <a:latin typeface="Calibri" pitchFamily="34" charset="0"/>
                <a:ea typeface="Calibri" pitchFamily="34" charset="-122"/>
                <a:cs typeface="Calibri" pitchFamily="34" charset="-120"/>
              </a:rPr>
              <a:t>Grade</a:t>
            </a:r>
            <a:endParaRPr lang="en-US" sz="800" dirty="0"/>
          </a:p>
        </p:txBody>
      </p:sp>
      <p:sp>
        <p:nvSpPr>
          <p:cNvPr id="8" name="Text 6"/>
          <p:cNvSpPr/>
          <p:nvPr/>
        </p:nvSpPr>
        <p:spPr>
          <a:xfrm>
            <a:off x="4572000" y="1005840"/>
            <a:ext cx="1051560" cy="256032"/>
          </a:xfrm>
          <a:prstGeom prst="rect">
            <a:avLst/>
          </a:prstGeom>
          <a:noFill/>
          <a:ln/>
        </p:spPr>
        <p:txBody>
          <a:bodyPr wrap="square" lIns="0" tIns="0" rIns="0" bIns="0" rtlCol="0" anchor="ctr"/>
          <a:lstStyle/>
          <a:p>
            <a:pPr indent="0" marL="0">
              <a:buNone/>
            </a:pPr>
            <a:r>
              <a:rPr lang="en-US" sz="800" b="1" spc="50" kern="0" dirty="0">
                <a:solidFill>
                  <a:srgbClr val="64748B"/>
                </a:solidFill>
                <a:latin typeface="Calibri" pitchFamily="34" charset="0"/>
                <a:ea typeface="Calibri" pitchFamily="34" charset="-122"/>
                <a:cs typeface="Calibri" pitchFamily="34" charset="-120"/>
              </a:rPr>
              <a:t>Directional Acc.</a:t>
            </a:r>
            <a:endParaRPr lang="en-US" sz="800" dirty="0"/>
          </a:p>
        </p:txBody>
      </p:sp>
      <p:sp>
        <p:nvSpPr>
          <p:cNvPr id="9" name="Text 7"/>
          <p:cNvSpPr/>
          <p:nvPr/>
        </p:nvSpPr>
        <p:spPr>
          <a:xfrm>
            <a:off x="5669280" y="1005840"/>
            <a:ext cx="1051560" cy="256032"/>
          </a:xfrm>
          <a:prstGeom prst="rect">
            <a:avLst/>
          </a:prstGeom>
          <a:noFill/>
          <a:ln/>
        </p:spPr>
        <p:txBody>
          <a:bodyPr wrap="square" lIns="0" tIns="0" rIns="0" bIns="0" rtlCol="0" anchor="ctr"/>
          <a:lstStyle/>
          <a:p>
            <a:pPr indent="0" marL="0">
              <a:buNone/>
            </a:pPr>
            <a:r>
              <a:rPr lang="en-US" sz="800" b="1" spc="50" kern="0" dirty="0">
                <a:solidFill>
                  <a:srgbClr val="64748B"/>
                </a:solidFill>
                <a:latin typeface="Calibri" pitchFamily="34" charset="0"/>
                <a:ea typeface="Calibri" pitchFamily="34" charset="-122"/>
                <a:cs typeface="Calibri" pitchFamily="34" charset="-120"/>
              </a:rPr>
              <a:t>Volatility</a:t>
            </a:r>
            <a:endParaRPr lang="en-US" sz="800" dirty="0"/>
          </a:p>
        </p:txBody>
      </p:sp>
      <p:sp>
        <p:nvSpPr>
          <p:cNvPr id="10" name="Text 8"/>
          <p:cNvSpPr/>
          <p:nvPr/>
        </p:nvSpPr>
        <p:spPr>
          <a:xfrm>
            <a:off x="6766560" y="1005840"/>
            <a:ext cx="960120" cy="256032"/>
          </a:xfrm>
          <a:prstGeom prst="rect">
            <a:avLst/>
          </a:prstGeom>
          <a:noFill/>
          <a:ln/>
        </p:spPr>
        <p:txBody>
          <a:bodyPr wrap="square" lIns="0" tIns="0" rIns="0" bIns="0" rtlCol="0" anchor="ctr"/>
          <a:lstStyle/>
          <a:p>
            <a:pPr indent="0" marL="0">
              <a:buNone/>
            </a:pPr>
            <a:r>
              <a:rPr lang="en-US" sz="800" b="1" spc="50" kern="0" dirty="0">
                <a:solidFill>
                  <a:srgbClr val="64748B"/>
                </a:solidFill>
                <a:latin typeface="Calibri" pitchFamily="34" charset="0"/>
                <a:ea typeface="Calibri" pitchFamily="34" charset="-122"/>
                <a:cs typeface="Calibri" pitchFamily="34" charset="-120"/>
              </a:rPr>
              <a:t>Confidence</a:t>
            </a:r>
            <a:endParaRPr lang="en-US" sz="800" dirty="0"/>
          </a:p>
        </p:txBody>
      </p:sp>
      <p:sp>
        <p:nvSpPr>
          <p:cNvPr id="11" name="Text 9"/>
          <p:cNvSpPr/>
          <p:nvPr/>
        </p:nvSpPr>
        <p:spPr>
          <a:xfrm>
            <a:off x="7772400" y="1005840"/>
            <a:ext cx="1188720" cy="256032"/>
          </a:xfrm>
          <a:prstGeom prst="rect">
            <a:avLst/>
          </a:prstGeom>
          <a:noFill/>
          <a:ln/>
        </p:spPr>
        <p:txBody>
          <a:bodyPr wrap="square" lIns="0" tIns="0" rIns="0" bIns="0" rtlCol="0" anchor="ctr"/>
          <a:lstStyle/>
          <a:p>
            <a:pPr indent="0" marL="0">
              <a:buNone/>
            </a:pPr>
            <a:r>
              <a:rPr lang="en-US" sz="800" b="1" spc="50" kern="0" dirty="0">
                <a:solidFill>
                  <a:srgbClr val="64748B"/>
                </a:solidFill>
                <a:latin typeface="Calibri" pitchFamily="34" charset="0"/>
                <a:ea typeface="Calibri" pitchFamily="34" charset="-122"/>
                <a:cs typeface="Calibri" pitchFamily="34" charset="-120"/>
              </a:rPr>
              <a:t>Tier</a:t>
            </a:r>
            <a:endParaRPr lang="en-US" sz="800" dirty="0"/>
          </a:p>
        </p:txBody>
      </p:sp>
      <p:sp>
        <p:nvSpPr>
          <p:cNvPr id="12" name="Shape 10"/>
          <p:cNvSpPr/>
          <p:nvPr/>
        </p:nvSpPr>
        <p:spPr>
          <a:xfrm>
            <a:off x="457200" y="1243584"/>
            <a:ext cx="8229600" cy="12802"/>
          </a:xfrm>
          <a:prstGeom prst="rect">
            <a:avLst/>
          </a:prstGeom>
          <a:solidFill>
            <a:srgbClr val="334155"/>
          </a:solidFill>
          <a:ln w="12700">
            <a:solidFill>
              <a:srgbClr val="334155"/>
            </a:solidFill>
            <a:prstDash val="solid"/>
          </a:ln>
        </p:spPr>
      </p:sp>
      <p:sp>
        <p:nvSpPr>
          <p:cNvPr id="13" name="Shape 11"/>
          <p:cNvSpPr/>
          <p:nvPr/>
        </p:nvSpPr>
        <p:spPr>
          <a:xfrm>
            <a:off x="457200" y="1298448"/>
            <a:ext cx="8229600" cy="493776"/>
          </a:xfrm>
          <a:prstGeom prst="rect">
            <a:avLst/>
          </a:prstGeom>
          <a:solidFill>
            <a:srgbClr val="161B22"/>
          </a:solidFill>
          <a:ln w="6350">
            <a:solidFill>
              <a:srgbClr val="21262D"/>
            </a:solidFill>
            <a:prstDash val="solid"/>
          </a:ln>
        </p:spPr>
      </p:sp>
      <p:sp>
        <p:nvSpPr>
          <p:cNvPr id="14" name="Text 12"/>
          <p:cNvSpPr/>
          <p:nvPr/>
        </p:nvSpPr>
        <p:spPr>
          <a:xfrm>
            <a:off x="530352" y="1426464"/>
            <a:ext cx="146304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Methanol</a:t>
            </a:r>
            <a:endParaRPr lang="en-US" sz="1000" dirty="0"/>
          </a:p>
        </p:txBody>
      </p:sp>
      <p:sp>
        <p:nvSpPr>
          <p:cNvPr id="15" name="Text 13"/>
          <p:cNvSpPr/>
          <p:nvPr/>
        </p:nvSpPr>
        <p:spPr>
          <a:xfrm>
            <a:off x="2057400" y="1426464"/>
            <a:ext cx="1005840" cy="256032"/>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6.2%</a:t>
            </a:r>
            <a:endParaRPr lang="en-US" sz="1100" dirty="0"/>
          </a:p>
        </p:txBody>
      </p:sp>
      <p:sp>
        <p:nvSpPr>
          <p:cNvPr id="16" name="Shape 14"/>
          <p:cNvSpPr/>
          <p:nvPr/>
        </p:nvSpPr>
        <p:spPr>
          <a:xfrm>
            <a:off x="3218688" y="1435608"/>
            <a:ext cx="1097280" cy="228600"/>
          </a:xfrm>
          <a:prstGeom prst="rect">
            <a:avLst/>
          </a:prstGeom>
          <a:solidFill>
            <a:srgbClr val="1C2230"/>
          </a:solidFill>
          <a:ln w="6350">
            <a:solidFill>
              <a:srgbClr val="059669"/>
            </a:solidFill>
            <a:prstDash val="solid"/>
          </a:ln>
        </p:spPr>
      </p:sp>
      <p:sp>
        <p:nvSpPr>
          <p:cNvPr id="17" name="Text 15"/>
          <p:cNvSpPr/>
          <p:nvPr/>
        </p:nvSpPr>
        <p:spPr>
          <a:xfrm>
            <a:off x="3218688" y="1435608"/>
            <a:ext cx="1097280" cy="228600"/>
          </a:xfrm>
          <a:prstGeom prst="rect">
            <a:avLst/>
          </a:prstGeom>
          <a:noFill/>
          <a:ln/>
        </p:spPr>
        <p:txBody>
          <a:bodyPr wrap="square" lIns="0" tIns="0" rIns="0" bIns="0" rtlCol="0" anchor="ctr"/>
          <a:lstStyle/>
          <a:p>
            <a:pPr algn="ctr" indent="0" marL="0">
              <a:buNone/>
            </a:pPr>
            <a:r>
              <a:rPr lang="en-US" sz="800" b="1" dirty="0">
                <a:solidFill>
                  <a:srgbClr val="059669"/>
                </a:solidFill>
                <a:latin typeface="Calibri" pitchFamily="34" charset="0"/>
                <a:ea typeface="Calibri" pitchFamily="34" charset="-122"/>
                <a:cs typeface="Calibri" pitchFamily="34" charset="-120"/>
              </a:rPr>
              <a:t>EXCELLENT</a:t>
            </a:r>
            <a:endParaRPr lang="en-US" sz="800" dirty="0"/>
          </a:p>
        </p:txBody>
      </p:sp>
      <p:sp>
        <p:nvSpPr>
          <p:cNvPr id="18" name="Text 16"/>
          <p:cNvSpPr/>
          <p:nvPr/>
        </p:nvSpPr>
        <p:spPr>
          <a:xfrm>
            <a:off x="4617720" y="1426464"/>
            <a:ext cx="914400" cy="256032"/>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87.5%</a:t>
            </a:r>
            <a:endParaRPr lang="en-US" sz="1000" dirty="0"/>
          </a:p>
        </p:txBody>
      </p:sp>
      <p:sp>
        <p:nvSpPr>
          <p:cNvPr id="19" name="Text 17"/>
          <p:cNvSpPr/>
          <p:nvPr/>
        </p:nvSpPr>
        <p:spPr>
          <a:xfrm>
            <a:off x="5715000" y="1426464"/>
            <a:ext cx="9144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HIGH</a:t>
            </a:r>
            <a:endParaRPr lang="en-US" sz="900" dirty="0"/>
          </a:p>
        </p:txBody>
      </p:sp>
      <p:sp>
        <p:nvSpPr>
          <p:cNvPr id="20" name="Text 18"/>
          <p:cNvSpPr/>
          <p:nvPr/>
        </p:nvSpPr>
        <p:spPr>
          <a:xfrm>
            <a:off x="6812280" y="1426464"/>
            <a:ext cx="731520" cy="256032"/>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81%</a:t>
            </a:r>
            <a:endParaRPr lang="en-US" sz="1300" dirty="0"/>
          </a:p>
        </p:txBody>
      </p:sp>
      <p:sp>
        <p:nvSpPr>
          <p:cNvPr id="21" name="Shape 19"/>
          <p:cNvSpPr/>
          <p:nvPr/>
        </p:nvSpPr>
        <p:spPr>
          <a:xfrm>
            <a:off x="7790688" y="1435608"/>
            <a:ext cx="1097280" cy="228600"/>
          </a:xfrm>
          <a:prstGeom prst="rect">
            <a:avLst/>
          </a:prstGeom>
          <a:solidFill>
            <a:srgbClr val="1C2230"/>
          </a:solidFill>
          <a:ln w="6350">
            <a:solidFill>
              <a:srgbClr val="059669"/>
            </a:solidFill>
            <a:prstDash val="solid"/>
          </a:ln>
        </p:spPr>
      </p:sp>
      <p:sp>
        <p:nvSpPr>
          <p:cNvPr id="22" name="Text 20"/>
          <p:cNvSpPr/>
          <p:nvPr/>
        </p:nvSpPr>
        <p:spPr>
          <a:xfrm>
            <a:off x="7790688" y="1435608"/>
            <a:ext cx="1097280" cy="228600"/>
          </a:xfrm>
          <a:prstGeom prst="rect">
            <a:avLst/>
          </a:prstGeom>
          <a:noFill/>
          <a:ln/>
        </p:spPr>
        <p:txBody>
          <a:bodyPr wrap="square" lIns="0" tIns="0" rIns="0" bIns="0" rtlCol="0" anchor="ctr"/>
          <a:lstStyle/>
          <a:p>
            <a:pPr algn="ctr" indent="0" marL="0">
              <a:buNone/>
            </a:pPr>
            <a:r>
              <a:rPr lang="en-US" sz="800" b="1" dirty="0">
                <a:solidFill>
                  <a:srgbClr val="059669"/>
                </a:solidFill>
                <a:latin typeface="Calibri" pitchFamily="34" charset="0"/>
                <a:ea typeface="Calibri" pitchFamily="34" charset="-122"/>
                <a:cs typeface="Calibri" pitchFamily="34" charset="-120"/>
              </a:rPr>
              <a:t>HIGH</a:t>
            </a:r>
            <a:endParaRPr lang="en-US" sz="800" dirty="0"/>
          </a:p>
        </p:txBody>
      </p:sp>
      <p:sp>
        <p:nvSpPr>
          <p:cNvPr id="23" name="Shape 21"/>
          <p:cNvSpPr/>
          <p:nvPr/>
        </p:nvSpPr>
        <p:spPr>
          <a:xfrm>
            <a:off x="457200" y="1865376"/>
            <a:ext cx="8229600" cy="493776"/>
          </a:xfrm>
          <a:prstGeom prst="rect">
            <a:avLst/>
          </a:prstGeom>
          <a:solidFill>
            <a:srgbClr val="0D1117"/>
          </a:solidFill>
          <a:ln w="6350">
            <a:solidFill>
              <a:srgbClr val="21262D"/>
            </a:solidFill>
            <a:prstDash val="solid"/>
          </a:ln>
        </p:spPr>
      </p:sp>
      <p:sp>
        <p:nvSpPr>
          <p:cNvPr id="24" name="Text 22"/>
          <p:cNvSpPr/>
          <p:nvPr/>
        </p:nvSpPr>
        <p:spPr>
          <a:xfrm>
            <a:off x="530352" y="1993392"/>
            <a:ext cx="146304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LNG Japan</a:t>
            </a:r>
            <a:endParaRPr lang="en-US" sz="1000" dirty="0"/>
          </a:p>
        </p:txBody>
      </p:sp>
      <p:sp>
        <p:nvSpPr>
          <p:cNvPr id="25" name="Text 23"/>
          <p:cNvSpPr/>
          <p:nvPr/>
        </p:nvSpPr>
        <p:spPr>
          <a:xfrm>
            <a:off x="2057400" y="1993392"/>
            <a:ext cx="1005840" cy="256032"/>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8.4%</a:t>
            </a:r>
            <a:endParaRPr lang="en-US" sz="1100" dirty="0"/>
          </a:p>
        </p:txBody>
      </p:sp>
      <p:sp>
        <p:nvSpPr>
          <p:cNvPr id="26" name="Shape 24"/>
          <p:cNvSpPr/>
          <p:nvPr/>
        </p:nvSpPr>
        <p:spPr>
          <a:xfrm>
            <a:off x="3218688" y="2002536"/>
            <a:ext cx="1097280" cy="228600"/>
          </a:xfrm>
          <a:prstGeom prst="rect">
            <a:avLst/>
          </a:prstGeom>
          <a:solidFill>
            <a:srgbClr val="1C2230"/>
          </a:solidFill>
          <a:ln w="6350">
            <a:solidFill>
              <a:srgbClr val="14B8A6"/>
            </a:solidFill>
            <a:prstDash val="solid"/>
          </a:ln>
        </p:spPr>
      </p:sp>
      <p:sp>
        <p:nvSpPr>
          <p:cNvPr id="27" name="Text 25"/>
          <p:cNvSpPr/>
          <p:nvPr/>
        </p:nvSpPr>
        <p:spPr>
          <a:xfrm>
            <a:off x="3218688" y="2002536"/>
            <a:ext cx="1097280" cy="228600"/>
          </a:xfrm>
          <a:prstGeom prst="rect">
            <a:avLst/>
          </a:prstGeom>
          <a:noFill/>
          <a:ln/>
        </p:spPr>
        <p:txBody>
          <a:bodyPr wrap="square" lIns="0" tIns="0" rIns="0" bIns="0" rtlCol="0" anchor="ctr"/>
          <a:lstStyle/>
          <a:p>
            <a:pPr algn="ctr" indent="0" marL="0">
              <a:buNone/>
            </a:pPr>
            <a:r>
              <a:rPr lang="en-US" sz="800" b="1" dirty="0">
                <a:solidFill>
                  <a:srgbClr val="14B8A6"/>
                </a:solidFill>
                <a:latin typeface="Calibri" pitchFamily="34" charset="0"/>
                <a:ea typeface="Calibri" pitchFamily="34" charset="-122"/>
                <a:cs typeface="Calibri" pitchFamily="34" charset="-120"/>
              </a:rPr>
              <a:t>GOOD</a:t>
            </a:r>
            <a:endParaRPr lang="en-US" sz="800" dirty="0"/>
          </a:p>
        </p:txBody>
      </p:sp>
      <p:sp>
        <p:nvSpPr>
          <p:cNvPr id="28" name="Text 26"/>
          <p:cNvSpPr/>
          <p:nvPr/>
        </p:nvSpPr>
        <p:spPr>
          <a:xfrm>
            <a:off x="4617720" y="1993392"/>
            <a:ext cx="914400" cy="256032"/>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83.3%</a:t>
            </a:r>
            <a:endParaRPr lang="en-US" sz="1000" dirty="0"/>
          </a:p>
        </p:txBody>
      </p:sp>
      <p:sp>
        <p:nvSpPr>
          <p:cNvPr id="29" name="Text 27"/>
          <p:cNvSpPr/>
          <p:nvPr/>
        </p:nvSpPr>
        <p:spPr>
          <a:xfrm>
            <a:off x="5715000" y="1993392"/>
            <a:ext cx="9144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HIGH</a:t>
            </a:r>
            <a:endParaRPr lang="en-US" sz="900" dirty="0"/>
          </a:p>
        </p:txBody>
      </p:sp>
      <p:sp>
        <p:nvSpPr>
          <p:cNvPr id="30" name="Text 28"/>
          <p:cNvSpPr/>
          <p:nvPr/>
        </p:nvSpPr>
        <p:spPr>
          <a:xfrm>
            <a:off x="6812280" y="1993392"/>
            <a:ext cx="731520" cy="256032"/>
          </a:xfrm>
          <a:prstGeom prst="rect">
            <a:avLst/>
          </a:prstGeom>
          <a:noFill/>
          <a:ln/>
        </p:spPr>
        <p:txBody>
          <a:bodyPr wrap="square" lIns="0" tIns="0" rIns="0" bIns="0" rtlCol="0" anchor="ctr"/>
          <a:lstStyle/>
          <a:p>
            <a:pPr indent="0" marL="0">
              <a:buNone/>
            </a:pPr>
            <a:r>
              <a:rPr lang="en-US" sz="1300" b="1" dirty="0">
                <a:solidFill>
                  <a:srgbClr val="059669"/>
                </a:solidFill>
                <a:latin typeface="Calibri" pitchFamily="34" charset="0"/>
                <a:ea typeface="Calibri" pitchFamily="34" charset="-122"/>
                <a:cs typeface="Calibri" pitchFamily="34" charset="-120"/>
              </a:rPr>
              <a:t>79%</a:t>
            </a:r>
            <a:endParaRPr lang="en-US" sz="1300" dirty="0"/>
          </a:p>
        </p:txBody>
      </p:sp>
      <p:sp>
        <p:nvSpPr>
          <p:cNvPr id="31" name="Shape 29"/>
          <p:cNvSpPr/>
          <p:nvPr/>
        </p:nvSpPr>
        <p:spPr>
          <a:xfrm>
            <a:off x="7790688" y="2002536"/>
            <a:ext cx="1097280" cy="228600"/>
          </a:xfrm>
          <a:prstGeom prst="rect">
            <a:avLst/>
          </a:prstGeom>
          <a:solidFill>
            <a:srgbClr val="1C2230"/>
          </a:solidFill>
          <a:ln w="6350">
            <a:solidFill>
              <a:srgbClr val="059669"/>
            </a:solidFill>
            <a:prstDash val="solid"/>
          </a:ln>
        </p:spPr>
      </p:sp>
      <p:sp>
        <p:nvSpPr>
          <p:cNvPr id="32" name="Text 30"/>
          <p:cNvSpPr/>
          <p:nvPr/>
        </p:nvSpPr>
        <p:spPr>
          <a:xfrm>
            <a:off x="7790688" y="2002536"/>
            <a:ext cx="1097280" cy="228600"/>
          </a:xfrm>
          <a:prstGeom prst="rect">
            <a:avLst/>
          </a:prstGeom>
          <a:noFill/>
          <a:ln/>
        </p:spPr>
        <p:txBody>
          <a:bodyPr wrap="square" lIns="0" tIns="0" rIns="0" bIns="0" rtlCol="0" anchor="ctr"/>
          <a:lstStyle/>
          <a:p>
            <a:pPr algn="ctr" indent="0" marL="0">
              <a:buNone/>
            </a:pPr>
            <a:r>
              <a:rPr lang="en-US" sz="800" b="1" dirty="0">
                <a:solidFill>
                  <a:srgbClr val="059669"/>
                </a:solidFill>
                <a:latin typeface="Calibri" pitchFamily="34" charset="0"/>
                <a:ea typeface="Calibri" pitchFamily="34" charset="-122"/>
                <a:cs typeface="Calibri" pitchFamily="34" charset="-120"/>
              </a:rPr>
              <a:t>HIGH</a:t>
            </a:r>
            <a:endParaRPr lang="en-US" sz="800" dirty="0"/>
          </a:p>
        </p:txBody>
      </p:sp>
      <p:sp>
        <p:nvSpPr>
          <p:cNvPr id="33" name="Shape 31"/>
          <p:cNvSpPr/>
          <p:nvPr/>
        </p:nvSpPr>
        <p:spPr>
          <a:xfrm>
            <a:off x="457200" y="2432304"/>
            <a:ext cx="8229600" cy="493776"/>
          </a:xfrm>
          <a:prstGeom prst="rect">
            <a:avLst/>
          </a:prstGeom>
          <a:solidFill>
            <a:srgbClr val="161B22"/>
          </a:solidFill>
          <a:ln w="6350">
            <a:solidFill>
              <a:srgbClr val="21262D"/>
            </a:solidFill>
            <a:prstDash val="solid"/>
          </a:ln>
        </p:spPr>
      </p:sp>
      <p:sp>
        <p:nvSpPr>
          <p:cNvPr id="34" name="Text 32"/>
          <p:cNvSpPr/>
          <p:nvPr/>
        </p:nvSpPr>
        <p:spPr>
          <a:xfrm>
            <a:off x="530352" y="2560320"/>
            <a:ext cx="146304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Acetic Acid</a:t>
            </a:r>
            <a:endParaRPr lang="en-US" sz="1000" dirty="0"/>
          </a:p>
        </p:txBody>
      </p:sp>
      <p:sp>
        <p:nvSpPr>
          <p:cNvPr id="35" name="Text 33"/>
          <p:cNvSpPr/>
          <p:nvPr/>
        </p:nvSpPr>
        <p:spPr>
          <a:xfrm>
            <a:off x="2057400" y="2560320"/>
            <a:ext cx="1005840" cy="256032"/>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11.8%</a:t>
            </a:r>
            <a:endParaRPr lang="en-US" sz="1100" dirty="0"/>
          </a:p>
        </p:txBody>
      </p:sp>
      <p:sp>
        <p:nvSpPr>
          <p:cNvPr id="36" name="Shape 34"/>
          <p:cNvSpPr/>
          <p:nvPr/>
        </p:nvSpPr>
        <p:spPr>
          <a:xfrm>
            <a:off x="3218688" y="2569464"/>
            <a:ext cx="1097280" cy="228600"/>
          </a:xfrm>
          <a:prstGeom prst="rect">
            <a:avLst/>
          </a:prstGeom>
          <a:solidFill>
            <a:srgbClr val="1C2230"/>
          </a:solidFill>
          <a:ln w="6350">
            <a:solidFill>
              <a:srgbClr val="14B8A6"/>
            </a:solidFill>
            <a:prstDash val="solid"/>
          </a:ln>
        </p:spPr>
      </p:sp>
      <p:sp>
        <p:nvSpPr>
          <p:cNvPr id="37" name="Text 35"/>
          <p:cNvSpPr/>
          <p:nvPr/>
        </p:nvSpPr>
        <p:spPr>
          <a:xfrm>
            <a:off x="3218688" y="2569464"/>
            <a:ext cx="1097280" cy="228600"/>
          </a:xfrm>
          <a:prstGeom prst="rect">
            <a:avLst/>
          </a:prstGeom>
          <a:noFill/>
          <a:ln/>
        </p:spPr>
        <p:txBody>
          <a:bodyPr wrap="square" lIns="0" tIns="0" rIns="0" bIns="0" rtlCol="0" anchor="ctr"/>
          <a:lstStyle/>
          <a:p>
            <a:pPr algn="ctr" indent="0" marL="0">
              <a:buNone/>
            </a:pPr>
            <a:r>
              <a:rPr lang="en-US" sz="800" b="1" dirty="0">
                <a:solidFill>
                  <a:srgbClr val="14B8A6"/>
                </a:solidFill>
                <a:latin typeface="Calibri" pitchFamily="34" charset="0"/>
                <a:ea typeface="Calibri" pitchFamily="34" charset="-122"/>
                <a:cs typeface="Calibri" pitchFamily="34" charset="-120"/>
              </a:rPr>
              <a:t>GOOD</a:t>
            </a:r>
            <a:endParaRPr lang="en-US" sz="800" dirty="0"/>
          </a:p>
        </p:txBody>
      </p:sp>
      <p:sp>
        <p:nvSpPr>
          <p:cNvPr id="38" name="Text 36"/>
          <p:cNvSpPr/>
          <p:nvPr/>
        </p:nvSpPr>
        <p:spPr>
          <a:xfrm>
            <a:off x="4617720" y="2560320"/>
            <a:ext cx="914400" cy="256032"/>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75.0%</a:t>
            </a:r>
            <a:endParaRPr lang="en-US" sz="1000" dirty="0"/>
          </a:p>
        </p:txBody>
      </p:sp>
      <p:sp>
        <p:nvSpPr>
          <p:cNvPr id="39" name="Text 37"/>
          <p:cNvSpPr/>
          <p:nvPr/>
        </p:nvSpPr>
        <p:spPr>
          <a:xfrm>
            <a:off x="5715000" y="2560320"/>
            <a:ext cx="9144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HIGH</a:t>
            </a:r>
            <a:endParaRPr lang="en-US" sz="900" dirty="0"/>
          </a:p>
        </p:txBody>
      </p:sp>
      <p:sp>
        <p:nvSpPr>
          <p:cNvPr id="40" name="Text 38"/>
          <p:cNvSpPr/>
          <p:nvPr/>
        </p:nvSpPr>
        <p:spPr>
          <a:xfrm>
            <a:off x="6812280" y="2560320"/>
            <a:ext cx="731520" cy="256032"/>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64%</a:t>
            </a:r>
            <a:endParaRPr lang="en-US" sz="1300" dirty="0"/>
          </a:p>
        </p:txBody>
      </p:sp>
      <p:sp>
        <p:nvSpPr>
          <p:cNvPr id="41" name="Shape 39"/>
          <p:cNvSpPr/>
          <p:nvPr/>
        </p:nvSpPr>
        <p:spPr>
          <a:xfrm>
            <a:off x="7790688" y="2569464"/>
            <a:ext cx="1097280" cy="228600"/>
          </a:xfrm>
          <a:prstGeom prst="rect">
            <a:avLst/>
          </a:prstGeom>
          <a:solidFill>
            <a:srgbClr val="1C2230"/>
          </a:solidFill>
          <a:ln w="6350">
            <a:solidFill>
              <a:srgbClr val="F59E0B"/>
            </a:solidFill>
            <a:prstDash val="solid"/>
          </a:ln>
        </p:spPr>
      </p:sp>
      <p:sp>
        <p:nvSpPr>
          <p:cNvPr id="42" name="Text 40"/>
          <p:cNvSpPr/>
          <p:nvPr/>
        </p:nvSpPr>
        <p:spPr>
          <a:xfrm>
            <a:off x="7790688" y="2569464"/>
            <a:ext cx="1097280" cy="22860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MODERATE</a:t>
            </a:r>
            <a:endParaRPr lang="en-US" sz="800" dirty="0"/>
          </a:p>
        </p:txBody>
      </p:sp>
      <p:sp>
        <p:nvSpPr>
          <p:cNvPr id="43" name="Shape 41"/>
          <p:cNvSpPr/>
          <p:nvPr/>
        </p:nvSpPr>
        <p:spPr>
          <a:xfrm>
            <a:off x="457200" y="2999232"/>
            <a:ext cx="8229600" cy="493776"/>
          </a:xfrm>
          <a:prstGeom prst="rect">
            <a:avLst/>
          </a:prstGeom>
          <a:solidFill>
            <a:srgbClr val="0D1117"/>
          </a:solidFill>
          <a:ln w="6350">
            <a:solidFill>
              <a:srgbClr val="21262D"/>
            </a:solidFill>
            <a:prstDash val="solid"/>
          </a:ln>
        </p:spPr>
      </p:sp>
      <p:sp>
        <p:nvSpPr>
          <p:cNvPr id="44" name="Text 42"/>
          <p:cNvSpPr/>
          <p:nvPr/>
        </p:nvSpPr>
        <p:spPr>
          <a:xfrm>
            <a:off x="530352" y="3127248"/>
            <a:ext cx="146304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Soda Ash</a:t>
            </a:r>
            <a:endParaRPr lang="en-US" sz="1000" dirty="0"/>
          </a:p>
        </p:txBody>
      </p:sp>
      <p:sp>
        <p:nvSpPr>
          <p:cNvPr id="45" name="Text 43"/>
          <p:cNvSpPr/>
          <p:nvPr/>
        </p:nvSpPr>
        <p:spPr>
          <a:xfrm>
            <a:off x="2057400" y="3127248"/>
            <a:ext cx="1005840" cy="256032"/>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9.5%</a:t>
            </a:r>
            <a:endParaRPr lang="en-US" sz="1100" dirty="0"/>
          </a:p>
        </p:txBody>
      </p:sp>
      <p:sp>
        <p:nvSpPr>
          <p:cNvPr id="46" name="Shape 44"/>
          <p:cNvSpPr/>
          <p:nvPr/>
        </p:nvSpPr>
        <p:spPr>
          <a:xfrm>
            <a:off x="3218688" y="3136392"/>
            <a:ext cx="1097280" cy="228600"/>
          </a:xfrm>
          <a:prstGeom prst="rect">
            <a:avLst/>
          </a:prstGeom>
          <a:solidFill>
            <a:srgbClr val="1C2230"/>
          </a:solidFill>
          <a:ln w="6350">
            <a:solidFill>
              <a:srgbClr val="14B8A6"/>
            </a:solidFill>
            <a:prstDash val="solid"/>
          </a:ln>
        </p:spPr>
      </p:sp>
      <p:sp>
        <p:nvSpPr>
          <p:cNvPr id="47" name="Text 45"/>
          <p:cNvSpPr/>
          <p:nvPr/>
        </p:nvSpPr>
        <p:spPr>
          <a:xfrm>
            <a:off x="3218688" y="3136392"/>
            <a:ext cx="1097280" cy="228600"/>
          </a:xfrm>
          <a:prstGeom prst="rect">
            <a:avLst/>
          </a:prstGeom>
          <a:noFill/>
          <a:ln/>
        </p:spPr>
        <p:txBody>
          <a:bodyPr wrap="square" lIns="0" tIns="0" rIns="0" bIns="0" rtlCol="0" anchor="ctr"/>
          <a:lstStyle/>
          <a:p>
            <a:pPr algn="ctr" indent="0" marL="0">
              <a:buNone/>
            </a:pPr>
            <a:r>
              <a:rPr lang="en-US" sz="800" b="1" dirty="0">
                <a:solidFill>
                  <a:srgbClr val="14B8A6"/>
                </a:solidFill>
                <a:latin typeface="Calibri" pitchFamily="34" charset="0"/>
                <a:ea typeface="Calibri" pitchFamily="34" charset="-122"/>
                <a:cs typeface="Calibri" pitchFamily="34" charset="-120"/>
              </a:rPr>
              <a:t>GOOD</a:t>
            </a:r>
            <a:endParaRPr lang="en-US" sz="800" dirty="0"/>
          </a:p>
        </p:txBody>
      </p:sp>
      <p:sp>
        <p:nvSpPr>
          <p:cNvPr id="48" name="Text 46"/>
          <p:cNvSpPr/>
          <p:nvPr/>
        </p:nvSpPr>
        <p:spPr>
          <a:xfrm>
            <a:off x="4617720" y="3127248"/>
            <a:ext cx="914400" cy="256032"/>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70.8%</a:t>
            </a:r>
            <a:endParaRPr lang="en-US" sz="1000" dirty="0"/>
          </a:p>
        </p:txBody>
      </p:sp>
      <p:sp>
        <p:nvSpPr>
          <p:cNvPr id="49" name="Text 47"/>
          <p:cNvSpPr/>
          <p:nvPr/>
        </p:nvSpPr>
        <p:spPr>
          <a:xfrm>
            <a:off x="5715000" y="3127248"/>
            <a:ext cx="9144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MODERATE</a:t>
            </a:r>
            <a:endParaRPr lang="en-US" sz="900" dirty="0"/>
          </a:p>
        </p:txBody>
      </p:sp>
      <p:sp>
        <p:nvSpPr>
          <p:cNvPr id="50" name="Text 48"/>
          <p:cNvSpPr/>
          <p:nvPr/>
        </p:nvSpPr>
        <p:spPr>
          <a:xfrm>
            <a:off x="6812280" y="3127248"/>
            <a:ext cx="731520" cy="256032"/>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68%</a:t>
            </a:r>
            <a:endParaRPr lang="en-US" sz="1300" dirty="0"/>
          </a:p>
        </p:txBody>
      </p:sp>
      <p:sp>
        <p:nvSpPr>
          <p:cNvPr id="51" name="Shape 49"/>
          <p:cNvSpPr/>
          <p:nvPr/>
        </p:nvSpPr>
        <p:spPr>
          <a:xfrm>
            <a:off x="7790688" y="3136392"/>
            <a:ext cx="1097280" cy="228600"/>
          </a:xfrm>
          <a:prstGeom prst="rect">
            <a:avLst/>
          </a:prstGeom>
          <a:solidFill>
            <a:srgbClr val="1C2230"/>
          </a:solidFill>
          <a:ln w="6350">
            <a:solidFill>
              <a:srgbClr val="F59E0B"/>
            </a:solidFill>
            <a:prstDash val="solid"/>
          </a:ln>
        </p:spPr>
      </p:sp>
      <p:sp>
        <p:nvSpPr>
          <p:cNvPr id="52" name="Text 50"/>
          <p:cNvSpPr/>
          <p:nvPr/>
        </p:nvSpPr>
        <p:spPr>
          <a:xfrm>
            <a:off x="7790688" y="3136392"/>
            <a:ext cx="1097280" cy="22860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MODERATE</a:t>
            </a:r>
            <a:endParaRPr lang="en-US" sz="800" dirty="0"/>
          </a:p>
        </p:txBody>
      </p:sp>
      <p:sp>
        <p:nvSpPr>
          <p:cNvPr id="53" name="Shape 51"/>
          <p:cNvSpPr/>
          <p:nvPr/>
        </p:nvSpPr>
        <p:spPr>
          <a:xfrm>
            <a:off x="457200" y="3566160"/>
            <a:ext cx="8229600" cy="493776"/>
          </a:xfrm>
          <a:prstGeom prst="rect">
            <a:avLst/>
          </a:prstGeom>
          <a:solidFill>
            <a:srgbClr val="161B22"/>
          </a:solidFill>
          <a:ln w="6350">
            <a:solidFill>
              <a:srgbClr val="21262D"/>
            </a:solidFill>
            <a:prstDash val="solid"/>
          </a:ln>
        </p:spPr>
      </p:sp>
      <p:sp>
        <p:nvSpPr>
          <p:cNvPr id="54" name="Text 52"/>
          <p:cNvSpPr/>
          <p:nvPr/>
        </p:nvSpPr>
        <p:spPr>
          <a:xfrm>
            <a:off x="530352" y="3694176"/>
            <a:ext cx="146304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Polysilicon</a:t>
            </a:r>
            <a:endParaRPr lang="en-US" sz="1000" dirty="0"/>
          </a:p>
        </p:txBody>
      </p:sp>
      <p:sp>
        <p:nvSpPr>
          <p:cNvPr id="55" name="Text 53"/>
          <p:cNvSpPr/>
          <p:nvPr/>
        </p:nvSpPr>
        <p:spPr>
          <a:xfrm>
            <a:off x="2057400" y="3694176"/>
            <a:ext cx="1005840" cy="256032"/>
          </a:xfrm>
          <a:prstGeom prst="rect">
            <a:avLst/>
          </a:prstGeom>
          <a:noFill/>
          <a:ln/>
        </p:spPr>
        <p:txBody>
          <a:bodyPr wrap="square" lIns="0" tIns="0" rIns="0" bIns="0" rtlCol="0" anchor="ctr"/>
          <a:lstStyle/>
          <a:p>
            <a:pPr indent="0" marL="0">
              <a:buNone/>
            </a:pPr>
            <a:r>
              <a:rPr lang="en-US" sz="1100" b="1" dirty="0">
                <a:solidFill>
                  <a:srgbClr val="F59E0B"/>
                </a:solidFill>
                <a:latin typeface="Consolas" pitchFamily="34" charset="0"/>
                <a:ea typeface="Consolas" pitchFamily="34" charset="-122"/>
                <a:cs typeface="Consolas" pitchFamily="34" charset="-120"/>
              </a:rPr>
              <a:t>28.4%</a:t>
            </a:r>
            <a:endParaRPr lang="en-US" sz="1100" dirty="0"/>
          </a:p>
        </p:txBody>
      </p:sp>
      <p:sp>
        <p:nvSpPr>
          <p:cNvPr id="56" name="Shape 54"/>
          <p:cNvSpPr/>
          <p:nvPr/>
        </p:nvSpPr>
        <p:spPr>
          <a:xfrm>
            <a:off x="3218688" y="3703320"/>
            <a:ext cx="1097280" cy="228600"/>
          </a:xfrm>
          <a:prstGeom prst="rect">
            <a:avLst/>
          </a:prstGeom>
          <a:solidFill>
            <a:srgbClr val="1C2230"/>
          </a:solidFill>
          <a:ln w="6350">
            <a:solidFill>
              <a:srgbClr val="B91C1C"/>
            </a:solidFill>
            <a:prstDash val="solid"/>
          </a:ln>
        </p:spPr>
      </p:sp>
      <p:sp>
        <p:nvSpPr>
          <p:cNvPr id="57" name="Text 55"/>
          <p:cNvSpPr/>
          <p:nvPr/>
        </p:nvSpPr>
        <p:spPr>
          <a:xfrm>
            <a:off x="3218688" y="3703320"/>
            <a:ext cx="1097280" cy="228600"/>
          </a:xfrm>
          <a:prstGeom prst="rect">
            <a:avLst/>
          </a:prstGeom>
          <a:noFill/>
          <a:ln/>
        </p:spPr>
        <p:txBody>
          <a:bodyPr wrap="square" lIns="0" tIns="0" rIns="0" bIns="0" rtlCol="0" anchor="ctr"/>
          <a:lstStyle/>
          <a:p>
            <a:pPr algn="ctr" indent="0" marL="0">
              <a:buNone/>
            </a:pPr>
            <a:r>
              <a:rPr lang="en-US" sz="800" b="1" dirty="0">
                <a:solidFill>
                  <a:srgbClr val="B91C1C"/>
                </a:solidFill>
                <a:latin typeface="Calibri" pitchFamily="34" charset="0"/>
                <a:ea typeface="Calibri" pitchFamily="34" charset="-122"/>
                <a:cs typeface="Calibri" pitchFamily="34" charset="-120"/>
              </a:rPr>
              <a:t>POOR</a:t>
            </a:r>
            <a:endParaRPr lang="en-US" sz="800" dirty="0"/>
          </a:p>
        </p:txBody>
      </p:sp>
      <p:sp>
        <p:nvSpPr>
          <p:cNvPr id="58" name="Text 56"/>
          <p:cNvSpPr/>
          <p:nvPr/>
        </p:nvSpPr>
        <p:spPr>
          <a:xfrm>
            <a:off x="4617720" y="3694176"/>
            <a:ext cx="914400" cy="256032"/>
          </a:xfrm>
          <a:prstGeom prst="rect">
            <a:avLst/>
          </a:prstGeom>
          <a:noFill/>
          <a:ln/>
        </p:spPr>
        <p:txBody>
          <a:bodyPr wrap="square" lIns="0" tIns="0" rIns="0" bIns="0" rtlCol="0" anchor="ctr"/>
          <a:lstStyle/>
          <a:p>
            <a:pPr indent="0" marL="0">
              <a:buNone/>
            </a:pPr>
            <a:r>
              <a:rPr lang="en-US" sz="1000" dirty="0">
                <a:solidFill>
                  <a:srgbClr val="F8FAFC"/>
                </a:solidFill>
                <a:latin typeface="Calibri" pitchFamily="34" charset="0"/>
                <a:ea typeface="Calibri" pitchFamily="34" charset="-122"/>
                <a:cs typeface="Calibri" pitchFamily="34" charset="-120"/>
              </a:rPr>
              <a:t>58.3%</a:t>
            </a:r>
            <a:endParaRPr lang="en-US" sz="1000" dirty="0"/>
          </a:p>
        </p:txBody>
      </p:sp>
      <p:sp>
        <p:nvSpPr>
          <p:cNvPr id="59" name="Text 57"/>
          <p:cNvSpPr/>
          <p:nvPr/>
        </p:nvSpPr>
        <p:spPr>
          <a:xfrm>
            <a:off x="5715000" y="3694176"/>
            <a:ext cx="91440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EXTREME</a:t>
            </a:r>
            <a:endParaRPr lang="en-US" sz="900" dirty="0"/>
          </a:p>
        </p:txBody>
      </p:sp>
      <p:sp>
        <p:nvSpPr>
          <p:cNvPr id="60" name="Text 58"/>
          <p:cNvSpPr/>
          <p:nvPr/>
        </p:nvSpPr>
        <p:spPr>
          <a:xfrm>
            <a:off x="6812280" y="3694176"/>
            <a:ext cx="731520" cy="256032"/>
          </a:xfrm>
          <a:prstGeom prst="rect">
            <a:avLst/>
          </a:prstGeom>
          <a:noFill/>
          <a:ln/>
        </p:spPr>
        <p:txBody>
          <a:bodyPr wrap="square" lIns="0" tIns="0" rIns="0" bIns="0"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51%</a:t>
            </a:r>
            <a:endParaRPr lang="en-US" sz="1300" dirty="0"/>
          </a:p>
        </p:txBody>
      </p:sp>
      <p:sp>
        <p:nvSpPr>
          <p:cNvPr id="61" name="Shape 59"/>
          <p:cNvSpPr/>
          <p:nvPr/>
        </p:nvSpPr>
        <p:spPr>
          <a:xfrm>
            <a:off x="7790688" y="3703320"/>
            <a:ext cx="1097280" cy="228600"/>
          </a:xfrm>
          <a:prstGeom prst="rect">
            <a:avLst/>
          </a:prstGeom>
          <a:solidFill>
            <a:srgbClr val="1C2230"/>
          </a:solidFill>
          <a:ln w="6350">
            <a:solidFill>
              <a:srgbClr val="64748B"/>
            </a:solidFill>
            <a:prstDash val="solid"/>
          </a:ln>
        </p:spPr>
      </p:sp>
      <p:sp>
        <p:nvSpPr>
          <p:cNvPr id="62" name="Text 60"/>
          <p:cNvSpPr/>
          <p:nvPr/>
        </p:nvSpPr>
        <p:spPr>
          <a:xfrm>
            <a:off x="7790688" y="3703320"/>
            <a:ext cx="1097280" cy="228600"/>
          </a:xfrm>
          <a:prstGeom prst="rect">
            <a:avLst/>
          </a:prstGeom>
          <a:noFill/>
          <a:ln/>
        </p:spPr>
        <p:txBody>
          <a:bodyPr wrap="square" lIns="0" tIns="0" rIns="0" bIns="0" rtlCol="0" anchor="ctr"/>
          <a:lstStyle/>
          <a:p>
            <a:pPr algn="ctr" indent="0" marL="0">
              <a:buNone/>
            </a:pPr>
            <a:r>
              <a:rPr lang="en-US" sz="800" b="1" dirty="0">
                <a:solidFill>
                  <a:srgbClr val="64748B"/>
                </a:solidFill>
                <a:latin typeface="Calibri" pitchFamily="34" charset="0"/>
                <a:ea typeface="Calibri" pitchFamily="34" charset="-122"/>
                <a:cs typeface="Calibri" pitchFamily="34" charset="-120"/>
              </a:rPr>
              <a:t>LOW</a:t>
            </a:r>
            <a:endParaRPr lang="en-US" sz="800" dirty="0"/>
          </a:p>
        </p:txBody>
      </p:sp>
      <p:sp>
        <p:nvSpPr>
          <p:cNvPr id="63" name="Shape 61"/>
          <p:cNvSpPr/>
          <p:nvPr/>
        </p:nvSpPr>
        <p:spPr>
          <a:xfrm>
            <a:off x="457200" y="4645152"/>
            <a:ext cx="3931920" cy="438912"/>
          </a:xfrm>
          <a:prstGeom prst="rect">
            <a:avLst/>
          </a:prstGeom>
          <a:solidFill>
            <a:srgbClr val="12120C"/>
          </a:solidFill>
          <a:ln w="9525">
            <a:solidFill>
              <a:srgbClr val="059669"/>
            </a:solidFill>
            <a:prstDash val="solid"/>
          </a:ln>
        </p:spPr>
      </p:sp>
      <p:sp>
        <p:nvSpPr>
          <p:cNvPr id="64" name="Text 62"/>
          <p:cNvSpPr/>
          <p:nvPr/>
        </p:nvSpPr>
        <p:spPr>
          <a:xfrm>
            <a:off x="594360" y="4645152"/>
            <a:ext cx="3657600" cy="438912"/>
          </a:xfrm>
          <a:prstGeom prst="rect">
            <a:avLst/>
          </a:prstGeom>
          <a:noFill/>
          <a:ln/>
        </p:spPr>
        <p:txBody>
          <a:bodyPr wrap="square" lIns="0" tIns="0" rIns="0" bIns="0" rtlCol="0" anchor="ctr"/>
          <a:lstStyle/>
          <a:p>
            <a:pPr indent="0" marL="0">
              <a:buNone/>
            </a:pPr>
            <a:r>
              <a:rPr lang="en-US" sz="850" dirty="0">
                <a:solidFill>
                  <a:srgbClr val="059669"/>
                </a:solidFill>
                <a:latin typeface="Calibri" pitchFamily="34" charset="0"/>
                <a:ea typeface="Calibri" pitchFamily="34" charset="-122"/>
                <a:cs typeface="Calibri" pitchFamily="34" charset="-120"/>
              </a:rPr>
              <a:t>Methanol: EXCELLENT grade (MAPE 6.2%) — primary source data, reliable signal. Use for procurement decisions.</a:t>
            </a:r>
            <a:endParaRPr lang="en-US" sz="850" dirty="0"/>
          </a:p>
        </p:txBody>
      </p:sp>
      <p:sp>
        <p:nvSpPr>
          <p:cNvPr id="65" name="Shape 63"/>
          <p:cNvSpPr/>
          <p:nvPr/>
        </p:nvSpPr>
        <p:spPr>
          <a:xfrm>
            <a:off x="4663440" y="4645152"/>
            <a:ext cx="3931920" cy="438912"/>
          </a:xfrm>
          <a:prstGeom prst="rect">
            <a:avLst/>
          </a:prstGeom>
          <a:solidFill>
            <a:srgbClr val="12120C"/>
          </a:solidFill>
          <a:ln w="9525">
            <a:solidFill>
              <a:srgbClr val="B91C1C"/>
            </a:solidFill>
            <a:prstDash val="solid"/>
          </a:ln>
        </p:spPr>
      </p:sp>
      <p:sp>
        <p:nvSpPr>
          <p:cNvPr id="66" name="Text 64"/>
          <p:cNvSpPr/>
          <p:nvPr/>
        </p:nvSpPr>
        <p:spPr>
          <a:xfrm>
            <a:off x="4800600" y="4645152"/>
            <a:ext cx="3657600" cy="438912"/>
          </a:xfrm>
          <a:prstGeom prst="rect">
            <a:avLst/>
          </a:prstGeom>
          <a:noFill/>
          <a:ln/>
        </p:spPr>
        <p:txBody>
          <a:bodyPr wrap="square" lIns="0" tIns="0" rIns="0" bIns="0" rtlCol="0" anchor="ctr"/>
          <a:lstStyle/>
          <a:p>
            <a:pPr indent="0" marL="0">
              <a:buNone/>
            </a:pPr>
            <a:r>
              <a:rPr lang="en-US" sz="850" dirty="0">
                <a:solidFill>
                  <a:srgbClr val="B91C1C"/>
                </a:solidFill>
                <a:latin typeface="Calibri" pitchFamily="34" charset="0"/>
                <a:ea typeface="Calibri" pitchFamily="34" charset="-122"/>
                <a:cs typeface="Calibri" pitchFamily="34" charset="-120"/>
              </a:rPr>
              <a:t>Polysilicon: POOR grade (MAPE 28.4%) — 2022 structural break corrupts model. Treat as directional indicator only.</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SCENARIO INTELLIGENCE</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Enterprise Stress Testing — Three Geopolitical and Market Scenarios</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Shape 3"/>
          <p:cNvSpPr/>
          <p:nvPr/>
        </p:nvSpPr>
        <p:spPr>
          <a:xfrm>
            <a:off x="457200" y="1005840"/>
            <a:ext cx="2715768" cy="4059936"/>
          </a:xfrm>
          <a:prstGeom prst="rect">
            <a:avLst/>
          </a:prstGeom>
          <a:solidFill>
            <a:srgbClr val="161B22"/>
          </a:solidFill>
          <a:ln w="9525">
            <a:solidFill>
              <a:srgbClr val="B91C1C"/>
            </a:solidFill>
            <a:prstDash val="solid"/>
          </a:ln>
        </p:spPr>
      </p:sp>
      <p:sp>
        <p:nvSpPr>
          <p:cNvPr id="6" name="Shape 4"/>
          <p:cNvSpPr/>
          <p:nvPr/>
        </p:nvSpPr>
        <p:spPr>
          <a:xfrm>
            <a:off x="457200" y="1005840"/>
            <a:ext cx="2715768" cy="54864"/>
          </a:xfrm>
          <a:prstGeom prst="rect">
            <a:avLst/>
          </a:prstGeom>
          <a:solidFill>
            <a:srgbClr val="B91C1C"/>
          </a:solidFill>
          <a:ln w="12700">
            <a:solidFill>
              <a:srgbClr val="B91C1C"/>
            </a:solidFill>
            <a:prstDash val="solid"/>
          </a:ln>
        </p:spPr>
      </p:sp>
      <p:sp>
        <p:nvSpPr>
          <p:cNvPr id="7" name="Text 5"/>
          <p:cNvSpPr/>
          <p:nvPr/>
        </p:nvSpPr>
        <p:spPr>
          <a:xfrm>
            <a:off x="566928" y="1115568"/>
            <a:ext cx="457200" cy="292608"/>
          </a:xfrm>
          <a:prstGeom prst="rect">
            <a:avLst/>
          </a:prstGeom>
          <a:noFill/>
          <a:ln/>
        </p:spPr>
        <p:txBody>
          <a:bodyPr wrap="square" lIns="0" tIns="0" rIns="0" bIns="0" rtlCol="0" anchor="ctr"/>
          <a:lstStyle/>
          <a:p>
            <a:pPr indent="0" marL="0">
              <a:buNone/>
            </a:pPr>
            <a:r>
              <a:rPr lang="en-US" sz="1600" b="1" dirty="0">
                <a:solidFill>
                  <a:srgbClr val="B91C1C"/>
                </a:solidFill>
                <a:latin typeface="Calibri" pitchFamily="34" charset="0"/>
                <a:ea typeface="Calibri" pitchFamily="34" charset="-122"/>
                <a:cs typeface="Calibri" pitchFamily="34" charset="-120"/>
              </a:rPr>
              <a:t>S1</a:t>
            </a:r>
            <a:endParaRPr lang="en-US" sz="1600" dirty="0"/>
          </a:p>
        </p:txBody>
      </p:sp>
      <p:sp>
        <p:nvSpPr>
          <p:cNvPr id="8" name="Text 6"/>
          <p:cNvSpPr/>
          <p:nvPr/>
        </p:nvSpPr>
        <p:spPr>
          <a:xfrm>
            <a:off x="1024128" y="1115568"/>
            <a:ext cx="2011680" cy="18288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LNG Surge</a:t>
            </a:r>
            <a:endParaRPr lang="en-US" sz="1100" dirty="0"/>
          </a:p>
        </p:txBody>
      </p:sp>
      <p:sp>
        <p:nvSpPr>
          <p:cNvPr id="9" name="Text 7"/>
          <p:cNvSpPr/>
          <p:nvPr/>
        </p:nvSpPr>
        <p:spPr>
          <a:xfrm>
            <a:off x="1024128" y="1307592"/>
            <a:ext cx="201168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Hormuz Escalation</a:t>
            </a:r>
            <a:endParaRPr lang="en-US" sz="850" dirty="0"/>
          </a:p>
        </p:txBody>
      </p:sp>
      <p:sp>
        <p:nvSpPr>
          <p:cNvPr id="10" name="Shape 8"/>
          <p:cNvSpPr/>
          <p:nvPr/>
        </p:nvSpPr>
        <p:spPr>
          <a:xfrm>
            <a:off x="566928" y="1517904"/>
            <a:ext cx="2468880" cy="292608"/>
          </a:xfrm>
          <a:prstGeom prst="rect">
            <a:avLst/>
          </a:prstGeom>
          <a:solidFill>
            <a:srgbClr val="1C2230"/>
          </a:solidFill>
          <a:ln w="6350">
            <a:solidFill>
              <a:srgbClr val="B91C1C"/>
            </a:solidFill>
            <a:prstDash val="solid"/>
          </a:ln>
        </p:spPr>
      </p:sp>
      <p:sp>
        <p:nvSpPr>
          <p:cNvPr id="11" name="Text 9"/>
          <p:cNvSpPr/>
          <p:nvPr/>
        </p:nvSpPr>
        <p:spPr>
          <a:xfrm>
            <a:off x="612648" y="1517904"/>
            <a:ext cx="2377440" cy="292608"/>
          </a:xfrm>
          <a:prstGeom prst="rect">
            <a:avLst/>
          </a:prstGeom>
          <a:noFill/>
          <a:ln/>
        </p:spPr>
        <p:txBody>
          <a:bodyPr wrap="square" lIns="0" tIns="0" rIns="0" bIns="0" rtlCol="0" anchor="ctr"/>
          <a:lstStyle/>
          <a:p>
            <a:pPr indent="0" marL="0">
              <a:buNone/>
            </a:pPr>
            <a:r>
              <a:rPr lang="en-US" sz="800" dirty="0">
                <a:solidFill>
                  <a:srgbClr val="B91C1C"/>
                </a:solidFill>
                <a:latin typeface="Calibri" pitchFamily="34" charset="0"/>
                <a:ea typeface="Calibri" pitchFamily="34" charset="-122"/>
                <a:cs typeface="Calibri" pitchFamily="34" charset="-120"/>
              </a:rPr>
              <a:t>LNG +40% | Methanol +15% | Acetic Acid +10%</a:t>
            </a:r>
            <a:endParaRPr lang="en-US" sz="800" dirty="0"/>
          </a:p>
        </p:txBody>
      </p:sp>
      <p:sp>
        <p:nvSpPr>
          <p:cNvPr id="12" name="Shape 10"/>
          <p:cNvSpPr/>
          <p:nvPr/>
        </p:nvSpPr>
        <p:spPr>
          <a:xfrm>
            <a:off x="566928" y="1901952"/>
            <a:ext cx="2468880" cy="585216"/>
          </a:xfrm>
          <a:prstGeom prst="rect">
            <a:avLst/>
          </a:prstGeom>
          <a:solidFill>
            <a:srgbClr val="1C2230"/>
          </a:solidFill>
          <a:ln w="6350">
            <a:solidFill>
              <a:srgbClr val="21262D"/>
            </a:solidFill>
            <a:prstDash val="solid"/>
          </a:ln>
        </p:spPr>
      </p:sp>
      <p:sp>
        <p:nvSpPr>
          <p:cNvPr id="13" name="Text 11"/>
          <p:cNvSpPr/>
          <p:nvPr/>
        </p:nvSpPr>
        <p:spPr>
          <a:xfrm>
            <a:off x="640080" y="1956816"/>
            <a:ext cx="1828800" cy="219456"/>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LNG Japan</a:t>
            </a:r>
            <a:endParaRPr lang="en-US" sz="950" dirty="0"/>
          </a:p>
        </p:txBody>
      </p:sp>
      <p:sp>
        <p:nvSpPr>
          <p:cNvPr id="14" name="Text 12"/>
          <p:cNvSpPr/>
          <p:nvPr/>
        </p:nvSpPr>
        <p:spPr>
          <a:xfrm>
            <a:off x="640080" y="2212848"/>
            <a:ext cx="1463040" cy="201168"/>
          </a:xfrm>
          <a:prstGeom prst="rect">
            <a:avLst/>
          </a:prstGeom>
          <a:noFill/>
          <a:ln/>
        </p:spPr>
        <p:txBody>
          <a:bodyPr wrap="square" lIns="0" tIns="0" rIns="0" bIns="0" rtlCol="0" anchor="ctr"/>
          <a:lstStyle/>
          <a:p>
            <a:pPr indent="0" marL="0">
              <a:buNone/>
            </a:pPr>
            <a:r>
              <a:rPr lang="en-US" sz="850" dirty="0">
                <a:solidFill>
                  <a:srgbClr val="B91C1C"/>
                </a:solidFill>
                <a:latin typeface="Consolas" pitchFamily="34" charset="0"/>
                <a:ea typeface="Consolas" pitchFamily="34" charset="-122"/>
                <a:cs typeface="Consolas" pitchFamily="34" charset="-120"/>
              </a:rPr>
              <a:t>CIIP: 10.3  (+0.8)</a:t>
            </a:r>
            <a:endParaRPr lang="en-US" sz="850" dirty="0"/>
          </a:p>
        </p:txBody>
      </p:sp>
      <p:sp>
        <p:nvSpPr>
          <p:cNvPr id="15" name="Shape 13"/>
          <p:cNvSpPr/>
          <p:nvPr/>
        </p:nvSpPr>
        <p:spPr>
          <a:xfrm>
            <a:off x="2286000" y="2084832"/>
            <a:ext cx="640080" cy="219456"/>
          </a:xfrm>
          <a:prstGeom prst="rect">
            <a:avLst/>
          </a:prstGeom>
          <a:solidFill>
            <a:srgbClr val="3D0A0A"/>
          </a:solidFill>
          <a:ln w="6350">
            <a:solidFill>
              <a:srgbClr val="B91C1C"/>
            </a:solidFill>
            <a:prstDash val="solid"/>
          </a:ln>
        </p:spPr>
      </p:sp>
      <p:sp>
        <p:nvSpPr>
          <p:cNvPr id="16" name="Text 14"/>
          <p:cNvSpPr/>
          <p:nvPr/>
        </p:nvSpPr>
        <p:spPr>
          <a:xfrm>
            <a:off x="2286000" y="2084832"/>
            <a:ext cx="640080" cy="219456"/>
          </a:xfrm>
          <a:prstGeom prst="rect">
            <a:avLst/>
          </a:prstGeom>
          <a:noFill/>
          <a:ln/>
        </p:spPr>
        <p:txBody>
          <a:bodyPr wrap="square" lIns="0" tIns="0" rIns="0" bIns="0" rtlCol="0" anchor="ctr"/>
          <a:lstStyle/>
          <a:p>
            <a:pPr algn="ctr" indent="0" marL="0">
              <a:buNone/>
            </a:pPr>
            <a:r>
              <a:rPr lang="en-US" sz="650" b="1" dirty="0">
                <a:solidFill>
                  <a:srgbClr val="B91C1C"/>
                </a:solidFill>
                <a:latin typeface="Calibri" pitchFamily="34" charset="0"/>
                <a:ea typeface="Calibri" pitchFamily="34" charset="-122"/>
                <a:cs typeface="Calibri" pitchFamily="34" charset="-120"/>
              </a:rPr>
              <a:t>ESCALATES</a:t>
            </a:r>
            <a:endParaRPr lang="en-US" sz="650" dirty="0"/>
          </a:p>
        </p:txBody>
      </p:sp>
      <p:sp>
        <p:nvSpPr>
          <p:cNvPr id="17" name="Shape 15"/>
          <p:cNvSpPr/>
          <p:nvPr/>
        </p:nvSpPr>
        <p:spPr>
          <a:xfrm>
            <a:off x="566928" y="2560320"/>
            <a:ext cx="2468880" cy="585216"/>
          </a:xfrm>
          <a:prstGeom prst="rect">
            <a:avLst/>
          </a:prstGeom>
          <a:solidFill>
            <a:srgbClr val="1C2230"/>
          </a:solidFill>
          <a:ln w="6350">
            <a:solidFill>
              <a:srgbClr val="21262D"/>
            </a:solidFill>
            <a:prstDash val="solid"/>
          </a:ln>
        </p:spPr>
      </p:sp>
      <p:sp>
        <p:nvSpPr>
          <p:cNvPr id="18" name="Text 16"/>
          <p:cNvSpPr/>
          <p:nvPr/>
        </p:nvSpPr>
        <p:spPr>
          <a:xfrm>
            <a:off x="640080" y="2615184"/>
            <a:ext cx="1828800" cy="219456"/>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Methanol</a:t>
            </a:r>
            <a:endParaRPr lang="en-US" sz="950" dirty="0"/>
          </a:p>
        </p:txBody>
      </p:sp>
      <p:sp>
        <p:nvSpPr>
          <p:cNvPr id="19" name="Text 17"/>
          <p:cNvSpPr/>
          <p:nvPr/>
        </p:nvSpPr>
        <p:spPr>
          <a:xfrm>
            <a:off x="640080" y="2871216"/>
            <a:ext cx="1463040" cy="201168"/>
          </a:xfrm>
          <a:prstGeom prst="rect">
            <a:avLst/>
          </a:prstGeom>
          <a:noFill/>
          <a:ln/>
        </p:spPr>
        <p:txBody>
          <a:bodyPr wrap="square" lIns="0" tIns="0" rIns="0" bIns="0" rtlCol="0" anchor="ctr"/>
          <a:lstStyle/>
          <a:p>
            <a:pPr indent="0" marL="0">
              <a:buNone/>
            </a:pPr>
            <a:r>
              <a:rPr lang="en-US" sz="850" dirty="0">
                <a:solidFill>
                  <a:srgbClr val="B91C1C"/>
                </a:solidFill>
                <a:latin typeface="Consolas" pitchFamily="34" charset="0"/>
                <a:ea typeface="Consolas" pitchFamily="34" charset="-122"/>
                <a:cs typeface="Consolas" pitchFamily="34" charset="-120"/>
              </a:rPr>
              <a:t>CIIP: 8.0  (+0.5)</a:t>
            </a:r>
            <a:endParaRPr lang="en-US" sz="850" dirty="0"/>
          </a:p>
        </p:txBody>
      </p:sp>
      <p:sp>
        <p:nvSpPr>
          <p:cNvPr id="20" name="Shape 18"/>
          <p:cNvSpPr/>
          <p:nvPr/>
        </p:nvSpPr>
        <p:spPr>
          <a:xfrm>
            <a:off x="2286000" y="2743200"/>
            <a:ext cx="640080" cy="219456"/>
          </a:xfrm>
          <a:prstGeom prst="rect">
            <a:avLst/>
          </a:prstGeom>
          <a:solidFill>
            <a:srgbClr val="3D0A0A"/>
          </a:solidFill>
          <a:ln w="6350">
            <a:solidFill>
              <a:srgbClr val="B91C1C"/>
            </a:solidFill>
            <a:prstDash val="solid"/>
          </a:ln>
        </p:spPr>
      </p:sp>
      <p:sp>
        <p:nvSpPr>
          <p:cNvPr id="21" name="Text 19"/>
          <p:cNvSpPr/>
          <p:nvPr/>
        </p:nvSpPr>
        <p:spPr>
          <a:xfrm>
            <a:off x="2286000" y="2743200"/>
            <a:ext cx="640080" cy="219456"/>
          </a:xfrm>
          <a:prstGeom prst="rect">
            <a:avLst/>
          </a:prstGeom>
          <a:noFill/>
          <a:ln/>
        </p:spPr>
        <p:txBody>
          <a:bodyPr wrap="square" lIns="0" tIns="0" rIns="0" bIns="0" rtlCol="0" anchor="ctr"/>
          <a:lstStyle/>
          <a:p>
            <a:pPr algn="ctr" indent="0" marL="0">
              <a:buNone/>
            </a:pPr>
            <a:r>
              <a:rPr lang="en-US" sz="650" b="1" dirty="0">
                <a:solidFill>
                  <a:srgbClr val="B91C1C"/>
                </a:solidFill>
                <a:latin typeface="Calibri" pitchFamily="34" charset="0"/>
                <a:ea typeface="Calibri" pitchFamily="34" charset="-122"/>
                <a:cs typeface="Calibri" pitchFamily="34" charset="-120"/>
              </a:rPr>
              <a:t>ESCALATES</a:t>
            </a:r>
            <a:endParaRPr lang="en-US" sz="650" dirty="0"/>
          </a:p>
        </p:txBody>
      </p:sp>
      <p:sp>
        <p:nvSpPr>
          <p:cNvPr id="22" name="Shape 20"/>
          <p:cNvSpPr/>
          <p:nvPr/>
        </p:nvSpPr>
        <p:spPr>
          <a:xfrm>
            <a:off x="566928" y="3218688"/>
            <a:ext cx="2468880" cy="585216"/>
          </a:xfrm>
          <a:prstGeom prst="rect">
            <a:avLst/>
          </a:prstGeom>
          <a:solidFill>
            <a:srgbClr val="1C2230"/>
          </a:solidFill>
          <a:ln w="6350">
            <a:solidFill>
              <a:srgbClr val="21262D"/>
            </a:solidFill>
            <a:prstDash val="solid"/>
          </a:ln>
        </p:spPr>
      </p:sp>
      <p:sp>
        <p:nvSpPr>
          <p:cNvPr id="23" name="Text 21"/>
          <p:cNvSpPr/>
          <p:nvPr/>
        </p:nvSpPr>
        <p:spPr>
          <a:xfrm>
            <a:off x="640080" y="3273552"/>
            <a:ext cx="1828800" cy="219456"/>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Acetic Acid</a:t>
            </a:r>
            <a:endParaRPr lang="en-US" sz="950" dirty="0"/>
          </a:p>
        </p:txBody>
      </p:sp>
      <p:sp>
        <p:nvSpPr>
          <p:cNvPr id="24" name="Text 22"/>
          <p:cNvSpPr/>
          <p:nvPr/>
        </p:nvSpPr>
        <p:spPr>
          <a:xfrm>
            <a:off x="640080" y="3529584"/>
            <a:ext cx="1463040" cy="201168"/>
          </a:xfrm>
          <a:prstGeom prst="rect">
            <a:avLst/>
          </a:prstGeom>
          <a:noFill/>
          <a:ln/>
        </p:spPr>
        <p:txBody>
          <a:bodyPr wrap="square" lIns="0" tIns="0" rIns="0" bIns="0" rtlCol="0" anchor="ctr"/>
          <a:lstStyle/>
          <a:p>
            <a:pPr indent="0" marL="0">
              <a:buNone/>
            </a:pPr>
            <a:r>
              <a:rPr lang="en-US" sz="850" dirty="0">
                <a:solidFill>
                  <a:srgbClr val="B91C1C"/>
                </a:solidFill>
                <a:latin typeface="Consolas" pitchFamily="34" charset="0"/>
                <a:ea typeface="Consolas" pitchFamily="34" charset="-122"/>
                <a:cs typeface="Consolas" pitchFamily="34" charset="-120"/>
              </a:rPr>
              <a:t>CIIP: 7.8  (+0.3)</a:t>
            </a:r>
            <a:endParaRPr lang="en-US" sz="850" dirty="0"/>
          </a:p>
        </p:txBody>
      </p:sp>
      <p:sp>
        <p:nvSpPr>
          <p:cNvPr id="25" name="Shape 23"/>
          <p:cNvSpPr/>
          <p:nvPr/>
        </p:nvSpPr>
        <p:spPr>
          <a:xfrm>
            <a:off x="566928" y="3877056"/>
            <a:ext cx="2468880" cy="201168"/>
          </a:xfrm>
          <a:prstGeom prst="rect">
            <a:avLst/>
          </a:prstGeom>
          <a:solidFill>
            <a:srgbClr val="1C2230"/>
          </a:solidFill>
          <a:ln w="6350">
            <a:solidFill>
              <a:srgbClr val="B91C1C"/>
            </a:solidFill>
            <a:prstDash val="solid"/>
          </a:ln>
        </p:spPr>
      </p:sp>
      <p:sp>
        <p:nvSpPr>
          <p:cNvPr id="26" name="Text 24"/>
          <p:cNvSpPr/>
          <p:nvPr/>
        </p:nvSpPr>
        <p:spPr>
          <a:xfrm>
            <a:off x="612648" y="3877056"/>
            <a:ext cx="2377440" cy="201168"/>
          </a:xfrm>
          <a:prstGeom prst="rect">
            <a:avLst/>
          </a:prstGeom>
          <a:noFill/>
          <a:ln/>
        </p:spPr>
        <p:txBody>
          <a:bodyPr wrap="square" lIns="0" tIns="0" rIns="0" bIns="0" rtlCol="0" anchor="ctr"/>
          <a:lstStyle/>
          <a:p>
            <a:pPr indent="0" marL="0">
              <a:buNone/>
            </a:pPr>
            <a:r>
              <a:rPr lang="en-US" sz="750" dirty="0">
                <a:solidFill>
                  <a:srgbClr val="B91C1C"/>
                </a:solidFill>
                <a:latin typeface="Calibri" pitchFamily="34" charset="0"/>
                <a:ea typeface="Calibri" pitchFamily="34" charset="-122"/>
                <a:cs typeface="Calibri" pitchFamily="34" charset="-120"/>
              </a:rPr>
              <a:t>2 materials escalate to CRITICAL tier. API manufacturing cost increase of 12–18% within 8 weeks.</a:t>
            </a:r>
            <a:endParaRPr lang="en-US" sz="750" dirty="0"/>
          </a:p>
        </p:txBody>
      </p:sp>
      <p:sp>
        <p:nvSpPr>
          <p:cNvPr id="27" name="Shape 25"/>
          <p:cNvSpPr/>
          <p:nvPr/>
        </p:nvSpPr>
        <p:spPr>
          <a:xfrm>
            <a:off x="3310128" y="1005840"/>
            <a:ext cx="2715768" cy="4059936"/>
          </a:xfrm>
          <a:prstGeom prst="rect">
            <a:avLst/>
          </a:prstGeom>
          <a:solidFill>
            <a:srgbClr val="161B22"/>
          </a:solidFill>
          <a:ln w="9525">
            <a:solidFill>
              <a:srgbClr val="C2410C"/>
            </a:solidFill>
            <a:prstDash val="solid"/>
          </a:ln>
        </p:spPr>
      </p:sp>
      <p:sp>
        <p:nvSpPr>
          <p:cNvPr id="28" name="Shape 26"/>
          <p:cNvSpPr/>
          <p:nvPr/>
        </p:nvSpPr>
        <p:spPr>
          <a:xfrm>
            <a:off x="3310128" y="1005840"/>
            <a:ext cx="2715768" cy="54864"/>
          </a:xfrm>
          <a:prstGeom prst="rect">
            <a:avLst/>
          </a:prstGeom>
          <a:solidFill>
            <a:srgbClr val="C2410C"/>
          </a:solidFill>
          <a:ln w="12700">
            <a:solidFill>
              <a:srgbClr val="C2410C"/>
            </a:solidFill>
            <a:prstDash val="solid"/>
          </a:ln>
        </p:spPr>
      </p:sp>
      <p:sp>
        <p:nvSpPr>
          <p:cNvPr id="29" name="Text 27"/>
          <p:cNvSpPr/>
          <p:nvPr/>
        </p:nvSpPr>
        <p:spPr>
          <a:xfrm>
            <a:off x="3419856" y="1115568"/>
            <a:ext cx="457200" cy="292608"/>
          </a:xfrm>
          <a:prstGeom prst="rect">
            <a:avLst/>
          </a:prstGeom>
          <a:noFill/>
          <a:ln/>
        </p:spPr>
        <p:txBody>
          <a:bodyPr wrap="square" lIns="0" tIns="0" rIns="0" bIns="0" rtlCol="0" anchor="ctr"/>
          <a:lstStyle/>
          <a:p>
            <a:pPr indent="0" marL="0">
              <a:buNone/>
            </a:pPr>
            <a:r>
              <a:rPr lang="en-US" sz="1600" b="1" dirty="0">
                <a:solidFill>
                  <a:srgbClr val="C2410C"/>
                </a:solidFill>
                <a:latin typeface="Calibri" pitchFamily="34" charset="0"/>
                <a:ea typeface="Calibri" pitchFamily="34" charset="-122"/>
                <a:cs typeface="Calibri" pitchFamily="34" charset="-120"/>
              </a:rPr>
              <a:t>S2</a:t>
            </a:r>
            <a:endParaRPr lang="en-US" sz="1600" dirty="0"/>
          </a:p>
        </p:txBody>
      </p:sp>
      <p:sp>
        <p:nvSpPr>
          <p:cNvPr id="30" name="Text 28"/>
          <p:cNvSpPr/>
          <p:nvPr/>
        </p:nvSpPr>
        <p:spPr>
          <a:xfrm>
            <a:off x="3877056" y="1115568"/>
            <a:ext cx="2011680" cy="18288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China Export Controls</a:t>
            </a:r>
            <a:endParaRPr lang="en-US" sz="1100" dirty="0"/>
          </a:p>
        </p:txBody>
      </p:sp>
      <p:sp>
        <p:nvSpPr>
          <p:cNvPr id="31" name="Text 29"/>
          <p:cNvSpPr/>
          <p:nvPr/>
        </p:nvSpPr>
        <p:spPr>
          <a:xfrm>
            <a:off x="3877056" y="1307592"/>
            <a:ext cx="201168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Strategic Decoupling</a:t>
            </a:r>
            <a:endParaRPr lang="en-US" sz="850" dirty="0"/>
          </a:p>
        </p:txBody>
      </p:sp>
      <p:sp>
        <p:nvSpPr>
          <p:cNvPr id="32" name="Shape 30"/>
          <p:cNvSpPr/>
          <p:nvPr/>
        </p:nvSpPr>
        <p:spPr>
          <a:xfrm>
            <a:off x="3419856" y="1517904"/>
            <a:ext cx="2468880" cy="292608"/>
          </a:xfrm>
          <a:prstGeom prst="rect">
            <a:avLst/>
          </a:prstGeom>
          <a:solidFill>
            <a:srgbClr val="1C2230"/>
          </a:solidFill>
          <a:ln w="6350">
            <a:solidFill>
              <a:srgbClr val="C2410C"/>
            </a:solidFill>
            <a:prstDash val="solid"/>
          </a:ln>
        </p:spPr>
      </p:sp>
      <p:sp>
        <p:nvSpPr>
          <p:cNvPr id="33" name="Text 31"/>
          <p:cNvSpPr/>
          <p:nvPr/>
        </p:nvSpPr>
        <p:spPr>
          <a:xfrm>
            <a:off x="3465576" y="1517904"/>
            <a:ext cx="2377440" cy="292608"/>
          </a:xfrm>
          <a:prstGeom prst="rect">
            <a:avLst/>
          </a:prstGeom>
          <a:noFill/>
          <a:ln/>
        </p:spPr>
        <p:txBody>
          <a:bodyPr wrap="square" lIns="0" tIns="0" rIns="0" bIns="0" rtlCol="0" anchor="ctr"/>
          <a:lstStyle/>
          <a:p>
            <a:pPr indent="0" marL="0">
              <a:buNone/>
            </a:pPr>
            <a:r>
              <a:rPr lang="en-US" sz="800" dirty="0">
                <a:solidFill>
                  <a:srgbClr val="C2410C"/>
                </a:solidFill>
                <a:latin typeface="Calibri" pitchFamily="34" charset="0"/>
                <a:ea typeface="Calibri" pitchFamily="34" charset="-122"/>
                <a:cs typeface="Calibri" pitchFamily="34" charset="-120"/>
              </a:rPr>
              <a:t>Acetic Acid +25% | Methanol +20% | Polysilicon -30%</a:t>
            </a:r>
            <a:endParaRPr lang="en-US" sz="800" dirty="0"/>
          </a:p>
        </p:txBody>
      </p:sp>
      <p:sp>
        <p:nvSpPr>
          <p:cNvPr id="34" name="Shape 32"/>
          <p:cNvSpPr/>
          <p:nvPr/>
        </p:nvSpPr>
        <p:spPr>
          <a:xfrm>
            <a:off x="3419856" y="1901952"/>
            <a:ext cx="2468880" cy="585216"/>
          </a:xfrm>
          <a:prstGeom prst="rect">
            <a:avLst/>
          </a:prstGeom>
          <a:solidFill>
            <a:srgbClr val="1C2230"/>
          </a:solidFill>
          <a:ln w="6350">
            <a:solidFill>
              <a:srgbClr val="21262D"/>
            </a:solidFill>
            <a:prstDash val="solid"/>
          </a:ln>
        </p:spPr>
      </p:sp>
      <p:sp>
        <p:nvSpPr>
          <p:cNvPr id="35" name="Text 33"/>
          <p:cNvSpPr/>
          <p:nvPr/>
        </p:nvSpPr>
        <p:spPr>
          <a:xfrm>
            <a:off x="3493008" y="1956816"/>
            <a:ext cx="1828800" cy="219456"/>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Acetic Acid</a:t>
            </a:r>
            <a:endParaRPr lang="en-US" sz="950" dirty="0"/>
          </a:p>
        </p:txBody>
      </p:sp>
      <p:sp>
        <p:nvSpPr>
          <p:cNvPr id="36" name="Text 34"/>
          <p:cNvSpPr/>
          <p:nvPr/>
        </p:nvSpPr>
        <p:spPr>
          <a:xfrm>
            <a:off x="3493008" y="2212848"/>
            <a:ext cx="1463040" cy="201168"/>
          </a:xfrm>
          <a:prstGeom prst="rect">
            <a:avLst/>
          </a:prstGeom>
          <a:noFill/>
          <a:ln/>
        </p:spPr>
        <p:txBody>
          <a:bodyPr wrap="square" lIns="0" tIns="0" rIns="0" bIns="0" rtlCol="0" anchor="ctr"/>
          <a:lstStyle/>
          <a:p>
            <a:pPr indent="0" marL="0">
              <a:buNone/>
            </a:pPr>
            <a:r>
              <a:rPr lang="en-US" sz="850" dirty="0">
                <a:solidFill>
                  <a:srgbClr val="B91C1C"/>
                </a:solidFill>
                <a:latin typeface="Consolas" pitchFamily="34" charset="0"/>
                <a:ea typeface="Consolas" pitchFamily="34" charset="-122"/>
                <a:cs typeface="Consolas" pitchFamily="34" charset="-120"/>
              </a:rPr>
              <a:t>CIIP: 8.4  (+0.9)</a:t>
            </a:r>
            <a:endParaRPr lang="en-US" sz="850" dirty="0"/>
          </a:p>
        </p:txBody>
      </p:sp>
      <p:sp>
        <p:nvSpPr>
          <p:cNvPr id="37" name="Shape 35"/>
          <p:cNvSpPr/>
          <p:nvPr/>
        </p:nvSpPr>
        <p:spPr>
          <a:xfrm>
            <a:off x="5138928" y="2084832"/>
            <a:ext cx="640080" cy="219456"/>
          </a:xfrm>
          <a:prstGeom prst="rect">
            <a:avLst/>
          </a:prstGeom>
          <a:solidFill>
            <a:srgbClr val="3D0A0A"/>
          </a:solidFill>
          <a:ln w="6350">
            <a:solidFill>
              <a:srgbClr val="B91C1C"/>
            </a:solidFill>
            <a:prstDash val="solid"/>
          </a:ln>
        </p:spPr>
      </p:sp>
      <p:sp>
        <p:nvSpPr>
          <p:cNvPr id="38" name="Text 36"/>
          <p:cNvSpPr/>
          <p:nvPr/>
        </p:nvSpPr>
        <p:spPr>
          <a:xfrm>
            <a:off x="5138928" y="2084832"/>
            <a:ext cx="640080" cy="219456"/>
          </a:xfrm>
          <a:prstGeom prst="rect">
            <a:avLst/>
          </a:prstGeom>
          <a:noFill/>
          <a:ln/>
        </p:spPr>
        <p:txBody>
          <a:bodyPr wrap="square" lIns="0" tIns="0" rIns="0" bIns="0" rtlCol="0" anchor="ctr"/>
          <a:lstStyle/>
          <a:p>
            <a:pPr algn="ctr" indent="0" marL="0">
              <a:buNone/>
            </a:pPr>
            <a:r>
              <a:rPr lang="en-US" sz="650" b="1" dirty="0">
                <a:solidFill>
                  <a:srgbClr val="B91C1C"/>
                </a:solidFill>
                <a:latin typeface="Calibri" pitchFamily="34" charset="0"/>
                <a:ea typeface="Calibri" pitchFamily="34" charset="-122"/>
                <a:cs typeface="Calibri" pitchFamily="34" charset="-120"/>
              </a:rPr>
              <a:t>ESCALATES</a:t>
            </a:r>
            <a:endParaRPr lang="en-US" sz="650" dirty="0"/>
          </a:p>
        </p:txBody>
      </p:sp>
      <p:sp>
        <p:nvSpPr>
          <p:cNvPr id="39" name="Shape 37"/>
          <p:cNvSpPr/>
          <p:nvPr/>
        </p:nvSpPr>
        <p:spPr>
          <a:xfrm>
            <a:off x="3419856" y="2560320"/>
            <a:ext cx="2468880" cy="585216"/>
          </a:xfrm>
          <a:prstGeom prst="rect">
            <a:avLst/>
          </a:prstGeom>
          <a:solidFill>
            <a:srgbClr val="1C2230"/>
          </a:solidFill>
          <a:ln w="6350">
            <a:solidFill>
              <a:srgbClr val="21262D"/>
            </a:solidFill>
            <a:prstDash val="solid"/>
          </a:ln>
        </p:spPr>
      </p:sp>
      <p:sp>
        <p:nvSpPr>
          <p:cNvPr id="40" name="Text 38"/>
          <p:cNvSpPr/>
          <p:nvPr/>
        </p:nvSpPr>
        <p:spPr>
          <a:xfrm>
            <a:off x="3493008" y="2615184"/>
            <a:ext cx="1828800" cy="219456"/>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Methanol</a:t>
            </a:r>
            <a:endParaRPr lang="en-US" sz="950" dirty="0"/>
          </a:p>
        </p:txBody>
      </p:sp>
      <p:sp>
        <p:nvSpPr>
          <p:cNvPr id="41" name="Text 39"/>
          <p:cNvSpPr/>
          <p:nvPr/>
        </p:nvSpPr>
        <p:spPr>
          <a:xfrm>
            <a:off x="3493008" y="2871216"/>
            <a:ext cx="1463040" cy="201168"/>
          </a:xfrm>
          <a:prstGeom prst="rect">
            <a:avLst/>
          </a:prstGeom>
          <a:noFill/>
          <a:ln/>
        </p:spPr>
        <p:txBody>
          <a:bodyPr wrap="square" lIns="0" tIns="0" rIns="0" bIns="0" rtlCol="0" anchor="ctr"/>
          <a:lstStyle/>
          <a:p>
            <a:pPr indent="0" marL="0">
              <a:buNone/>
            </a:pPr>
            <a:r>
              <a:rPr lang="en-US" sz="850" dirty="0">
                <a:solidFill>
                  <a:srgbClr val="B91C1C"/>
                </a:solidFill>
                <a:latin typeface="Consolas" pitchFamily="34" charset="0"/>
                <a:ea typeface="Consolas" pitchFamily="34" charset="-122"/>
                <a:cs typeface="Consolas" pitchFamily="34" charset="-120"/>
              </a:rPr>
              <a:t>CIIP: 8.2  (+0.7)</a:t>
            </a:r>
            <a:endParaRPr lang="en-US" sz="850" dirty="0"/>
          </a:p>
        </p:txBody>
      </p:sp>
      <p:sp>
        <p:nvSpPr>
          <p:cNvPr id="42" name="Shape 40"/>
          <p:cNvSpPr/>
          <p:nvPr/>
        </p:nvSpPr>
        <p:spPr>
          <a:xfrm>
            <a:off x="5138928" y="2743200"/>
            <a:ext cx="640080" cy="219456"/>
          </a:xfrm>
          <a:prstGeom prst="rect">
            <a:avLst/>
          </a:prstGeom>
          <a:solidFill>
            <a:srgbClr val="3D0A0A"/>
          </a:solidFill>
          <a:ln w="6350">
            <a:solidFill>
              <a:srgbClr val="B91C1C"/>
            </a:solidFill>
            <a:prstDash val="solid"/>
          </a:ln>
        </p:spPr>
      </p:sp>
      <p:sp>
        <p:nvSpPr>
          <p:cNvPr id="43" name="Text 41"/>
          <p:cNvSpPr/>
          <p:nvPr/>
        </p:nvSpPr>
        <p:spPr>
          <a:xfrm>
            <a:off x="5138928" y="2743200"/>
            <a:ext cx="640080" cy="219456"/>
          </a:xfrm>
          <a:prstGeom prst="rect">
            <a:avLst/>
          </a:prstGeom>
          <a:noFill/>
          <a:ln/>
        </p:spPr>
        <p:txBody>
          <a:bodyPr wrap="square" lIns="0" tIns="0" rIns="0" bIns="0" rtlCol="0" anchor="ctr"/>
          <a:lstStyle/>
          <a:p>
            <a:pPr algn="ctr" indent="0" marL="0">
              <a:buNone/>
            </a:pPr>
            <a:r>
              <a:rPr lang="en-US" sz="650" b="1" dirty="0">
                <a:solidFill>
                  <a:srgbClr val="B91C1C"/>
                </a:solidFill>
                <a:latin typeface="Calibri" pitchFamily="34" charset="0"/>
                <a:ea typeface="Calibri" pitchFamily="34" charset="-122"/>
                <a:cs typeface="Calibri" pitchFamily="34" charset="-120"/>
              </a:rPr>
              <a:t>ESCALATES</a:t>
            </a:r>
            <a:endParaRPr lang="en-US" sz="650" dirty="0"/>
          </a:p>
        </p:txBody>
      </p:sp>
      <p:sp>
        <p:nvSpPr>
          <p:cNvPr id="44" name="Shape 42"/>
          <p:cNvSpPr/>
          <p:nvPr/>
        </p:nvSpPr>
        <p:spPr>
          <a:xfrm>
            <a:off x="3419856" y="3218688"/>
            <a:ext cx="2468880" cy="585216"/>
          </a:xfrm>
          <a:prstGeom prst="rect">
            <a:avLst/>
          </a:prstGeom>
          <a:solidFill>
            <a:srgbClr val="1C2230"/>
          </a:solidFill>
          <a:ln w="6350">
            <a:solidFill>
              <a:srgbClr val="21262D"/>
            </a:solidFill>
            <a:prstDash val="solid"/>
          </a:ln>
        </p:spPr>
      </p:sp>
      <p:sp>
        <p:nvSpPr>
          <p:cNvPr id="45" name="Text 43"/>
          <p:cNvSpPr/>
          <p:nvPr/>
        </p:nvSpPr>
        <p:spPr>
          <a:xfrm>
            <a:off x="3493008" y="3273552"/>
            <a:ext cx="1828800" cy="219456"/>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Polysilicon</a:t>
            </a:r>
            <a:endParaRPr lang="en-US" sz="950" dirty="0"/>
          </a:p>
        </p:txBody>
      </p:sp>
      <p:sp>
        <p:nvSpPr>
          <p:cNvPr id="46" name="Text 44"/>
          <p:cNvSpPr/>
          <p:nvPr/>
        </p:nvSpPr>
        <p:spPr>
          <a:xfrm>
            <a:off x="3493008" y="3529584"/>
            <a:ext cx="1463040" cy="201168"/>
          </a:xfrm>
          <a:prstGeom prst="rect">
            <a:avLst/>
          </a:prstGeom>
          <a:noFill/>
          <a:ln/>
        </p:spPr>
        <p:txBody>
          <a:bodyPr wrap="square" lIns="0" tIns="0" rIns="0" bIns="0" rtlCol="0" anchor="ctr"/>
          <a:lstStyle/>
          <a:p>
            <a:pPr indent="0" marL="0">
              <a:buNone/>
            </a:pPr>
            <a:r>
              <a:rPr lang="en-US" sz="850" dirty="0">
                <a:solidFill>
                  <a:srgbClr val="059669"/>
                </a:solidFill>
                <a:latin typeface="Consolas" pitchFamily="34" charset="0"/>
                <a:ea typeface="Consolas" pitchFamily="34" charset="-122"/>
                <a:cs typeface="Consolas" pitchFamily="34" charset="-120"/>
              </a:rPr>
              <a:t>CIIP: 5.4  (-0.6)</a:t>
            </a:r>
            <a:endParaRPr lang="en-US" sz="850" dirty="0"/>
          </a:p>
        </p:txBody>
      </p:sp>
      <p:sp>
        <p:nvSpPr>
          <p:cNvPr id="47" name="Shape 45"/>
          <p:cNvSpPr/>
          <p:nvPr/>
        </p:nvSpPr>
        <p:spPr>
          <a:xfrm>
            <a:off x="3419856" y="3877056"/>
            <a:ext cx="2468880" cy="201168"/>
          </a:xfrm>
          <a:prstGeom prst="rect">
            <a:avLst/>
          </a:prstGeom>
          <a:solidFill>
            <a:srgbClr val="1C2230"/>
          </a:solidFill>
          <a:ln w="6350">
            <a:solidFill>
              <a:srgbClr val="C2410C"/>
            </a:solidFill>
            <a:prstDash val="solid"/>
          </a:ln>
        </p:spPr>
      </p:sp>
      <p:sp>
        <p:nvSpPr>
          <p:cNvPr id="48" name="Text 46"/>
          <p:cNvSpPr/>
          <p:nvPr/>
        </p:nvSpPr>
        <p:spPr>
          <a:xfrm>
            <a:off x="3465576" y="3877056"/>
            <a:ext cx="2377440" cy="201168"/>
          </a:xfrm>
          <a:prstGeom prst="rect">
            <a:avLst/>
          </a:prstGeom>
          <a:noFill/>
          <a:ln/>
        </p:spPr>
        <p:txBody>
          <a:bodyPr wrap="square" lIns="0" tIns="0" rIns="0" bIns="0" rtlCol="0" anchor="ctr"/>
          <a:lstStyle/>
          <a:p>
            <a:pPr indent="0" marL="0">
              <a:buNone/>
            </a:pPr>
            <a:r>
              <a:rPr lang="en-US" sz="750" dirty="0">
                <a:solidFill>
                  <a:srgbClr val="C2410C"/>
                </a:solidFill>
                <a:latin typeface="Calibri" pitchFamily="34" charset="0"/>
                <a:ea typeface="Calibri" pitchFamily="34" charset="-122"/>
                <a:cs typeface="Calibri" pitchFamily="34" charset="-120"/>
              </a:rPr>
              <a:t>Acetic Acid and Methanol both breach CRITICAL threshold. Direct pharma input chain disruption.</a:t>
            </a:r>
            <a:endParaRPr lang="en-US" sz="750" dirty="0"/>
          </a:p>
        </p:txBody>
      </p:sp>
      <p:sp>
        <p:nvSpPr>
          <p:cNvPr id="49" name="Shape 47"/>
          <p:cNvSpPr/>
          <p:nvPr/>
        </p:nvSpPr>
        <p:spPr>
          <a:xfrm>
            <a:off x="6163056" y="1005840"/>
            <a:ext cx="2715768" cy="4059936"/>
          </a:xfrm>
          <a:prstGeom prst="rect">
            <a:avLst/>
          </a:prstGeom>
          <a:solidFill>
            <a:srgbClr val="161B22"/>
          </a:solidFill>
          <a:ln w="9525">
            <a:solidFill>
              <a:srgbClr val="F59E0B"/>
            </a:solidFill>
            <a:prstDash val="solid"/>
          </a:ln>
        </p:spPr>
      </p:sp>
      <p:sp>
        <p:nvSpPr>
          <p:cNvPr id="50" name="Shape 48"/>
          <p:cNvSpPr/>
          <p:nvPr/>
        </p:nvSpPr>
        <p:spPr>
          <a:xfrm>
            <a:off x="6163056" y="1005840"/>
            <a:ext cx="2715768" cy="54864"/>
          </a:xfrm>
          <a:prstGeom prst="rect">
            <a:avLst/>
          </a:prstGeom>
          <a:solidFill>
            <a:srgbClr val="F59E0B"/>
          </a:solidFill>
          <a:ln w="12700">
            <a:solidFill>
              <a:srgbClr val="F59E0B"/>
            </a:solidFill>
            <a:prstDash val="solid"/>
          </a:ln>
        </p:spPr>
      </p:sp>
      <p:sp>
        <p:nvSpPr>
          <p:cNvPr id="51" name="Text 49"/>
          <p:cNvSpPr/>
          <p:nvPr/>
        </p:nvSpPr>
        <p:spPr>
          <a:xfrm>
            <a:off x="6272784" y="1115568"/>
            <a:ext cx="457200" cy="292608"/>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S3</a:t>
            </a:r>
            <a:endParaRPr lang="en-US" sz="1600" dirty="0"/>
          </a:p>
        </p:txBody>
      </p:sp>
      <p:sp>
        <p:nvSpPr>
          <p:cNvPr id="52" name="Text 50"/>
          <p:cNvSpPr/>
          <p:nvPr/>
        </p:nvSpPr>
        <p:spPr>
          <a:xfrm>
            <a:off x="6729984" y="1115568"/>
            <a:ext cx="2011680" cy="18288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India PLI Surge</a:t>
            </a:r>
            <a:endParaRPr lang="en-US" sz="1100" dirty="0"/>
          </a:p>
        </p:txBody>
      </p:sp>
      <p:sp>
        <p:nvSpPr>
          <p:cNvPr id="53" name="Text 51"/>
          <p:cNvSpPr/>
          <p:nvPr/>
        </p:nvSpPr>
        <p:spPr>
          <a:xfrm>
            <a:off x="6729984" y="1307592"/>
            <a:ext cx="2011680" cy="1828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Solar Acceleration</a:t>
            </a:r>
            <a:endParaRPr lang="en-US" sz="850" dirty="0"/>
          </a:p>
        </p:txBody>
      </p:sp>
      <p:sp>
        <p:nvSpPr>
          <p:cNvPr id="54" name="Shape 52"/>
          <p:cNvSpPr/>
          <p:nvPr/>
        </p:nvSpPr>
        <p:spPr>
          <a:xfrm>
            <a:off x="6272784" y="1517904"/>
            <a:ext cx="2468880" cy="292608"/>
          </a:xfrm>
          <a:prstGeom prst="rect">
            <a:avLst/>
          </a:prstGeom>
          <a:solidFill>
            <a:srgbClr val="1C2230"/>
          </a:solidFill>
          <a:ln w="6350">
            <a:solidFill>
              <a:srgbClr val="F59E0B"/>
            </a:solidFill>
            <a:prstDash val="solid"/>
          </a:ln>
        </p:spPr>
      </p:sp>
      <p:sp>
        <p:nvSpPr>
          <p:cNvPr id="55" name="Text 53"/>
          <p:cNvSpPr/>
          <p:nvPr/>
        </p:nvSpPr>
        <p:spPr>
          <a:xfrm>
            <a:off x="6318504" y="1517904"/>
            <a:ext cx="2377440" cy="292608"/>
          </a:xfrm>
          <a:prstGeom prst="rect">
            <a:avLst/>
          </a:prstGeom>
          <a:noFill/>
          <a:ln/>
        </p:spPr>
        <p:txBody>
          <a:bodyPr wrap="square" lIns="0" tIns="0" rIns="0" bIns="0" rtlCol="0" anchor="ctr"/>
          <a:lstStyle/>
          <a:p>
            <a:pPr indent="0" marL="0">
              <a:buNone/>
            </a:pPr>
            <a:r>
              <a:rPr lang="en-US" sz="800" dirty="0">
                <a:solidFill>
                  <a:srgbClr val="F59E0B"/>
                </a:solidFill>
                <a:latin typeface="Calibri" pitchFamily="34" charset="0"/>
                <a:ea typeface="Calibri" pitchFamily="34" charset="-122"/>
                <a:cs typeface="Calibri" pitchFamily="34" charset="-120"/>
              </a:rPr>
              <a:t>Soda Ash +20% | Polysilicon +15% | LNG +8%</a:t>
            </a:r>
            <a:endParaRPr lang="en-US" sz="800" dirty="0"/>
          </a:p>
        </p:txBody>
      </p:sp>
      <p:sp>
        <p:nvSpPr>
          <p:cNvPr id="56" name="Shape 54"/>
          <p:cNvSpPr/>
          <p:nvPr/>
        </p:nvSpPr>
        <p:spPr>
          <a:xfrm>
            <a:off x="6272784" y="1901952"/>
            <a:ext cx="2468880" cy="585216"/>
          </a:xfrm>
          <a:prstGeom prst="rect">
            <a:avLst/>
          </a:prstGeom>
          <a:solidFill>
            <a:srgbClr val="1C2230"/>
          </a:solidFill>
          <a:ln w="6350">
            <a:solidFill>
              <a:srgbClr val="21262D"/>
            </a:solidFill>
            <a:prstDash val="solid"/>
          </a:ln>
        </p:spPr>
      </p:sp>
      <p:sp>
        <p:nvSpPr>
          <p:cNvPr id="57" name="Text 55"/>
          <p:cNvSpPr/>
          <p:nvPr/>
        </p:nvSpPr>
        <p:spPr>
          <a:xfrm>
            <a:off x="6345936" y="1956816"/>
            <a:ext cx="1828800" cy="219456"/>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Soda Ash</a:t>
            </a:r>
            <a:endParaRPr lang="en-US" sz="950" dirty="0"/>
          </a:p>
        </p:txBody>
      </p:sp>
      <p:sp>
        <p:nvSpPr>
          <p:cNvPr id="58" name="Text 56"/>
          <p:cNvSpPr/>
          <p:nvPr/>
        </p:nvSpPr>
        <p:spPr>
          <a:xfrm>
            <a:off x="6345936" y="2212848"/>
            <a:ext cx="1463040" cy="201168"/>
          </a:xfrm>
          <a:prstGeom prst="rect">
            <a:avLst/>
          </a:prstGeom>
          <a:noFill/>
          <a:ln/>
        </p:spPr>
        <p:txBody>
          <a:bodyPr wrap="square" lIns="0" tIns="0" rIns="0" bIns="0" rtlCol="0" anchor="ctr"/>
          <a:lstStyle/>
          <a:p>
            <a:pPr indent="0" marL="0">
              <a:buNone/>
            </a:pPr>
            <a:r>
              <a:rPr lang="en-US" sz="850" dirty="0">
                <a:solidFill>
                  <a:srgbClr val="B91C1C"/>
                </a:solidFill>
                <a:latin typeface="Consolas" pitchFamily="34" charset="0"/>
                <a:ea typeface="Consolas" pitchFamily="34" charset="-122"/>
                <a:cs typeface="Consolas" pitchFamily="34" charset="-120"/>
              </a:rPr>
              <a:t>CIIP: 9.3  (+0.6)</a:t>
            </a:r>
            <a:endParaRPr lang="en-US" sz="850" dirty="0"/>
          </a:p>
        </p:txBody>
      </p:sp>
      <p:sp>
        <p:nvSpPr>
          <p:cNvPr id="59" name="Shape 57"/>
          <p:cNvSpPr/>
          <p:nvPr/>
        </p:nvSpPr>
        <p:spPr>
          <a:xfrm>
            <a:off x="6272784" y="2560320"/>
            <a:ext cx="2468880" cy="585216"/>
          </a:xfrm>
          <a:prstGeom prst="rect">
            <a:avLst/>
          </a:prstGeom>
          <a:solidFill>
            <a:srgbClr val="1C2230"/>
          </a:solidFill>
          <a:ln w="6350">
            <a:solidFill>
              <a:srgbClr val="21262D"/>
            </a:solidFill>
            <a:prstDash val="solid"/>
          </a:ln>
        </p:spPr>
      </p:sp>
      <p:sp>
        <p:nvSpPr>
          <p:cNvPr id="60" name="Text 58"/>
          <p:cNvSpPr/>
          <p:nvPr/>
        </p:nvSpPr>
        <p:spPr>
          <a:xfrm>
            <a:off x="6345936" y="2615184"/>
            <a:ext cx="1828800" cy="219456"/>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Polysilicon</a:t>
            </a:r>
            <a:endParaRPr lang="en-US" sz="950" dirty="0"/>
          </a:p>
        </p:txBody>
      </p:sp>
      <p:sp>
        <p:nvSpPr>
          <p:cNvPr id="61" name="Text 59"/>
          <p:cNvSpPr/>
          <p:nvPr/>
        </p:nvSpPr>
        <p:spPr>
          <a:xfrm>
            <a:off x="6345936" y="2871216"/>
            <a:ext cx="1463040" cy="201168"/>
          </a:xfrm>
          <a:prstGeom prst="rect">
            <a:avLst/>
          </a:prstGeom>
          <a:noFill/>
          <a:ln/>
        </p:spPr>
        <p:txBody>
          <a:bodyPr wrap="square" lIns="0" tIns="0" rIns="0" bIns="0" rtlCol="0" anchor="ctr"/>
          <a:lstStyle/>
          <a:p>
            <a:pPr indent="0" marL="0">
              <a:buNone/>
            </a:pPr>
            <a:r>
              <a:rPr lang="en-US" sz="850" dirty="0">
                <a:solidFill>
                  <a:srgbClr val="B91C1C"/>
                </a:solidFill>
                <a:latin typeface="Consolas" pitchFamily="34" charset="0"/>
                <a:ea typeface="Consolas" pitchFamily="34" charset="-122"/>
                <a:cs typeface="Consolas" pitchFamily="34" charset="-120"/>
              </a:rPr>
              <a:t>CIIP: 6.4  (+0.4)</a:t>
            </a:r>
            <a:endParaRPr lang="en-US" sz="850" dirty="0"/>
          </a:p>
        </p:txBody>
      </p:sp>
      <p:sp>
        <p:nvSpPr>
          <p:cNvPr id="62" name="Shape 60"/>
          <p:cNvSpPr/>
          <p:nvPr/>
        </p:nvSpPr>
        <p:spPr>
          <a:xfrm>
            <a:off x="6272784" y="3218688"/>
            <a:ext cx="2468880" cy="585216"/>
          </a:xfrm>
          <a:prstGeom prst="rect">
            <a:avLst/>
          </a:prstGeom>
          <a:solidFill>
            <a:srgbClr val="1C2230"/>
          </a:solidFill>
          <a:ln w="6350">
            <a:solidFill>
              <a:srgbClr val="21262D"/>
            </a:solidFill>
            <a:prstDash val="solid"/>
          </a:ln>
        </p:spPr>
      </p:sp>
      <p:sp>
        <p:nvSpPr>
          <p:cNvPr id="63" name="Text 61"/>
          <p:cNvSpPr/>
          <p:nvPr/>
        </p:nvSpPr>
        <p:spPr>
          <a:xfrm>
            <a:off x="6345936" y="3273552"/>
            <a:ext cx="1828800" cy="219456"/>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LNG Japan</a:t>
            </a:r>
            <a:endParaRPr lang="en-US" sz="950" dirty="0"/>
          </a:p>
        </p:txBody>
      </p:sp>
      <p:sp>
        <p:nvSpPr>
          <p:cNvPr id="64" name="Text 62"/>
          <p:cNvSpPr/>
          <p:nvPr/>
        </p:nvSpPr>
        <p:spPr>
          <a:xfrm>
            <a:off x="6345936" y="3529584"/>
            <a:ext cx="1463040" cy="201168"/>
          </a:xfrm>
          <a:prstGeom prst="rect">
            <a:avLst/>
          </a:prstGeom>
          <a:noFill/>
          <a:ln/>
        </p:spPr>
        <p:txBody>
          <a:bodyPr wrap="square" lIns="0" tIns="0" rIns="0" bIns="0" rtlCol="0" anchor="ctr"/>
          <a:lstStyle/>
          <a:p>
            <a:pPr indent="0" marL="0">
              <a:buNone/>
            </a:pPr>
            <a:r>
              <a:rPr lang="en-US" sz="850" dirty="0">
                <a:solidFill>
                  <a:srgbClr val="B91C1C"/>
                </a:solidFill>
                <a:latin typeface="Consolas" pitchFamily="34" charset="0"/>
                <a:ea typeface="Consolas" pitchFamily="34" charset="-122"/>
                <a:cs typeface="Consolas" pitchFamily="34" charset="-120"/>
              </a:rPr>
              <a:t>CIIP: 9.7  (+0.2)</a:t>
            </a:r>
            <a:endParaRPr lang="en-US" sz="850" dirty="0"/>
          </a:p>
        </p:txBody>
      </p:sp>
      <p:sp>
        <p:nvSpPr>
          <p:cNvPr id="65" name="Shape 63"/>
          <p:cNvSpPr/>
          <p:nvPr/>
        </p:nvSpPr>
        <p:spPr>
          <a:xfrm>
            <a:off x="6272784" y="3877056"/>
            <a:ext cx="2468880" cy="201168"/>
          </a:xfrm>
          <a:prstGeom prst="rect">
            <a:avLst/>
          </a:prstGeom>
          <a:solidFill>
            <a:srgbClr val="1C2230"/>
          </a:solidFill>
          <a:ln w="6350">
            <a:solidFill>
              <a:srgbClr val="F59E0B"/>
            </a:solidFill>
            <a:prstDash val="solid"/>
          </a:ln>
        </p:spPr>
      </p:sp>
      <p:sp>
        <p:nvSpPr>
          <p:cNvPr id="66" name="Text 64"/>
          <p:cNvSpPr/>
          <p:nvPr/>
        </p:nvSpPr>
        <p:spPr>
          <a:xfrm>
            <a:off x="6318504" y="3877056"/>
            <a:ext cx="2377440" cy="201168"/>
          </a:xfrm>
          <a:prstGeom prst="rect">
            <a:avLst/>
          </a:prstGeom>
          <a:noFill/>
          <a:ln/>
        </p:spPr>
        <p:txBody>
          <a:bodyPr wrap="square" lIns="0" tIns="0" rIns="0" bIns="0" rtlCol="0" anchor="ctr"/>
          <a:lstStyle/>
          <a:p>
            <a:pPr indent="0" marL="0">
              <a:buNone/>
            </a:pPr>
            <a:r>
              <a:rPr lang="en-US" sz="750" dirty="0">
                <a:solidFill>
                  <a:srgbClr val="F59E0B"/>
                </a:solidFill>
                <a:latin typeface="Calibri" pitchFamily="34" charset="0"/>
                <a:ea typeface="Calibri" pitchFamily="34" charset="-122"/>
                <a:cs typeface="Calibri" pitchFamily="34" charset="-120"/>
              </a:rPr>
              <a:t>Cross-industry competition amplifies soda ash pressure. Pharma glass packaging cost up 8–12%.</a:t>
            </a:r>
            <a:endParaRPr lang="en-US" sz="750" dirty="0"/>
          </a:p>
        </p:txBody>
      </p:sp>
      <p:sp>
        <p:nvSpPr>
          <p:cNvPr id="67" name="Shape 65"/>
          <p:cNvSpPr/>
          <p:nvPr/>
        </p:nvSpPr>
        <p:spPr>
          <a:xfrm>
            <a:off x="457200" y="4736592"/>
            <a:ext cx="8229600" cy="329184"/>
          </a:xfrm>
          <a:prstGeom prst="rect">
            <a:avLst/>
          </a:prstGeom>
          <a:solidFill>
            <a:srgbClr val="1C2230"/>
          </a:solidFill>
          <a:ln w="9525">
            <a:solidFill>
              <a:srgbClr val="21262D"/>
            </a:solidFill>
            <a:prstDash val="solid"/>
          </a:ln>
        </p:spPr>
      </p:sp>
      <p:sp>
        <p:nvSpPr>
          <p:cNvPr id="68" name="Text 66"/>
          <p:cNvSpPr/>
          <p:nvPr/>
        </p:nvSpPr>
        <p:spPr>
          <a:xfrm>
            <a:off x="594360" y="4736592"/>
            <a:ext cx="7955280" cy="329184"/>
          </a:xfrm>
          <a:prstGeom prst="rect">
            <a:avLst/>
          </a:prstGeom>
          <a:noFill/>
          <a:ln/>
        </p:spPr>
        <p:txBody>
          <a:bodyPr wrap="square" lIns="0" tIns="0" rIns="0" bIns="0" rtlCol="0" anchor="ctr"/>
          <a:lstStyle/>
          <a:p>
            <a:pPr indent="0" marL="0">
              <a:buNone/>
            </a:pPr>
            <a:r>
              <a:rPr lang="en-US" sz="900" i="1" dirty="0">
                <a:solidFill>
                  <a:srgbClr val="94A3B8"/>
                </a:solidFill>
                <a:latin typeface="Calibri" pitchFamily="34" charset="0"/>
                <a:ea typeface="Calibri" pitchFamily="34" charset="-122"/>
                <a:cs typeface="Calibri" pitchFamily="34" charset="-120"/>
              </a:rPr>
              <a:t>Enterprise systems need scenario simulation before disruption arrives — not retrospective analysis after it does. All three scenarios are operationally plausible in the current 2026 geopolitical environment.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PROBABILISTIC RISK ASSESSMENT</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Monte Carlo Simulation — 10,000 Paths · 12-Month Horizon Per Material</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Shape 3"/>
          <p:cNvSpPr/>
          <p:nvPr/>
        </p:nvSpPr>
        <p:spPr>
          <a:xfrm>
            <a:off x="457200" y="1005840"/>
            <a:ext cx="8229600" cy="384048"/>
          </a:xfrm>
          <a:prstGeom prst="rect">
            <a:avLst/>
          </a:prstGeom>
          <a:solidFill>
            <a:srgbClr val="1C2230"/>
          </a:solidFill>
          <a:ln w="9525">
            <a:solidFill>
              <a:srgbClr val="21262D"/>
            </a:solidFill>
            <a:prstDash val="solid"/>
          </a:ln>
        </p:spPr>
      </p:sp>
      <p:sp>
        <p:nvSpPr>
          <p:cNvPr id="6" name="Text 4"/>
          <p:cNvSpPr/>
          <p:nvPr/>
        </p:nvSpPr>
        <p:spPr>
          <a:xfrm>
            <a:off x="594360" y="1005840"/>
            <a:ext cx="7772400" cy="384048"/>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Method: Student t-distribution (df=5) for fat-tailed commodity price shocks · Annualised historical volatility as std dev · 12-month compound simulation</a:t>
            </a:r>
            <a:endParaRPr lang="en-US" sz="950" dirty="0"/>
          </a:p>
        </p:txBody>
      </p:sp>
      <p:sp>
        <p:nvSpPr>
          <p:cNvPr id="7" name="Shape 5"/>
          <p:cNvSpPr/>
          <p:nvPr/>
        </p:nvSpPr>
        <p:spPr>
          <a:xfrm>
            <a:off x="457200" y="1481328"/>
            <a:ext cx="1627632" cy="3127248"/>
          </a:xfrm>
          <a:prstGeom prst="rect">
            <a:avLst/>
          </a:prstGeom>
          <a:solidFill>
            <a:srgbClr val="161B22"/>
          </a:solidFill>
          <a:ln w="9525">
            <a:solidFill>
              <a:srgbClr val="B91C1C"/>
            </a:solidFill>
            <a:prstDash val="solid"/>
          </a:ln>
        </p:spPr>
      </p:sp>
      <p:sp>
        <p:nvSpPr>
          <p:cNvPr id="8" name="Shape 6"/>
          <p:cNvSpPr/>
          <p:nvPr/>
        </p:nvSpPr>
        <p:spPr>
          <a:xfrm>
            <a:off x="457200" y="1481328"/>
            <a:ext cx="1627632" cy="45720"/>
          </a:xfrm>
          <a:prstGeom prst="rect">
            <a:avLst/>
          </a:prstGeom>
          <a:solidFill>
            <a:srgbClr val="B91C1C"/>
          </a:solidFill>
          <a:ln w="12700">
            <a:solidFill>
              <a:srgbClr val="B91C1C"/>
            </a:solidFill>
            <a:prstDash val="solid"/>
          </a:ln>
        </p:spPr>
      </p:sp>
      <p:sp>
        <p:nvSpPr>
          <p:cNvPr id="9" name="Text 7"/>
          <p:cNvSpPr/>
          <p:nvPr/>
        </p:nvSpPr>
        <p:spPr>
          <a:xfrm>
            <a:off x="548640" y="1572768"/>
            <a:ext cx="1417320" cy="292608"/>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LNG Japan</a:t>
            </a:r>
            <a:endParaRPr lang="en-US" sz="1000" dirty="0"/>
          </a:p>
        </p:txBody>
      </p:sp>
      <p:sp>
        <p:nvSpPr>
          <p:cNvPr id="10" name="Text 8"/>
          <p:cNvSpPr/>
          <p:nvPr/>
        </p:nvSpPr>
        <p:spPr>
          <a:xfrm>
            <a:off x="548640" y="1865376"/>
            <a:ext cx="14173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Current: $12.00</a:t>
            </a:r>
            <a:endParaRPr lang="en-US" sz="800" dirty="0"/>
          </a:p>
        </p:txBody>
      </p:sp>
      <p:sp>
        <p:nvSpPr>
          <p:cNvPr id="11" name="Text 9"/>
          <p:cNvSpPr/>
          <p:nvPr/>
        </p:nvSpPr>
        <p:spPr>
          <a:xfrm>
            <a:off x="548640" y="2139696"/>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 (Bear)</a:t>
            </a:r>
            <a:endParaRPr lang="en-US" sz="750" dirty="0"/>
          </a:p>
        </p:txBody>
      </p:sp>
      <p:sp>
        <p:nvSpPr>
          <p:cNvPr id="12" name="Text 10"/>
          <p:cNvSpPr/>
          <p:nvPr/>
        </p:nvSpPr>
        <p:spPr>
          <a:xfrm>
            <a:off x="548640" y="2304288"/>
            <a:ext cx="1417320" cy="219456"/>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$8.10</a:t>
            </a:r>
            <a:endParaRPr lang="en-US" sz="1200" dirty="0"/>
          </a:p>
        </p:txBody>
      </p:sp>
      <p:sp>
        <p:nvSpPr>
          <p:cNvPr id="13" name="Text 11"/>
          <p:cNvSpPr/>
          <p:nvPr/>
        </p:nvSpPr>
        <p:spPr>
          <a:xfrm>
            <a:off x="548640" y="2560320"/>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P50 (Base)</a:t>
            </a:r>
            <a:endParaRPr lang="en-US" sz="750" dirty="0"/>
          </a:p>
        </p:txBody>
      </p:sp>
      <p:sp>
        <p:nvSpPr>
          <p:cNvPr id="14" name="Text 12"/>
          <p:cNvSpPr/>
          <p:nvPr/>
        </p:nvSpPr>
        <p:spPr>
          <a:xfrm>
            <a:off x="548640" y="2724912"/>
            <a:ext cx="1417320" cy="219456"/>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$14.20</a:t>
            </a:r>
            <a:endParaRPr lang="en-US" sz="1200" dirty="0"/>
          </a:p>
        </p:txBody>
      </p:sp>
      <p:sp>
        <p:nvSpPr>
          <p:cNvPr id="15" name="Text 13"/>
          <p:cNvSpPr/>
          <p:nvPr/>
        </p:nvSpPr>
        <p:spPr>
          <a:xfrm>
            <a:off x="548640" y="2980944"/>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P95 (Bull)</a:t>
            </a:r>
            <a:endParaRPr lang="en-US" sz="750" dirty="0"/>
          </a:p>
        </p:txBody>
      </p:sp>
      <p:sp>
        <p:nvSpPr>
          <p:cNvPr id="16" name="Text 14"/>
          <p:cNvSpPr/>
          <p:nvPr/>
        </p:nvSpPr>
        <p:spPr>
          <a:xfrm>
            <a:off x="548640" y="3145536"/>
            <a:ext cx="1417320" cy="219456"/>
          </a:xfrm>
          <a:prstGeom prst="rect">
            <a:avLst/>
          </a:prstGeom>
          <a:noFill/>
          <a:ln/>
        </p:spPr>
        <p:txBody>
          <a:bodyPr wrap="square" lIns="0" tIns="0" rIns="0" bIns="0" rtlCol="0" anchor="ctr"/>
          <a:lstStyle/>
          <a:p>
            <a:pPr indent="0" marL="0">
              <a:buNone/>
            </a:pPr>
            <a:r>
              <a:rPr lang="en-US" sz="1200" b="1" dirty="0">
                <a:solidFill>
                  <a:srgbClr val="B91C1C"/>
                </a:solidFill>
                <a:latin typeface="Calibri" pitchFamily="34" charset="0"/>
                <a:ea typeface="Calibri" pitchFamily="34" charset="-122"/>
                <a:cs typeface="Calibri" pitchFamily="34" charset="-120"/>
              </a:rPr>
              <a:t>$22.80</a:t>
            </a:r>
            <a:endParaRPr lang="en-US" sz="1200" dirty="0"/>
          </a:p>
        </p:txBody>
      </p:sp>
      <p:sp>
        <p:nvSpPr>
          <p:cNvPr id="17" name="Shape 15"/>
          <p:cNvSpPr/>
          <p:nvPr/>
        </p:nvSpPr>
        <p:spPr>
          <a:xfrm>
            <a:off x="548640" y="3438144"/>
            <a:ext cx="1417320" cy="12802"/>
          </a:xfrm>
          <a:prstGeom prst="rect">
            <a:avLst/>
          </a:prstGeom>
          <a:solidFill>
            <a:srgbClr val="334155"/>
          </a:solidFill>
          <a:ln w="12700">
            <a:solidFill>
              <a:srgbClr val="334155"/>
            </a:solidFill>
            <a:prstDash val="solid"/>
          </a:ln>
        </p:spPr>
      </p:sp>
      <p:sp>
        <p:nvSpPr>
          <p:cNvPr id="18" name="Text 16"/>
          <p:cNvSpPr/>
          <p:nvPr/>
        </p:nvSpPr>
        <p:spPr>
          <a:xfrm>
            <a:off x="548640" y="3511296"/>
            <a:ext cx="1417320" cy="182880"/>
          </a:xfrm>
          <a:prstGeom prst="rect">
            <a:avLst/>
          </a:prstGeom>
          <a:noFill/>
          <a:ln/>
        </p:spPr>
        <p:txBody>
          <a:bodyPr wrap="square" lIns="0" tIns="0" rIns="0" bIns="0" rtlCol="0" anchor="ctr"/>
          <a:lstStyle/>
          <a:p>
            <a:pPr indent="0" marL="0">
              <a:buNone/>
            </a:pPr>
            <a:r>
              <a:rPr lang="en-US" sz="800" dirty="0">
                <a:solidFill>
                  <a:srgbClr val="B91C1C"/>
                </a:solidFill>
                <a:latin typeface="Calibri" pitchFamily="34" charset="0"/>
                <a:ea typeface="Calibri" pitchFamily="34" charset="-122"/>
                <a:cs typeface="Calibri" pitchFamily="34" charset="-120"/>
              </a:rPr>
              <a:t>Surge &gt;20%: 62%</a:t>
            </a:r>
            <a:endParaRPr lang="en-US" sz="800" dirty="0"/>
          </a:p>
        </p:txBody>
      </p:sp>
      <p:sp>
        <p:nvSpPr>
          <p:cNvPr id="19" name="Text 17"/>
          <p:cNvSpPr/>
          <p:nvPr/>
        </p:nvSpPr>
        <p:spPr>
          <a:xfrm>
            <a:off x="548640" y="3712464"/>
            <a:ext cx="1417320" cy="182880"/>
          </a:xfrm>
          <a:prstGeom prst="rect">
            <a:avLst/>
          </a:prstGeom>
          <a:noFill/>
          <a:ln/>
        </p:spPr>
        <p:txBody>
          <a:bodyPr wrap="square" lIns="0" tIns="0" rIns="0" bIns="0" rtlCol="0" anchor="ctr"/>
          <a:lstStyle/>
          <a:p>
            <a:pPr indent="0" marL="0">
              <a:buNone/>
            </a:pPr>
            <a:r>
              <a:rPr lang="en-US" sz="800" b="1" dirty="0">
                <a:solidFill>
                  <a:srgbClr val="B91C1C"/>
                </a:solidFill>
                <a:latin typeface="Calibri" pitchFamily="34" charset="0"/>
                <a:ea typeface="Calibri" pitchFamily="34" charset="-122"/>
                <a:cs typeface="Calibri" pitchFamily="34" charset="-120"/>
              </a:rPr>
              <a:t>VaR 95th: +90%</a:t>
            </a:r>
            <a:endParaRPr lang="en-US" sz="800" dirty="0"/>
          </a:p>
        </p:txBody>
      </p:sp>
      <p:sp>
        <p:nvSpPr>
          <p:cNvPr id="20" name="Text 18"/>
          <p:cNvSpPr/>
          <p:nvPr/>
        </p:nvSpPr>
        <p:spPr>
          <a:xfrm>
            <a:off x="548640" y="3913632"/>
            <a:ext cx="1417320" cy="182880"/>
          </a:xfrm>
          <a:prstGeom prst="rect">
            <a:avLst/>
          </a:prstGeom>
          <a:noFill/>
          <a:ln/>
        </p:spPr>
        <p:txBody>
          <a:bodyPr wrap="square" lIns="0" tIns="0" rIns="0" bIns="0" rtlCol="0" anchor="ctr"/>
          <a:lstStyle/>
          <a:p>
            <a:pPr indent="0" marL="0">
              <a:buNone/>
            </a:pPr>
            <a:r>
              <a:rPr lang="en-US" sz="800" dirty="0">
                <a:solidFill>
                  <a:srgbClr val="059669"/>
                </a:solidFill>
                <a:latin typeface="Calibri" pitchFamily="34" charset="0"/>
                <a:ea typeface="Calibri" pitchFamily="34" charset="-122"/>
                <a:cs typeface="Calibri" pitchFamily="34" charset="-120"/>
              </a:rPr>
              <a:t>Decline &gt;10%: 18%</a:t>
            </a:r>
            <a:endParaRPr lang="en-US" sz="800" dirty="0"/>
          </a:p>
        </p:txBody>
      </p:sp>
      <p:sp>
        <p:nvSpPr>
          <p:cNvPr id="21" name="Shape 19"/>
          <p:cNvSpPr/>
          <p:nvPr/>
        </p:nvSpPr>
        <p:spPr>
          <a:xfrm>
            <a:off x="2121408" y="1481328"/>
            <a:ext cx="1627632" cy="3127248"/>
          </a:xfrm>
          <a:prstGeom prst="rect">
            <a:avLst/>
          </a:prstGeom>
          <a:solidFill>
            <a:srgbClr val="161B22"/>
          </a:solidFill>
          <a:ln w="9525">
            <a:solidFill>
              <a:srgbClr val="C2410C"/>
            </a:solidFill>
            <a:prstDash val="solid"/>
          </a:ln>
        </p:spPr>
      </p:sp>
      <p:sp>
        <p:nvSpPr>
          <p:cNvPr id="22" name="Shape 20"/>
          <p:cNvSpPr/>
          <p:nvPr/>
        </p:nvSpPr>
        <p:spPr>
          <a:xfrm>
            <a:off x="2121408" y="1481328"/>
            <a:ext cx="1627632" cy="45720"/>
          </a:xfrm>
          <a:prstGeom prst="rect">
            <a:avLst/>
          </a:prstGeom>
          <a:solidFill>
            <a:srgbClr val="C2410C"/>
          </a:solidFill>
          <a:ln w="12700">
            <a:solidFill>
              <a:srgbClr val="C2410C"/>
            </a:solidFill>
            <a:prstDash val="solid"/>
          </a:ln>
        </p:spPr>
      </p:sp>
      <p:sp>
        <p:nvSpPr>
          <p:cNvPr id="23" name="Text 21"/>
          <p:cNvSpPr/>
          <p:nvPr/>
        </p:nvSpPr>
        <p:spPr>
          <a:xfrm>
            <a:off x="2212848" y="1572768"/>
            <a:ext cx="1417320" cy="292608"/>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Soda Ash</a:t>
            </a:r>
            <a:endParaRPr lang="en-US" sz="1000" dirty="0"/>
          </a:p>
        </p:txBody>
      </p:sp>
      <p:sp>
        <p:nvSpPr>
          <p:cNvPr id="24" name="Text 22"/>
          <p:cNvSpPr/>
          <p:nvPr/>
        </p:nvSpPr>
        <p:spPr>
          <a:xfrm>
            <a:off x="2212848" y="1865376"/>
            <a:ext cx="14173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Current: $362.90</a:t>
            </a:r>
            <a:endParaRPr lang="en-US" sz="800" dirty="0"/>
          </a:p>
        </p:txBody>
      </p:sp>
      <p:sp>
        <p:nvSpPr>
          <p:cNvPr id="25" name="Text 23"/>
          <p:cNvSpPr/>
          <p:nvPr/>
        </p:nvSpPr>
        <p:spPr>
          <a:xfrm>
            <a:off x="2212848" y="2139696"/>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 (Bear)</a:t>
            </a:r>
            <a:endParaRPr lang="en-US" sz="750" dirty="0"/>
          </a:p>
        </p:txBody>
      </p:sp>
      <p:sp>
        <p:nvSpPr>
          <p:cNvPr id="26" name="Text 24"/>
          <p:cNvSpPr/>
          <p:nvPr/>
        </p:nvSpPr>
        <p:spPr>
          <a:xfrm>
            <a:off x="2212848" y="2304288"/>
            <a:ext cx="1417320" cy="219456"/>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$285</a:t>
            </a:r>
            <a:endParaRPr lang="en-US" sz="1200" dirty="0"/>
          </a:p>
        </p:txBody>
      </p:sp>
      <p:sp>
        <p:nvSpPr>
          <p:cNvPr id="27" name="Text 25"/>
          <p:cNvSpPr/>
          <p:nvPr/>
        </p:nvSpPr>
        <p:spPr>
          <a:xfrm>
            <a:off x="2212848" y="2560320"/>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P50 (Base)</a:t>
            </a:r>
            <a:endParaRPr lang="en-US" sz="750" dirty="0"/>
          </a:p>
        </p:txBody>
      </p:sp>
      <p:sp>
        <p:nvSpPr>
          <p:cNvPr id="28" name="Text 26"/>
          <p:cNvSpPr/>
          <p:nvPr/>
        </p:nvSpPr>
        <p:spPr>
          <a:xfrm>
            <a:off x="2212848" y="2724912"/>
            <a:ext cx="1417320" cy="219456"/>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$358</a:t>
            </a:r>
            <a:endParaRPr lang="en-US" sz="1200" dirty="0"/>
          </a:p>
        </p:txBody>
      </p:sp>
      <p:sp>
        <p:nvSpPr>
          <p:cNvPr id="29" name="Text 27"/>
          <p:cNvSpPr/>
          <p:nvPr/>
        </p:nvSpPr>
        <p:spPr>
          <a:xfrm>
            <a:off x="2212848" y="2980944"/>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P95 (Bull)</a:t>
            </a:r>
            <a:endParaRPr lang="en-US" sz="750" dirty="0"/>
          </a:p>
        </p:txBody>
      </p:sp>
      <p:sp>
        <p:nvSpPr>
          <p:cNvPr id="30" name="Text 28"/>
          <p:cNvSpPr/>
          <p:nvPr/>
        </p:nvSpPr>
        <p:spPr>
          <a:xfrm>
            <a:off x="2212848" y="3145536"/>
            <a:ext cx="1417320" cy="219456"/>
          </a:xfrm>
          <a:prstGeom prst="rect">
            <a:avLst/>
          </a:prstGeom>
          <a:noFill/>
          <a:ln/>
        </p:spPr>
        <p:txBody>
          <a:bodyPr wrap="square" lIns="0" tIns="0" rIns="0" bIns="0" rtlCol="0" anchor="ctr"/>
          <a:lstStyle/>
          <a:p>
            <a:pPr indent="0" marL="0">
              <a:buNone/>
            </a:pPr>
            <a:r>
              <a:rPr lang="en-US" sz="1200" b="1" dirty="0">
                <a:solidFill>
                  <a:srgbClr val="B91C1C"/>
                </a:solidFill>
                <a:latin typeface="Calibri" pitchFamily="34" charset="0"/>
                <a:ea typeface="Calibri" pitchFamily="34" charset="-122"/>
                <a:cs typeface="Calibri" pitchFamily="34" charset="-120"/>
              </a:rPr>
              <a:t>$465</a:t>
            </a:r>
            <a:endParaRPr lang="en-US" sz="1200" dirty="0"/>
          </a:p>
        </p:txBody>
      </p:sp>
      <p:sp>
        <p:nvSpPr>
          <p:cNvPr id="31" name="Shape 29"/>
          <p:cNvSpPr/>
          <p:nvPr/>
        </p:nvSpPr>
        <p:spPr>
          <a:xfrm>
            <a:off x="2212848" y="3438144"/>
            <a:ext cx="1417320" cy="12802"/>
          </a:xfrm>
          <a:prstGeom prst="rect">
            <a:avLst/>
          </a:prstGeom>
          <a:solidFill>
            <a:srgbClr val="334155"/>
          </a:solidFill>
          <a:ln w="12700">
            <a:solidFill>
              <a:srgbClr val="334155"/>
            </a:solidFill>
            <a:prstDash val="solid"/>
          </a:ln>
        </p:spPr>
      </p:sp>
      <p:sp>
        <p:nvSpPr>
          <p:cNvPr id="32" name="Text 30"/>
          <p:cNvSpPr/>
          <p:nvPr/>
        </p:nvSpPr>
        <p:spPr>
          <a:xfrm>
            <a:off x="2212848" y="3511296"/>
            <a:ext cx="1417320" cy="182880"/>
          </a:xfrm>
          <a:prstGeom prst="rect">
            <a:avLst/>
          </a:prstGeom>
          <a:noFill/>
          <a:ln/>
        </p:spPr>
        <p:txBody>
          <a:bodyPr wrap="square" lIns="0" tIns="0" rIns="0" bIns="0" rtlCol="0" anchor="ctr"/>
          <a:lstStyle/>
          <a:p>
            <a:pPr indent="0" marL="0">
              <a:buNone/>
            </a:pPr>
            <a:r>
              <a:rPr lang="en-US" sz="800" dirty="0">
                <a:solidFill>
                  <a:srgbClr val="B91C1C"/>
                </a:solidFill>
                <a:latin typeface="Calibri" pitchFamily="34" charset="0"/>
                <a:ea typeface="Calibri" pitchFamily="34" charset="-122"/>
                <a:cs typeface="Calibri" pitchFamily="34" charset="-120"/>
              </a:rPr>
              <a:t>Surge &gt;20%: 31%</a:t>
            </a:r>
            <a:endParaRPr lang="en-US" sz="800" dirty="0"/>
          </a:p>
        </p:txBody>
      </p:sp>
      <p:sp>
        <p:nvSpPr>
          <p:cNvPr id="33" name="Text 31"/>
          <p:cNvSpPr/>
          <p:nvPr/>
        </p:nvSpPr>
        <p:spPr>
          <a:xfrm>
            <a:off x="2212848" y="3712464"/>
            <a:ext cx="1417320" cy="182880"/>
          </a:xfrm>
          <a:prstGeom prst="rect">
            <a:avLst/>
          </a:prstGeom>
          <a:noFill/>
          <a:ln/>
        </p:spPr>
        <p:txBody>
          <a:bodyPr wrap="square" lIns="0" tIns="0" rIns="0" bIns="0" rtlCol="0" anchor="ctr"/>
          <a:lstStyle/>
          <a:p>
            <a:pPr indent="0" marL="0">
              <a:buNone/>
            </a:pPr>
            <a:r>
              <a:rPr lang="en-US" sz="800" b="1" dirty="0">
                <a:solidFill>
                  <a:srgbClr val="C2410C"/>
                </a:solidFill>
                <a:latin typeface="Calibri" pitchFamily="34" charset="0"/>
                <a:ea typeface="Calibri" pitchFamily="34" charset="-122"/>
                <a:cs typeface="Calibri" pitchFamily="34" charset="-120"/>
              </a:rPr>
              <a:t>VaR 95th: +28%</a:t>
            </a:r>
            <a:endParaRPr lang="en-US" sz="800" dirty="0"/>
          </a:p>
        </p:txBody>
      </p:sp>
      <p:sp>
        <p:nvSpPr>
          <p:cNvPr id="34" name="Text 32"/>
          <p:cNvSpPr/>
          <p:nvPr/>
        </p:nvSpPr>
        <p:spPr>
          <a:xfrm>
            <a:off x="2212848" y="3913632"/>
            <a:ext cx="1417320" cy="182880"/>
          </a:xfrm>
          <a:prstGeom prst="rect">
            <a:avLst/>
          </a:prstGeom>
          <a:noFill/>
          <a:ln/>
        </p:spPr>
        <p:txBody>
          <a:bodyPr wrap="square" lIns="0" tIns="0" rIns="0" bIns="0" rtlCol="0" anchor="ctr"/>
          <a:lstStyle/>
          <a:p>
            <a:pPr indent="0" marL="0">
              <a:buNone/>
            </a:pPr>
            <a:r>
              <a:rPr lang="en-US" sz="800" dirty="0">
                <a:solidFill>
                  <a:srgbClr val="059669"/>
                </a:solidFill>
                <a:latin typeface="Calibri" pitchFamily="34" charset="0"/>
                <a:ea typeface="Calibri" pitchFamily="34" charset="-122"/>
                <a:cs typeface="Calibri" pitchFamily="34" charset="-120"/>
              </a:rPr>
              <a:t>Decline &gt;10%: 28%</a:t>
            </a:r>
            <a:endParaRPr lang="en-US" sz="800" dirty="0"/>
          </a:p>
        </p:txBody>
      </p:sp>
      <p:sp>
        <p:nvSpPr>
          <p:cNvPr id="35" name="Shape 33"/>
          <p:cNvSpPr/>
          <p:nvPr/>
        </p:nvSpPr>
        <p:spPr>
          <a:xfrm>
            <a:off x="3785616" y="1481328"/>
            <a:ext cx="1627632" cy="3127248"/>
          </a:xfrm>
          <a:prstGeom prst="rect">
            <a:avLst/>
          </a:prstGeom>
          <a:solidFill>
            <a:srgbClr val="161B22"/>
          </a:solidFill>
          <a:ln w="9525">
            <a:solidFill>
              <a:srgbClr val="F59E0B"/>
            </a:solidFill>
            <a:prstDash val="solid"/>
          </a:ln>
        </p:spPr>
      </p:sp>
      <p:sp>
        <p:nvSpPr>
          <p:cNvPr id="36" name="Shape 34"/>
          <p:cNvSpPr/>
          <p:nvPr/>
        </p:nvSpPr>
        <p:spPr>
          <a:xfrm>
            <a:off x="3785616" y="1481328"/>
            <a:ext cx="1627632" cy="45720"/>
          </a:xfrm>
          <a:prstGeom prst="rect">
            <a:avLst/>
          </a:prstGeom>
          <a:solidFill>
            <a:srgbClr val="F59E0B"/>
          </a:solidFill>
          <a:ln w="12700">
            <a:solidFill>
              <a:srgbClr val="F59E0B"/>
            </a:solidFill>
            <a:prstDash val="solid"/>
          </a:ln>
        </p:spPr>
      </p:sp>
      <p:sp>
        <p:nvSpPr>
          <p:cNvPr id="37" name="Text 35"/>
          <p:cNvSpPr/>
          <p:nvPr/>
        </p:nvSpPr>
        <p:spPr>
          <a:xfrm>
            <a:off x="3877056" y="1572768"/>
            <a:ext cx="1417320" cy="292608"/>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Methanol</a:t>
            </a:r>
            <a:endParaRPr lang="en-US" sz="1000" dirty="0"/>
          </a:p>
        </p:txBody>
      </p:sp>
      <p:sp>
        <p:nvSpPr>
          <p:cNvPr id="38" name="Text 36"/>
          <p:cNvSpPr/>
          <p:nvPr/>
        </p:nvSpPr>
        <p:spPr>
          <a:xfrm>
            <a:off x="3877056" y="1865376"/>
            <a:ext cx="14173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Current: $802.00</a:t>
            </a:r>
            <a:endParaRPr lang="en-US" sz="800" dirty="0"/>
          </a:p>
        </p:txBody>
      </p:sp>
      <p:sp>
        <p:nvSpPr>
          <p:cNvPr id="39" name="Text 37"/>
          <p:cNvSpPr/>
          <p:nvPr/>
        </p:nvSpPr>
        <p:spPr>
          <a:xfrm>
            <a:off x="3877056" y="2139696"/>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 (Bear)</a:t>
            </a:r>
            <a:endParaRPr lang="en-US" sz="750" dirty="0"/>
          </a:p>
        </p:txBody>
      </p:sp>
      <p:sp>
        <p:nvSpPr>
          <p:cNvPr id="40" name="Text 38"/>
          <p:cNvSpPr/>
          <p:nvPr/>
        </p:nvSpPr>
        <p:spPr>
          <a:xfrm>
            <a:off x="3877056" y="2304288"/>
            <a:ext cx="1417320" cy="219456"/>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$610</a:t>
            </a:r>
            <a:endParaRPr lang="en-US" sz="1200" dirty="0"/>
          </a:p>
        </p:txBody>
      </p:sp>
      <p:sp>
        <p:nvSpPr>
          <p:cNvPr id="41" name="Text 39"/>
          <p:cNvSpPr/>
          <p:nvPr/>
        </p:nvSpPr>
        <p:spPr>
          <a:xfrm>
            <a:off x="3877056" y="2560320"/>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P50 (Base)</a:t>
            </a:r>
            <a:endParaRPr lang="en-US" sz="750" dirty="0"/>
          </a:p>
        </p:txBody>
      </p:sp>
      <p:sp>
        <p:nvSpPr>
          <p:cNvPr id="42" name="Text 40"/>
          <p:cNvSpPr/>
          <p:nvPr/>
        </p:nvSpPr>
        <p:spPr>
          <a:xfrm>
            <a:off x="3877056" y="2724912"/>
            <a:ext cx="1417320" cy="219456"/>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$855</a:t>
            </a:r>
            <a:endParaRPr lang="en-US" sz="1200" dirty="0"/>
          </a:p>
        </p:txBody>
      </p:sp>
      <p:sp>
        <p:nvSpPr>
          <p:cNvPr id="43" name="Text 41"/>
          <p:cNvSpPr/>
          <p:nvPr/>
        </p:nvSpPr>
        <p:spPr>
          <a:xfrm>
            <a:off x="3877056" y="2980944"/>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P95 (Bull)</a:t>
            </a:r>
            <a:endParaRPr lang="en-US" sz="750" dirty="0"/>
          </a:p>
        </p:txBody>
      </p:sp>
      <p:sp>
        <p:nvSpPr>
          <p:cNvPr id="44" name="Text 42"/>
          <p:cNvSpPr/>
          <p:nvPr/>
        </p:nvSpPr>
        <p:spPr>
          <a:xfrm>
            <a:off x="3877056" y="3145536"/>
            <a:ext cx="1417320" cy="219456"/>
          </a:xfrm>
          <a:prstGeom prst="rect">
            <a:avLst/>
          </a:prstGeom>
          <a:noFill/>
          <a:ln/>
        </p:spPr>
        <p:txBody>
          <a:bodyPr wrap="square" lIns="0" tIns="0" rIns="0" bIns="0" rtlCol="0" anchor="ctr"/>
          <a:lstStyle/>
          <a:p>
            <a:pPr indent="0" marL="0">
              <a:buNone/>
            </a:pPr>
            <a:r>
              <a:rPr lang="en-US" sz="1200" b="1" dirty="0">
                <a:solidFill>
                  <a:srgbClr val="B91C1C"/>
                </a:solidFill>
                <a:latin typeface="Calibri" pitchFamily="34" charset="0"/>
                <a:ea typeface="Calibri" pitchFamily="34" charset="-122"/>
                <a:cs typeface="Calibri" pitchFamily="34" charset="-120"/>
              </a:rPr>
              <a:t>$1,180</a:t>
            </a:r>
            <a:endParaRPr lang="en-US" sz="1200" dirty="0"/>
          </a:p>
        </p:txBody>
      </p:sp>
      <p:sp>
        <p:nvSpPr>
          <p:cNvPr id="45" name="Shape 43"/>
          <p:cNvSpPr/>
          <p:nvPr/>
        </p:nvSpPr>
        <p:spPr>
          <a:xfrm>
            <a:off x="3877056" y="3438144"/>
            <a:ext cx="1417320" cy="12802"/>
          </a:xfrm>
          <a:prstGeom prst="rect">
            <a:avLst/>
          </a:prstGeom>
          <a:solidFill>
            <a:srgbClr val="334155"/>
          </a:solidFill>
          <a:ln w="12700">
            <a:solidFill>
              <a:srgbClr val="334155"/>
            </a:solidFill>
            <a:prstDash val="solid"/>
          </a:ln>
        </p:spPr>
      </p:sp>
      <p:sp>
        <p:nvSpPr>
          <p:cNvPr id="46" name="Text 44"/>
          <p:cNvSpPr/>
          <p:nvPr/>
        </p:nvSpPr>
        <p:spPr>
          <a:xfrm>
            <a:off x="3877056" y="3511296"/>
            <a:ext cx="1417320" cy="182880"/>
          </a:xfrm>
          <a:prstGeom prst="rect">
            <a:avLst/>
          </a:prstGeom>
          <a:noFill/>
          <a:ln/>
        </p:spPr>
        <p:txBody>
          <a:bodyPr wrap="square" lIns="0" tIns="0" rIns="0" bIns="0" rtlCol="0" anchor="ctr"/>
          <a:lstStyle/>
          <a:p>
            <a:pPr indent="0" marL="0">
              <a:buNone/>
            </a:pPr>
            <a:r>
              <a:rPr lang="en-US" sz="800" dirty="0">
                <a:solidFill>
                  <a:srgbClr val="B91C1C"/>
                </a:solidFill>
                <a:latin typeface="Calibri" pitchFamily="34" charset="0"/>
                <a:ea typeface="Calibri" pitchFamily="34" charset="-122"/>
                <a:cs typeface="Calibri" pitchFamily="34" charset="-120"/>
              </a:rPr>
              <a:t>Surge &gt;20%: 44%</a:t>
            </a:r>
            <a:endParaRPr lang="en-US" sz="800" dirty="0"/>
          </a:p>
        </p:txBody>
      </p:sp>
      <p:sp>
        <p:nvSpPr>
          <p:cNvPr id="47" name="Text 45"/>
          <p:cNvSpPr/>
          <p:nvPr/>
        </p:nvSpPr>
        <p:spPr>
          <a:xfrm>
            <a:off x="3877056" y="3712464"/>
            <a:ext cx="1417320" cy="182880"/>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VaR 95th: +47%</a:t>
            </a:r>
            <a:endParaRPr lang="en-US" sz="800" dirty="0"/>
          </a:p>
        </p:txBody>
      </p:sp>
      <p:sp>
        <p:nvSpPr>
          <p:cNvPr id="48" name="Text 46"/>
          <p:cNvSpPr/>
          <p:nvPr/>
        </p:nvSpPr>
        <p:spPr>
          <a:xfrm>
            <a:off x="3877056" y="3913632"/>
            <a:ext cx="1417320" cy="182880"/>
          </a:xfrm>
          <a:prstGeom prst="rect">
            <a:avLst/>
          </a:prstGeom>
          <a:noFill/>
          <a:ln/>
        </p:spPr>
        <p:txBody>
          <a:bodyPr wrap="square" lIns="0" tIns="0" rIns="0" bIns="0" rtlCol="0" anchor="ctr"/>
          <a:lstStyle/>
          <a:p>
            <a:pPr indent="0" marL="0">
              <a:buNone/>
            </a:pPr>
            <a:r>
              <a:rPr lang="en-US" sz="800" dirty="0">
                <a:solidFill>
                  <a:srgbClr val="059669"/>
                </a:solidFill>
                <a:latin typeface="Calibri" pitchFamily="34" charset="0"/>
                <a:ea typeface="Calibri" pitchFamily="34" charset="-122"/>
                <a:cs typeface="Calibri" pitchFamily="34" charset="-120"/>
              </a:rPr>
              <a:t>Decline &gt;10%: 22%</a:t>
            </a:r>
            <a:endParaRPr lang="en-US" sz="800" dirty="0"/>
          </a:p>
        </p:txBody>
      </p:sp>
      <p:sp>
        <p:nvSpPr>
          <p:cNvPr id="49" name="Shape 47"/>
          <p:cNvSpPr/>
          <p:nvPr/>
        </p:nvSpPr>
        <p:spPr>
          <a:xfrm>
            <a:off x="5449824" y="1481328"/>
            <a:ext cx="1627632" cy="3127248"/>
          </a:xfrm>
          <a:prstGeom prst="rect">
            <a:avLst/>
          </a:prstGeom>
          <a:solidFill>
            <a:srgbClr val="161B22"/>
          </a:solidFill>
          <a:ln w="9525">
            <a:solidFill>
              <a:srgbClr val="F59E0B"/>
            </a:solidFill>
            <a:prstDash val="solid"/>
          </a:ln>
        </p:spPr>
      </p:sp>
      <p:sp>
        <p:nvSpPr>
          <p:cNvPr id="50" name="Shape 48"/>
          <p:cNvSpPr/>
          <p:nvPr/>
        </p:nvSpPr>
        <p:spPr>
          <a:xfrm>
            <a:off x="5449824" y="1481328"/>
            <a:ext cx="1627632" cy="45720"/>
          </a:xfrm>
          <a:prstGeom prst="rect">
            <a:avLst/>
          </a:prstGeom>
          <a:solidFill>
            <a:srgbClr val="F59E0B"/>
          </a:solidFill>
          <a:ln w="12700">
            <a:solidFill>
              <a:srgbClr val="F59E0B"/>
            </a:solidFill>
            <a:prstDash val="solid"/>
          </a:ln>
        </p:spPr>
      </p:sp>
      <p:sp>
        <p:nvSpPr>
          <p:cNvPr id="51" name="Text 49"/>
          <p:cNvSpPr/>
          <p:nvPr/>
        </p:nvSpPr>
        <p:spPr>
          <a:xfrm>
            <a:off x="5541264" y="1572768"/>
            <a:ext cx="1417320" cy="292608"/>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Acetic Acid</a:t>
            </a:r>
            <a:endParaRPr lang="en-US" sz="1000" dirty="0"/>
          </a:p>
        </p:txBody>
      </p:sp>
      <p:sp>
        <p:nvSpPr>
          <p:cNvPr id="52" name="Text 50"/>
          <p:cNvSpPr/>
          <p:nvPr/>
        </p:nvSpPr>
        <p:spPr>
          <a:xfrm>
            <a:off x="5541264" y="1865376"/>
            <a:ext cx="14173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Current: $680.00</a:t>
            </a:r>
            <a:endParaRPr lang="en-US" sz="800" dirty="0"/>
          </a:p>
        </p:txBody>
      </p:sp>
      <p:sp>
        <p:nvSpPr>
          <p:cNvPr id="53" name="Text 51"/>
          <p:cNvSpPr/>
          <p:nvPr/>
        </p:nvSpPr>
        <p:spPr>
          <a:xfrm>
            <a:off x="5541264" y="2139696"/>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 (Bear)</a:t>
            </a:r>
            <a:endParaRPr lang="en-US" sz="750" dirty="0"/>
          </a:p>
        </p:txBody>
      </p:sp>
      <p:sp>
        <p:nvSpPr>
          <p:cNvPr id="54" name="Text 52"/>
          <p:cNvSpPr/>
          <p:nvPr/>
        </p:nvSpPr>
        <p:spPr>
          <a:xfrm>
            <a:off x="5541264" y="2304288"/>
            <a:ext cx="1417320" cy="219456"/>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$510</a:t>
            </a:r>
            <a:endParaRPr lang="en-US" sz="1200" dirty="0"/>
          </a:p>
        </p:txBody>
      </p:sp>
      <p:sp>
        <p:nvSpPr>
          <p:cNvPr id="55" name="Text 53"/>
          <p:cNvSpPr/>
          <p:nvPr/>
        </p:nvSpPr>
        <p:spPr>
          <a:xfrm>
            <a:off x="5541264" y="2560320"/>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P50 (Base)</a:t>
            </a:r>
            <a:endParaRPr lang="en-US" sz="750" dirty="0"/>
          </a:p>
        </p:txBody>
      </p:sp>
      <p:sp>
        <p:nvSpPr>
          <p:cNvPr id="56" name="Text 54"/>
          <p:cNvSpPr/>
          <p:nvPr/>
        </p:nvSpPr>
        <p:spPr>
          <a:xfrm>
            <a:off x="5541264" y="2724912"/>
            <a:ext cx="1417320" cy="219456"/>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$695</a:t>
            </a:r>
            <a:endParaRPr lang="en-US" sz="1200" dirty="0"/>
          </a:p>
        </p:txBody>
      </p:sp>
      <p:sp>
        <p:nvSpPr>
          <p:cNvPr id="57" name="Text 55"/>
          <p:cNvSpPr/>
          <p:nvPr/>
        </p:nvSpPr>
        <p:spPr>
          <a:xfrm>
            <a:off x="5541264" y="2980944"/>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P95 (Bull)</a:t>
            </a:r>
            <a:endParaRPr lang="en-US" sz="750" dirty="0"/>
          </a:p>
        </p:txBody>
      </p:sp>
      <p:sp>
        <p:nvSpPr>
          <p:cNvPr id="58" name="Text 56"/>
          <p:cNvSpPr/>
          <p:nvPr/>
        </p:nvSpPr>
        <p:spPr>
          <a:xfrm>
            <a:off x="5541264" y="3145536"/>
            <a:ext cx="1417320" cy="219456"/>
          </a:xfrm>
          <a:prstGeom prst="rect">
            <a:avLst/>
          </a:prstGeom>
          <a:noFill/>
          <a:ln/>
        </p:spPr>
        <p:txBody>
          <a:bodyPr wrap="square" lIns="0" tIns="0" rIns="0" bIns="0" rtlCol="0" anchor="ctr"/>
          <a:lstStyle/>
          <a:p>
            <a:pPr indent="0" marL="0">
              <a:buNone/>
            </a:pPr>
            <a:r>
              <a:rPr lang="en-US" sz="1200" b="1" dirty="0">
                <a:solidFill>
                  <a:srgbClr val="B91C1C"/>
                </a:solidFill>
                <a:latin typeface="Calibri" pitchFamily="34" charset="0"/>
                <a:ea typeface="Calibri" pitchFamily="34" charset="-122"/>
                <a:cs typeface="Calibri" pitchFamily="34" charset="-120"/>
              </a:rPr>
              <a:t>$920</a:t>
            </a:r>
            <a:endParaRPr lang="en-US" sz="1200" dirty="0"/>
          </a:p>
        </p:txBody>
      </p:sp>
      <p:sp>
        <p:nvSpPr>
          <p:cNvPr id="59" name="Shape 57"/>
          <p:cNvSpPr/>
          <p:nvPr/>
        </p:nvSpPr>
        <p:spPr>
          <a:xfrm>
            <a:off x="5541264" y="3438144"/>
            <a:ext cx="1417320" cy="12802"/>
          </a:xfrm>
          <a:prstGeom prst="rect">
            <a:avLst/>
          </a:prstGeom>
          <a:solidFill>
            <a:srgbClr val="334155"/>
          </a:solidFill>
          <a:ln w="12700">
            <a:solidFill>
              <a:srgbClr val="334155"/>
            </a:solidFill>
            <a:prstDash val="solid"/>
          </a:ln>
        </p:spPr>
      </p:sp>
      <p:sp>
        <p:nvSpPr>
          <p:cNvPr id="60" name="Text 58"/>
          <p:cNvSpPr/>
          <p:nvPr/>
        </p:nvSpPr>
        <p:spPr>
          <a:xfrm>
            <a:off x="5541264" y="3511296"/>
            <a:ext cx="1417320" cy="182880"/>
          </a:xfrm>
          <a:prstGeom prst="rect">
            <a:avLst/>
          </a:prstGeom>
          <a:noFill/>
          <a:ln/>
        </p:spPr>
        <p:txBody>
          <a:bodyPr wrap="square" lIns="0" tIns="0" rIns="0" bIns="0" rtlCol="0" anchor="ctr"/>
          <a:lstStyle/>
          <a:p>
            <a:pPr indent="0" marL="0">
              <a:buNone/>
            </a:pPr>
            <a:r>
              <a:rPr lang="en-US" sz="800" dirty="0">
                <a:solidFill>
                  <a:srgbClr val="B91C1C"/>
                </a:solidFill>
                <a:latin typeface="Calibri" pitchFamily="34" charset="0"/>
                <a:ea typeface="Calibri" pitchFamily="34" charset="-122"/>
                <a:cs typeface="Calibri" pitchFamily="34" charset="-120"/>
              </a:rPr>
              <a:t>Surge &gt;20%: 28%</a:t>
            </a:r>
            <a:endParaRPr lang="en-US" sz="800" dirty="0"/>
          </a:p>
        </p:txBody>
      </p:sp>
      <p:sp>
        <p:nvSpPr>
          <p:cNvPr id="61" name="Text 59"/>
          <p:cNvSpPr/>
          <p:nvPr/>
        </p:nvSpPr>
        <p:spPr>
          <a:xfrm>
            <a:off x="5541264" y="3712464"/>
            <a:ext cx="1417320" cy="182880"/>
          </a:xfrm>
          <a:prstGeom prst="rect">
            <a:avLst/>
          </a:prstGeom>
          <a:noFill/>
          <a:ln/>
        </p:spPr>
        <p:txBody>
          <a:bodyPr wrap="square" lIns="0" tIns="0" rIns="0" bIns="0" rtlCol="0" anchor="ctr"/>
          <a:lstStyle/>
          <a:p>
            <a:pPr indent="0" marL="0">
              <a:buNone/>
            </a:pPr>
            <a:r>
              <a:rPr lang="en-US" sz="800" b="1" dirty="0">
                <a:solidFill>
                  <a:srgbClr val="F59E0B"/>
                </a:solidFill>
                <a:latin typeface="Calibri" pitchFamily="34" charset="0"/>
                <a:ea typeface="Calibri" pitchFamily="34" charset="-122"/>
                <a:cs typeface="Calibri" pitchFamily="34" charset="-120"/>
              </a:rPr>
              <a:t>VaR 95th: +35%</a:t>
            </a:r>
            <a:endParaRPr lang="en-US" sz="800" dirty="0"/>
          </a:p>
        </p:txBody>
      </p:sp>
      <p:sp>
        <p:nvSpPr>
          <p:cNvPr id="62" name="Text 60"/>
          <p:cNvSpPr/>
          <p:nvPr/>
        </p:nvSpPr>
        <p:spPr>
          <a:xfrm>
            <a:off x="5541264" y="3913632"/>
            <a:ext cx="1417320" cy="182880"/>
          </a:xfrm>
          <a:prstGeom prst="rect">
            <a:avLst/>
          </a:prstGeom>
          <a:noFill/>
          <a:ln/>
        </p:spPr>
        <p:txBody>
          <a:bodyPr wrap="square" lIns="0" tIns="0" rIns="0" bIns="0" rtlCol="0" anchor="ctr"/>
          <a:lstStyle/>
          <a:p>
            <a:pPr indent="0" marL="0">
              <a:buNone/>
            </a:pPr>
            <a:r>
              <a:rPr lang="en-US" sz="800" dirty="0">
                <a:solidFill>
                  <a:srgbClr val="059669"/>
                </a:solidFill>
                <a:latin typeface="Calibri" pitchFamily="34" charset="0"/>
                <a:ea typeface="Calibri" pitchFamily="34" charset="-122"/>
                <a:cs typeface="Calibri" pitchFamily="34" charset="-120"/>
              </a:rPr>
              <a:t>Decline &gt;10%: 24%</a:t>
            </a:r>
            <a:endParaRPr lang="en-US" sz="800" dirty="0"/>
          </a:p>
        </p:txBody>
      </p:sp>
      <p:sp>
        <p:nvSpPr>
          <p:cNvPr id="63" name="Shape 61"/>
          <p:cNvSpPr/>
          <p:nvPr/>
        </p:nvSpPr>
        <p:spPr>
          <a:xfrm>
            <a:off x="7114032" y="1481328"/>
            <a:ext cx="1627632" cy="3127248"/>
          </a:xfrm>
          <a:prstGeom prst="rect">
            <a:avLst/>
          </a:prstGeom>
          <a:solidFill>
            <a:srgbClr val="161B22"/>
          </a:solidFill>
          <a:ln w="9525">
            <a:solidFill>
              <a:srgbClr val="14B8A6"/>
            </a:solidFill>
            <a:prstDash val="solid"/>
          </a:ln>
        </p:spPr>
      </p:sp>
      <p:sp>
        <p:nvSpPr>
          <p:cNvPr id="64" name="Shape 62"/>
          <p:cNvSpPr/>
          <p:nvPr/>
        </p:nvSpPr>
        <p:spPr>
          <a:xfrm>
            <a:off x="7114032" y="1481328"/>
            <a:ext cx="1627632" cy="45720"/>
          </a:xfrm>
          <a:prstGeom prst="rect">
            <a:avLst/>
          </a:prstGeom>
          <a:solidFill>
            <a:srgbClr val="14B8A6"/>
          </a:solidFill>
          <a:ln w="12700">
            <a:solidFill>
              <a:srgbClr val="14B8A6"/>
            </a:solidFill>
            <a:prstDash val="solid"/>
          </a:ln>
        </p:spPr>
      </p:sp>
      <p:sp>
        <p:nvSpPr>
          <p:cNvPr id="65" name="Text 63"/>
          <p:cNvSpPr/>
          <p:nvPr/>
        </p:nvSpPr>
        <p:spPr>
          <a:xfrm>
            <a:off x="7205472" y="1572768"/>
            <a:ext cx="1417320" cy="292608"/>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Polysilicon</a:t>
            </a:r>
            <a:endParaRPr lang="en-US" sz="1000" dirty="0"/>
          </a:p>
        </p:txBody>
      </p:sp>
      <p:sp>
        <p:nvSpPr>
          <p:cNvPr id="66" name="Text 64"/>
          <p:cNvSpPr/>
          <p:nvPr/>
        </p:nvSpPr>
        <p:spPr>
          <a:xfrm>
            <a:off x="7205472" y="1865376"/>
            <a:ext cx="1417320"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Current: $9.00</a:t>
            </a:r>
            <a:endParaRPr lang="en-US" sz="800" dirty="0"/>
          </a:p>
        </p:txBody>
      </p:sp>
      <p:sp>
        <p:nvSpPr>
          <p:cNvPr id="67" name="Text 65"/>
          <p:cNvSpPr/>
          <p:nvPr/>
        </p:nvSpPr>
        <p:spPr>
          <a:xfrm>
            <a:off x="7205472" y="2139696"/>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 (Bear)</a:t>
            </a:r>
            <a:endParaRPr lang="en-US" sz="750" dirty="0"/>
          </a:p>
        </p:txBody>
      </p:sp>
      <p:sp>
        <p:nvSpPr>
          <p:cNvPr id="68" name="Text 66"/>
          <p:cNvSpPr/>
          <p:nvPr/>
        </p:nvSpPr>
        <p:spPr>
          <a:xfrm>
            <a:off x="7205472" y="2304288"/>
            <a:ext cx="1417320" cy="219456"/>
          </a:xfrm>
          <a:prstGeom prst="rect">
            <a:avLst/>
          </a:prstGeom>
          <a:noFill/>
          <a:ln/>
        </p:spPr>
        <p:txBody>
          <a:bodyPr wrap="square" lIns="0" tIns="0" rIns="0" bIns="0"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$3.80</a:t>
            </a:r>
            <a:endParaRPr lang="en-US" sz="1200" dirty="0"/>
          </a:p>
        </p:txBody>
      </p:sp>
      <p:sp>
        <p:nvSpPr>
          <p:cNvPr id="69" name="Text 67"/>
          <p:cNvSpPr/>
          <p:nvPr/>
        </p:nvSpPr>
        <p:spPr>
          <a:xfrm>
            <a:off x="7205472" y="2560320"/>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P50 (Base)</a:t>
            </a:r>
            <a:endParaRPr lang="en-US" sz="750" dirty="0"/>
          </a:p>
        </p:txBody>
      </p:sp>
      <p:sp>
        <p:nvSpPr>
          <p:cNvPr id="70" name="Text 68"/>
          <p:cNvSpPr/>
          <p:nvPr/>
        </p:nvSpPr>
        <p:spPr>
          <a:xfrm>
            <a:off x="7205472" y="2724912"/>
            <a:ext cx="1417320" cy="219456"/>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$6.20</a:t>
            </a:r>
            <a:endParaRPr lang="en-US" sz="1200" dirty="0"/>
          </a:p>
        </p:txBody>
      </p:sp>
      <p:sp>
        <p:nvSpPr>
          <p:cNvPr id="71" name="Text 69"/>
          <p:cNvSpPr/>
          <p:nvPr/>
        </p:nvSpPr>
        <p:spPr>
          <a:xfrm>
            <a:off x="7205472" y="2980944"/>
            <a:ext cx="1417320" cy="182880"/>
          </a:xfrm>
          <a:prstGeom prst="rect">
            <a:avLst/>
          </a:prstGeom>
          <a:noFill/>
          <a:ln/>
        </p:spPr>
        <p:txBody>
          <a:bodyPr wrap="square" lIns="0" tIns="0" rIns="0" bIns="0" rtlCol="0" anchor="ctr"/>
          <a:lstStyle/>
          <a:p>
            <a:pPr indent="0" marL="0">
              <a:buNone/>
            </a:pPr>
            <a:r>
              <a:rPr lang="en-US" sz="750" dirty="0">
                <a:solidFill>
                  <a:srgbClr val="64748B"/>
                </a:solidFill>
                <a:latin typeface="Calibri" pitchFamily="34" charset="0"/>
                <a:ea typeface="Calibri" pitchFamily="34" charset="-122"/>
                <a:cs typeface="Calibri" pitchFamily="34" charset="-120"/>
              </a:rPr>
              <a:t>P95 (Bull)</a:t>
            </a:r>
            <a:endParaRPr lang="en-US" sz="750" dirty="0"/>
          </a:p>
        </p:txBody>
      </p:sp>
      <p:sp>
        <p:nvSpPr>
          <p:cNvPr id="72" name="Text 70"/>
          <p:cNvSpPr/>
          <p:nvPr/>
        </p:nvSpPr>
        <p:spPr>
          <a:xfrm>
            <a:off x="7205472" y="3145536"/>
            <a:ext cx="1417320" cy="219456"/>
          </a:xfrm>
          <a:prstGeom prst="rect">
            <a:avLst/>
          </a:prstGeom>
          <a:noFill/>
          <a:ln/>
        </p:spPr>
        <p:txBody>
          <a:bodyPr wrap="square" lIns="0" tIns="0" rIns="0" bIns="0" rtlCol="0" anchor="ctr"/>
          <a:lstStyle/>
          <a:p>
            <a:pPr indent="0" marL="0">
              <a:buNone/>
            </a:pPr>
            <a:r>
              <a:rPr lang="en-US" sz="1200" b="1" dirty="0">
                <a:solidFill>
                  <a:srgbClr val="B91C1C"/>
                </a:solidFill>
                <a:latin typeface="Calibri" pitchFamily="34" charset="0"/>
                <a:ea typeface="Calibri" pitchFamily="34" charset="-122"/>
                <a:cs typeface="Calibri" pitchFamily="34" charset="-120"/>
              </a:rPr>
              <a:t>$14.50</a:t>
            </a:r>
            <a:endParaRPr lang="en-US" sz="1200" dirty="0"/>
          </a:p>
        </p:txBody>
      </p:sp>
      <p:sp>
        <p:nvSpPr>
          <p:cNvPr id="73" name="Shape 71"/>
          <p:cNvSpPr/>
          <p:nvPr/>
        </p:nvSpPr>
        <p:spPr>
          <a:xfrm>
            <a:off x="7205472" y="3438144"/>
            <a:ext cx="1417320" cy="12802"/>
          </a:xfrm>
          <a:prstGeom prst="rect">
            <a:avLst/>
          </a:prstGeom>
          <a:solidFill>
            <a:srgbClr val="334155"/>
          </a:solidFill>
          <a:ln w="12700">
            <a:solidFill>
              <a:srgbClr val="334155"/>
            </a:solidFill>
            <a:prstDash val="solid"/>
          </a:ln>
        </p:spPr>
      </p:sp>
      <p:sp>
        <p:nvSpPr>
          <p:cNvPr id="74" name="Text 72"/>
          <p:cNvSpPr/>
          <p:nvPr/>
        </p:nvSpPr>
        <p:spPr>
          <a:xfrm>
            <a:off x="7205472" y="3511296"/>
            <a:ext cx="1417320" cy="182880"/>
          </a:xfrm>
          <a:prstGeom prst="rect">
            <a:avLst/>
          </a:prstGeom>
          <a:noFill/>
          <a:ln/>
        </p:spPr>
        <p:txBody>
          <a:bodyPr wrap="square" lIns="0" tIns="0" rIns="0" bIns="0" rtlCol="0" anchor="ctr"/>
          <a:lstStyle/>
          <a:p>
            <a:pPr indent="0" marL="0">
              <a:buNone/>
            </a:pPr>
            <a:r>
              <a:rPr lang="en-US" sz="800" dirty="0">
                <a:solidFill>
                  <a:srgbClr val="B91C1C"/>
                </a:solidFill>
                <a:latin typeface="Calibri" pitchFamily="34" charset="0"/>
                <a:ea typeface="Calibri" pitchFamily="34" charset="-122"/>
                <a:cs typeface="Calibri" pitchFamily="34" charset="-120"/>
              </a:rPr>
              <a:t>Surge &gt;20%: 22%</a:t>
            </a:r>
            <a:endParaRPr lang="en-US" sz="800" dirty="0"/>
          </a:p>
        </p:txBody>
      </p:sp>
      <p:sp>
        <p:nvSpPr>
          <p:cNvPr id="75" name="Text 73"/>
          <p:cNvSpPr/>
          <p:nvPr/>
        </p:nvSpPr>
        <p:spPr>
          <a:xfrm>
            <a:off x="7205472" y="3712464"/>
            <a:ext cx="1417320" cy="182880"/>
          </a:xfrm>
          <a:prstGeom prst="rect">
            <a:avLst/>
          </a:prstGeom>
          <a:noFill/>
          <a:ln/>
        </p:spPr>
        <p:txBody>
          <a:bodyPr wrap="square" lIns="0" tIns="0" rIns="0" bIns="0" rtlCol="0" anchor="ctr"/>
          <a:lstStyle/>
          <a:p>
            <a:pPr indent="0" marL="0">
              <a:buNone/>
            </a:pPr>
            <a:r>
              <a:rPr lang="en-US" sz="800" b="1" dirty="0">
                <a:solidFill>
                  <a:srgbClr val="14B8A6"/>
                </a:solidFill>
                <a:latin typeface="Calibri" pitchFamily="34" charset="0"/>
                <a:ea typeface="Calibri" pitchFamily="34" charset="-122"/>
                <a:cs typeface="Calibri" pitchFamily="34" charset="-120"/>
              </a:rPr>
              <a:t>VaR 95th: +61%</a:t>
            </a:r>
            <a:endParaRPr lang="en-US" sz="800" dirty="0"/>
          </a:p>
        </p:txBody>
      </p:sp>
      <p:sp>
        <p:nvSpPr>
          <p:cNvPr id="76" name="Text 74"/>
          <p:cNvSpPr/>
          <p:nvPr/>
        </p:nvSpPr>
        <p:spPr>
          <a:xfrm>
            <a:off x="7205472" y="3913632"/>
            <a:ext cx="1417320" cy="182880"/>
          </a:xfrm>
          <a:prstGeom prst="rect">
            <a:avLst/>
          </a:prstGeom>
          <a:noFill/>
          <a:ln/>
        </p:spPr>
        <p:txBody>
          <a:bodyPr wrap="square" lIns="0" tIns="0" rIns="0" bIns="0" rtlCol="0" anchor="ctr"/>
          <a:lstStyle/>
          <a:p>
            <a:pPr indent="0" marL="0">
              <a:buNone/>
            </a:pPr>
            <a:r>
              <a:rPr lang="en-US" sz="800" dirty="0">
                <a:solidFill>
                  <a:srgbClr val="059669"/>
                </a:solidFill>
                <a:latin typeface="Calibri" pitchFamily="34" charset="0"/>
                <a:ea typeface="Calibri" pitchFamily="34" charset="-122"/>
                <a:cs typeface="Calibri" pitchFamily="34" charset="-120"/>
              </a:rPr>
              <a:t>Decline &gt;10%: 55%</a:t>
            </a:r>
            <a:endParaRPr lang="en-US" sz="800" dirty="0"/>
          </a:p>
        </p:txBody>
      </p:sp>
      <p:sp>
        <p:nvSpPr>
          <p:cNvPr id="77" name="Shape 75"/>
          <p:cNvSpPr/>
          <p:nvPr/>
        </p:nvSpPr>
        <p:spPr>
          <a:xfrm>
            <a:off x="457200" y="4736592"/>
            <a:ext cx="8229600" cy="329184"/>
          </a:xfrm>
          <a:prstGeom prst="rect">
            <a:avLst/>
          </a:prstGeom>
          <a:solidFill>
            <a:srgbClr val="1C2230"/>
          </a:solidFill>
          <a:ln w="9525">
            <a:solidFill>
              <a:srgbClr val="21262D"/>
            </a:solidFill>
            <a:prstDash val="solid"/>
          </a:ln>
        </p:spPr>
      </p:sp>
      <p:sp>
        <p:nvSpPr>
          <p:cNvPr id="78" name="Text 76"/>
          <p:cNvSpPr/>
          <p:nvPr/>
        </p:nvSpPr>
        <p:spPr>
          <a:xfrm>
            <a:off x="594360" y="4736592"/>
            <a:ext cx="7955280" cy="329184"/>
          </a:xfrm>
          <a:prstGeom prst="rect">
            <a:avLst/>
          </a:prstGeom>
          <a:noFill/>
          <a:ln/>
        </p:spPr>
        <p:txBody>
          <a:bodyPr wrap="square" lIns="0" tIns="0" rIns="0" bIns="0" rtlCol="0" anchor="ctr"/>
          <a:lstStyle/>
          <a:p>
            <a:pPr indent="0" marL="0">
              <a:buNone/>
            </a:pPr>
            <a:r>
              <a:rPr lang="en-US" sz="950" i="1" dirty="0">
                <a:solidFill>
                  <a:srgbClr val="D97706"/>
                </a:solidFill>
                <a:latin typeface="Calibri" pitchFamily="34" charset="0"/>
                <a:ea typeface="Calibri" pitchFamily="34" charset="-122"/>
                <a:cs typeface="Calibri" pitchFamily="34" charset="-120"/>
              </a:rPr>
              <a:t>LNG Japan: 62% probability of &gt;20% price surge over 12 months. This is not a tail risk — it is the central tendency given current geopolitical conditions.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PROCUREMENT IMPLICATIONS</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Operational Actions for Pharma Procurement Leadership</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Shape 3"/>
          <p:cNvSpPr/>
          <p:nvPr/>
        </p:nvSpPr>
        <p:spPr>
          <a:xfrm>
            <a:off x="457200" y="1005840"/>
            <a:ext cx="8229600" cy="713232"/>
          </a:xfrm>
          <a:prstGeom prst="rect">
            <a:avLst/>
          </a:prstGeom>
          <a:solidFill>
            <a:srgbClr val="161B22"/>
          </a:solidFill>
          <a:ln w="6350">
            <a:solidFill>
              <a:srgbClr val="21262D"/>
            </a:solidFill>
            <a:prstDash val="solid"/>
          </a:ln>
        </p:spPr>
      </p:sp>
      <p:sp>
        <p:nvSpPr>
          <p:cNvPr id="6" name="Shape 4"/>
          <p:cNvSpPr/>
          <p:nvPr/>
        </p:nvSpPr>
        <p:spPr>
          <a:xfrm>
            <a:off x="457200" y="1005840"/>
            <a:ext cx="45720" cy="713232"/>
          </a:xfrm>
          <a:prstGeom prst="rect">
            <a:avLst/>
          </a:prstGeom>
          <a:solidFill>
            <a:srgbClr val="B91C1C"/>
          </a:solidFill>
          <a:ln w="12700">
            <a:solidFill>
              <a:srgbClr val="B91C1C"/>
            </a:solidFill>
            <a:prstDash val="solid"/>
          </a:ln>
        </p:spPr>
      </p:sp>
      <p:sp>
        <p:nvSpPr>
          <p:cNvPr id="7" name="Shape 5"/>
          <p:cNvSpPr/>
          <p:nvPr/>
        </p:nvSpPr>
        <p:spPr>
          <a:xfrm>
            <a:off x="621792" y="1133856"/>
            <a:ext cx="960120" cy="201168"/>
          </a:xfrm>
          <a:prstGeom prst="rect">
            <a:avLst/>
          </a:prstGeom>
          <a:solidFill>
            <a:srgbClr val="1C2230"/>
          </a:solidFill>
          <a:ln w="6350">
            <a:solidFill>
              <a:srgbClr val="B91C1C"/>
            </a:solidFill>
            <a:prstDash val="solid"/>
          </a:ln>
        </p:spPr>
      </p:sp>
      <p:sp>
        <p:nvSpPr>
          <p:cNvPr id="8" name="Text 6"/>
          <p:cNvSpPr/>
          <p:nvPr/>
        </p:nvSpPr>
        <p:spPr>
          <a:xfrm>
            <a:off x="621792" y="1133856"/>
            <a:ext cx="960120" cy="201168"/>
          </a:xfrm>
          <a:prstGeom prst="rect">
            <a:avLst/>
          </a:prstGeom>
          <a:noFill/>
          <a:ln/>
        </p:spPr>
        <p:txBody>
          <a:bodyPr wrap="square" lIns="0" tIns="0" rIns="0" bIns="0" rtlCol="0" anchor="ctr"/>
          <a:lstStyle/>
          <a:p>
            <a:pPr algn="ctr" indent="0" marL="0">
              <a:buNone/>
            </a:pPr>
            <a:r>
              <a:rPr lang="en-US" sz="750" b="1" spc="50" kern="0" dirty="0">
                <a:solidFill>
                  <a:srgbClr val="B91C1C"/>
                </a:solidFill>
                <a:latin typeface="Calibri" pitchFamily="34" charset="0"/>
                <a:ea typeface="Calibri" pitchFamily="34" charset="-122"/>
                <a:cs typeface="Calibri" pitchFamily="34" charset="-120"/>
              </a:rPr>
              <a:t>IMMEDIATE</a:t>
            </a:r>
            <a:endParaRPr lang="en-US" sz="750" dirty="0"/>
          </a:p>
        </p:txBody>
      </p:sp>
      <p:sp>
        <p:nvSpPr>
          <p:cNvPr id="9" name="Text 7"/>
          <p:cNvSpPr/>
          <p:nvPr/>
        </p:nvSpPr>
        <p:spPr>
          <a:xfrm>
            <a:off x="1691640" y="1060704"/>
            <a:ext cx="530352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LNG Japan  ·  Review working capital exposure to energy-linked API cost inflation</a:t>
            </a:r>
            <a:endParaRPr lang="en-US" sz="1000" dirty="0"/>
          </a:p>
        </p:txBody>
      </p:sp>
      <p:sp>
        <p:nvSpPr>
          <p:cNvPr id="10" name="Text 8"/>
          <p:cNvSpPr/>
          <p:nvPr/>
        </p:nvSpPr>
        <p:spPr>
          <a:xfrm>
            <a:off x="1691640" y="1335024"/>
            <a:ext cx="566928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LNG UP 35.2% over 12 months. Transmits into Chinese API manufacturing costs within 6–8 weeks. Initiate supplier conversations now. Pre-position safety stock for energy-intensive APIs.</a:t>
            </a:r>
            <a:endParaRPr lang="en-US" sz="850" dirty="0"/>
          </a:p>
        </p:txBody>
      </p:sp>
      <p:sp>
        <p:nvSpPr>
          <p:cNvPr id="11" name="Shape 9"/>
          <p:cNvSpPr/>
          <p:nvPr/>
        </p:nvSpPr>
        <p:spPr>
          <a:xfrm>
            <a:off x="7516368" y="1225296"/>
            <a:ext cx="1005840" cy="274320"/>
          </a:xfrm>
          <a:prstGeom prst="rect">
            <a:avLst/>
          </a:prstGeom>
          <a:solidFill>
            <a:srgbClr val="1C2230"/>
          </a:solidFill>
          <a:ln w="6350">
            <a:solidFill>
              <a:srgbClr val="21262D"/>
            </a:solidFill>
            <a:prstDash val="solid"/>
          </a:ln>
        </p:spPr>
      </p:sp>
      <p:sp>
        <p:nvSpPr>
          <p:cNvPr id="12" name="Text 10"/>
          <p:cNvSpPr/>
          <p:nvPr/>
        </p:nvSpPr>
        <p:spPr>
          <a:xfrm>
            <a:off x="7516368" y="1225296"/>
            <a:ext cx="1005840" cy="274320"/>
          </a:xfrm>
          <a:prstGeom prst="rect">
            <a:avLst/>
          </a:prstGeom>
          <a:noFill/>
          <a:ln/>
        </p:spPr>
        <p:txBody>
          <a:bodyPr wrap="square" lIns="0" tIns="0" rIns="0" bIns="0"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0–4 weeks</a:t>
            </a:r>
            <a:endParaRPr lang="en-US" sz="750" dirty="0"/>
          </a:p>
        </p:txBody>
      </p:sp>
      <p:sp>
        <p:nvSpPr>
          <p:cNvPr id="13" name="Shape 11"/>
          <p:cNvSpPr/>
          <p:nvPr/>
        </p:nvSpPr>
        <p:spPr>
          <a:xfrm>
            <a:off x="457200" y="1792224"/>
            <a:ext cx="8229600" cy="713232"/>
          </a:xfrm>
          <a:prstGeom prst="rect">
            <a:avLst/>
          </a:prstGeom>
          <a:solidFill>
            <a:srgbClr val="161B22"/>
          </a:solidFill>
          <a:ln w="6350">
            <a:solidFill>
              <a:srgbClr val="21262D"/>
            </a:solidFill>
            <a:prstDash val="solid"/>
          </a:ln>
        </p:spPr>
      </p:sp>
      <p:sp>
        <p:nvSpPr>
          <p:cNvPr id="14" name="Shape 12"/>
          <p:cNvSpPr/>
          <p:nvPr/>
        </p:nvSpPr>
        <p:spPr>
          <a:xfrm>
            <a:off x="457200" y="1792224"/>
            <a:ext cx="45720" cy="713232"/>
          </a:xfrm>
          <a:prstGeom prst="rect">
            <a:avLst/>
          </a:prstGeom>
          <a:solidFill>
            <a:srgbClr val="B91C1C"/>
          </a:solidFill>
          <a:ln w="12700">
            <a:solidFill>
              <a:srgbClr val="B91C1C"/>
            </a:solidFill>
            <a:prstDash val="solid"/>
          </a:ln>
        </p:spPr>
      </p:sp>
      <p:sp>
        <p:nvSpPr>
          <p:cNvPr id="15" name="Shape 13"/>
          <p:cNvSpPr/>
          <p:nvPr/>
        </p:nvSpPr>
        <p:spPr>
          <a:xfrm>
            <a:off x="621792" y="1920240"/>
            <a:ext cx="960120" cy="201168"/>
          </a:xfrm>
          <a:prstGeom prst="rect">
            <a:avLst/>
          </a:prstGeom>
          <a:solidFill>
            <a:srgbClr val="1C2230"/>
          </a:solidFill>
          <a:ln w="6350">
            <a:solidFill>
              <a:srgbClr val="B91C1C"/>
            </a:solidFill>
            <a:prstDash val="solid"/>
          </a:ln>
        </p:spPr>
      </p:sp>
      <p:sp>
        <p:nvSpPr>
          <p:cNvPr id="16" name="Text 14"/>
          <p:cNvSpPr/>
          <p:nvPr/>
        </p:nvSpPr>
        <p:spPr>
          <a:xfrm>
            <a:off x="621792" y="1920240"/>
            <a:ext cx="960120" cy="201168"/>
          </a:xfrm>
          <a:prstGeom prst="rect">
            <a:avLst/>
          </a:prstGeom>
          <a:noFill/>
          <a:ln/>
        </p:spPr>
        <p:txBody>
          <a:bodyPr wrap="square" lIns="0" tIns="0" rIns="0" bIns="0" rtlCol="0" anchor="ctr"/>
          <a:lstStyle/>
          <a:p>
            <a:pPr algn="ctr" indent="0" marL="0">
              <a:buNone/>
            </a:pPr>
            <a:r>
              <a:rPr lang="en-US" sz="750" b="1" spc="50" kern="0" dirty="0">
                <a:solidFill>
                  <a:srgbClr val="B91C1C"/>
                </a:solidFill>
                <a:latin typeface="Calibri" pitchFamily="34" charset="0"/>
                <a:ea typeface="Calibri" pitchFamily="34" charset="-122"/>
                <a:cs typeface="Calibri" pitchFamily="34" charset="-120"/>
              </a:rPr>
              <a:t>IMMEDIATE</a:t>
            </a:r>
            <a:endParaRPr lang="en-US" sz="750" dirty="0"/>
          </a:p>
        </p:txBody>
      </p:sp>
      <p:sp>
        <p:nvSpPr>
          <p:cNvPr id="17" name="Text 15"/>
          <p:cNvSpPr/>
          <p:nvPr/>
        </p:nvSpPr>
        <p:spPr>
          <a:xfrm>
            <a:off x="1691640" y="1847088"/>
            <a:ext cx="530352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Soda Ash  ·  Activate alternate sourcing channels for glass packaging inputs</a:t>
            </a:r>
            <a:endParaRPr lang="en-US" sz="1000" dirty="0"/>
          </a:p>
        </p:txBody>
      </p:sp>
      <p:sp>
        <p:nvSpPr>
          <p:cNvPr id="18" name="Text 16"/>
          <p:cNvSpPr/>
          <p:nvPr/>
        </p:nvSpPr>
        <p:spPr>
          <a:xfrm>
            <a:off x="1691640" y="2121408"/>
            <a:ext cx="566928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CIIP 8.67 — cross-industry competition from solar glass scaling (12 GW to 40 GW). 400,000 additional tonnes demand entering same import channels as pharma packaging.</a:t>
            </a:r>
            <a:endParaRPr lang="en-US" sz="850" dirty="0"/>
          </a:p>
        </p:txBody>
      </p:sp>
      <p:sp>
        <p:nvSpPr>
          <p:cNvPr id="19" name="Shape 17"/>
          <p:cNvSpPr/>
          <p:nvPr/>
        </p:nvSpPr>
        <p:spPr>
          <a:xfrm>
            <a:off x="7516368" y="2011680"/>
            <a:ext cx="1005840" cy="274320"/>
          </a:xfrm>
          <a:prstGeom prst="rect">
            <a:avLst/>
          </a:prstGeom>
          <a:solidFill>
            <a:srgbClr val="1C2230"/>
          </a:solidFill>
          <a:ln w="6350">
            <a:solidFill>
              <a:srgbClr val="21262D"/>
            </a:solidFill>
            <a:prstDash val="solid"/>
          </a:ln>
        </p:spPr>
      </p:sp>
      <p:sp>
        <p:nvSpPr>
          <p:cNvPr id="20" name="Text 18"/>
          <p:cNvSpPr/>
          <p:nvPr/>
        </p:nvSpPr>
        <p:spPr>
          <a:xfrm>
            <a:off x="7516368" y="2011680"/>
            <a:ext cx="1005840" cy="274320"/>
          </a:xfrm>
          <a:prstGeom prst="rect">
            <a:avLst/>
          </a:prstGeom>
          <a:noFill/>
          <a:ln/>
        </p:spPr>
        <p:txBody>
          <a:bodyPr wrap="square" lIns="0" tIns="0" rIns="0" bIns="0"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0–4 weeks</a:t>
            </a:r>
            <a:endParaRPr lang="en-US" sz="750" dirty="0"/>
          </a:p>
        </p:txBody>
      </p:sp>
      <p:sp>
        <p:nvSpPr>
          <p:cNvPr id="21" name="Shape 19"/>
          <p:cNvSpPr/>
          <p:nvPr/>
        </p:nvSpPr>
        <p:spPr>
          <a:xfrm>
            <a:off x="457200" y="2578608"/>
            <a:ext cx="8229600" cy="713232"/>
          </a:xfrm>
          <a:prstGeom prst="rect">
            <a:avLst/>
          </a:prstGeom>
          <a:solidFill>
            <a:srgbClr val="161B22"/>
          </a:solidFill>
          <a:ln w="6350">
            <a:solidFill>
              <a:srgbClr val="21262D"/>
            </a:solidFill>
            <a:prstDash val="solid"/>
          </a:ln>
        </p:spPr>
      </p:sp>
      <p:sp>
        <p:nvSpPr>
          <p:cNvPr id="22" name="Shape 20"/>
          <p:cNvSpPr/>
          <p:nvPr/>
        </p:nvSpPr>
        <p:spPr>
          <a:xfrm>
            <a:off x="457200" y="2578608"/>
            <a:ext cx="45720" cy="713232"/>
          </a:xfrm>
          <a:prstGeom prst="rect">
            <a:avLst/>
          </a:prstGeom>
          <a:solidFill>
            <a:srgbClr val="C2410C"/>
          </a:solidFill>
          <a:ln w="12700">
            <a:solidFill>
              <a:srgbClr val="C2410C"/>
            </a:solidFill>
            <a:prstDash val="solid"/>
          </a:ln>
        </p:spPr>
      </p:sp>
      <p:sp>
        <p:nvSpPr>
          <p:cNvPr id="23" name="Shape 21"/>
          <p:cNvSpPr/>
          <p:nvPr/>
        </p:nvSpPr>
        <p:spPr>
          <a:xfrm>
            <a:off x="621792" y="2706624"/>
            <a:ext cx="960120" cy="201168"/>
          </a:xfrm>
          <a:prstGeom prst="rect">
            <a:avLst/>
          </a:prstGeom>
          <a:solidFill>
            <a:srgbClr val="1C2230"/>
          </a:solidFill>
          <a:ln w="6350">
            <a:solidFill>
              <a:srgbClr val="C2410C"/>
            </a:solidFill>
            <a:prstDash val="solid"/>
          </a:ln>
        </p:spPr>
      </p:sp>
      <p:sp>
        <p:nvSpPr>
          <p:cNvPr id="24" name="Text 22"/>
          <p:cNvSpPr/>
          <p:nvPr/>
        </p:nvSpPr>
        <p:spPr>
          <a:xfrm>
            <a:off x="621792" y="2706624"/>
            <a:ext cx="960120" cy="201168"/>
          </a:xfrm>
          <a:prstGeom prst="rect">
            <a:avLst/>
          </a:prstGeom>
          <a:noFill/>
          <a:ln/>
        </p:spPr>
        <p:txBody>
          <a:bodyPr wrap="square" lIns="0" tIns="0" rIns="0" bIns="0" rtlCol="0" anchor="ctr"/>
          <a:lstStyle/>
          <a:p>
            <a:pPr algn="ctr" indent="0" marL="0">
              <a:buNone/>
            </a:pPr>
            <a:r>
              <a:rPr lang="en-US" sz="750" b="1" spc="50" kern="0" dirty="0">
                <a:solidFill>
                  <a:srgbClr val="C2410C"/>
                </a:solidFill>
                <a:latin typeface="Calibri" pitchFamily="34" charset="0"/>
                <a:ea typeface="Calibri" pitchFamily="34" charset="-122"/>
                <a:cs typeface="Calibri" pitchFamily="34" charset="-120"/>
              </a:rPr>
              <a:t>URGENT</a:t>
            </a:r>
            <a:endParaRPr lang="en-US" sz="750" dirty="0"/>
          </a:p>
        </p:txBody>
      </p:sp>
      <p:sp>
        <p:nvSpPr>
          <p:cNvPr id="25" name="Text 23"/>
          <p:cNvSpPr/>
          <p:nvPr/>
        </p:nvSpPr>
        <p:spPr>
          <a:xfrm>
            <a:off x="1691640" y="2633472"/>
            <a:ext cx="530352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Acetic Acid  ·  Conduct tier-2 supplier mapping for China-sourced feedstocks</a:t>
            </a:r>
            <a:endParaRPr lang="en-US" sz="1000" dirty="0"/>
          </a:p>
        </p:txBody>
      </p:sp>
      <p:sp>
        <p:nvSpPr>
          <p:cNvPr id="26" name="Text 24"/>
          <p:cNvSpPr/>
          <p:nvPr/>
        </p:nvSpPr>
        <p:spPr>
          <a:xfrm>
            <a:off x="1691640" y="2907792"/>
            <a:ext cx="566928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Weighted CIIP 8.10 — higher than base score after supplier concentration adjustment. China dominant supply. Map which of your API suppliers source acetic acid from single-country suppliers.</a:t>
            </a:r>
            <a:endParaRPr lang="en-US" sz="850" dirty="0"/>
          </a:p>
        </p:txBody>
      </p:sp>
      <p:sp>
        <p:nvSpPr>
          <p:cNvPr id="27" name="Shape 25"/>
          <p:cNvSpPr/>
          <p:nvPr/>
        </p:nvSpPr>
        <p:spPr>
          <a:xfrm>
            <a:off x="7516368" y="2798064"/>
            <a:ext cx="1005840" cy="274320"/>
          </a:xfrm>
          <a:prstGeom prst="rect">
            <a:avLst/>
          </a:prstGeom>
          <a:solidFill>
            <a:srgbClr val="1C2230"/>
          </a:solidFill>
          <a:ln w="6350">
            <a:solidFill>
              <a:srgbClr val="21262D"/>
            </a:solidFill>
            <a:prstDash val="solid"/>
          </a:ln>
        </p:spPr>
      </p:sp>
      <p:sp>
        <p:nvSpPr>
          <p:cNvPr id="28" name="Text 26"/>
          <p:cNvSpPr/>
          <p:nvPr/>
        </p:nvSpPr>
        <p:spPr>
          <a:xfrm>
            <a:off x="7516368" y="2798064"/>
            <a:ext cx="1005840" cy="274320"/>
          </a:xfrm>
          <a:prstGeom prst="rect">
            <a:avLst/>
          </a:prstGeom>
          <a:noFill/>
          <a:ln/>
        </p:spPr>
        <p:txBody>
          <a:bodyPr wrap="square" lIns="0" tIns="0" rIns="0" bIns="0"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4–8 weeks</a:t>
            </a:r>
            <a:endParaRPr lang="en-US" sz="750" dirty="0"/>
          </a:p>
        </p:txBody>
      </p:sp>
      <p:sp>
        <p:nvSpPr>
          <p:cNvPr id="29" name="Shape 27"/>
          <p:cNvSpPr/>
          <p:nvPr/>
        </p:nvSpPr>
        <p:spPr>
          <a:xfrm>
            <a:off x="457200" y="3364992"/>
            <a:ext cx="8229600" cy="713232"/>
          </a:xfrm>
          <a:prstGeom prst="rect">
            <a:avLst/>
          </a:prstGeom>
          <a:solidFill>
            <a:srgbClr val="161B22"/>
          </a:solidFill>
          <a:ln w="6350">
            <a:solidFill>
              <a:srgbClr val="21262D"/>
            </a:solidFill>
            <a:prstDash val="solid"/>
          </a:ln>
        </p:spPr>
      </p:sp>
      <p:sp>
        <p:nvSpPr>
          <p:cNvPr id="30" name="Shape 28"/>
          <p:cNvSpPr/>
          <p:nvPr/>
        </p:nvSpPr>
        <p:spPr>
          <a:xfrm>
            <a:off x="457200" y="3364992"/>
            <a:ext cx="45720" cy="713232"/>
          </a:xfrm>
          <a:prstGeom prst="rect">
            <a:avLst/>
          </a:prstGeom>
          <a:solidFill>
            <a:srgbClr val="C2410C"/>
          </a:solidFill>
          <a:ln w="12700">
            <a:solidFill>
              <a:srgbClr val="C2410C"/>
            </a:solidFill>
            <a:prstDash val="solid"/>
          </a:ln>
        </p:spPr>
      </p:sp>
      <p:sp>
        <p:nvSpPr>
          <p:cNvPr id="31" name="Shape 29"/>
          <p:cNvSpPr/>
          <p:nvPr/>
        </p:nvSpPr>
        <p:spPr>
          <a:xfrm>
            <a:off x="621792" y="3493008"/>
            <a:ext cx="960120" cy="201168"/>
          </a:xfrm>
          <a:prstGeom prst="rect">
            <a:avLst/>
          </a:prstGeom>
          <a:solidFill>
            <a:srgbClr val="1C2230"/>
          </a:solidFill>
          <a:ln w="6350">
            <a:solidFill>
              <a:srgbClr val="C2410C"/>
            </a:solidFill>
            <a:prstDash val="solid"/>
          </a:ln>
        </p:spPr>
      </p:sp>
      <p:sp>
        <p:nvSpPr>
          <p:cNvPr id="32" name="Text 30"/>
          <p:cNvSpPr/>
          <p:nvPr/>
        </p:nvSpPr>
        <p:spPr>
          <a:xfrm>
            <a:off x="621792" y="3493008"/>
            <a:ext cx="960120" cy="201168"/>
          </a:xfrm>
          <a:prstGeom prst="rect">
            <a:avLst/>
          </a:prstGeom>
          <a:noFill/>
          <a:ln/>
        </p:spPr>
        <p:txBody>
          <a:bodyPr wrap="square" lIns="0" tIns="0" rIns="0" bIns="0" rtlCol="0" anchor="ctr"/>
          <a:lstStyle/>
          <a:p>
            <a:pPr algn="ctr" indent="0" marL="0">
              <a:buNone/>
            </a:pPr>
            <a:r>
              <a:rPr lang="en-US" sz="750" b="1" spc="50" kern="0" dirty="0">
                <a:solidFill>
                  <a:srgbClr val="C2410C"/>
                </a:solidFill>
                <a:latin typeface="Calibri" pitchFamily="34" charset="0"/>
                <a:ea typeface="Calibri" pitchFamily="34" charset="-122"/>
                <a:cs typeface="Calibri" pitchFamily="34" charset="-120"/>
              </a:rPr>
              <a:t>URGENT</a:t>
            </a:r>
            <a:endParaRPr lang="en-US" sz="750" dirty="0"/>
          </a:p>
        </p:txBody>
      </p:sp>
      <p:sp>
        <p:nvSpPr>
          <p:cNvPr id="33" name="Text 31"/>
          <p:cNvSpPr/>
          <p:nvPr/>
        </p:nvSpPr>
        <p:spPr>
          <a:xfrm>
            <a:off x="1691640" y="3419856"/>
            <a:ext cx="530352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Methanol  ·  Review solvent procurement contracts for geopolitical force majeure clauses</a:t>
            </a:r>
            <a:endParaRPr lang="en-US" sz="1000" dirty="0"/>
          </a:p>
        </p:txBody>
      </p:sp>
      <p:sp>
        <p:nvSpPr>
          <p:cNvPr id="34" name="Text 32"/>
          <p:cNvSpPr/>
          <p:nvPr/>
        </p:nvSpPr>
        <p:spPr>
          <a:xfrm>
            <a:off x="1691640" y="3694176"/>
            <a:ext cx="566928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Price UP 7.9% forecast. Geopolitical score 3/3 — Middle East, US, China all in play. Review contract structures. Consider hedging mechanisms for high-volume API solvents.</a:t>
            </a:r>
            <a:endParaRPr lang="en-US" sz="850" dirty="0"/>
          </a:p>
        </p:txBody>
      </p:sp>
      <p:sp>
        <p:nvSpPr>
          <p:cNvPr id="35" name="Shape 33"/>
          <p:cNvSpPr/>
          <p:nvPr/>
        </p:nvSpPr>
        <p:spPr>
          <a:xfrm>
            <a:off x="7516368" y="3584448"/>
            <a:ext cx="1005840" cy="274320"/>
          </a:xfrm>
          <a:prstGeom prst="rect">
            <a:avLst/>
          </a:prstGeom>
          <a:solidFill>
            <a:srgbClr val="1C2230"/>
          </a:solidFill>
          <a:ln w="6350">
            <a:solidFill>
              <a:srgbClr val="21262D"/>
            </a:solidFill>
            <a:prstDash val="solid"/>
          </a:ln>
        </p:spPr>
      </p:sp>
      <p:sp>
        <p:nvSpPr>
          <p:cNvPr id="36" name="Text 34"/>
          <p:cNvSpPr/>
          <p:nvPr/>
        </p:nvSpPr>
        <p:spPr>
          <a:xfrm>
            <a:off x="7516368" y="3584448"/>
            <a:ext cx="1005840" cy="274320"/>
          </a:xfrm>
          <a:prstGeom prst="rect">
            <a:avLst/>
          </a:prstGeom>
          <a:noFill/>
          <a:ln/>
        </p:spPr>
        <p:txBody>
          <a:bodyPr wrap="square" lIns="0" tIns="0" rIns="0" bIns="0"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4–8 weeks</a:t>
            </a:r>
            <a:endParaRPr lang="en-US" sz="750" dirty="0"/>
          </a:p>
        </p:txBody>
      </p:sp>
      <p:sp>
        <p:nvSpPr>
          <p:cNvPr id="37" name="Shape 35"/>
          <p:cNvSpPr/>
          <p:nvPr/>
        </p:nvSpPr>
        <p:spPr>
          <a:xfrm>
            <a:off x="457200" y="4151376"/>
            <a:ext cx="8229600" cy="713232"/>
          </a:xfrm>
          <a:prstGeom prst="rect">
            <a:avLst/>
          </a:prstGeom>
          <a:solidFill>
            <a:srgbClr val="161B22"/>
          </a:solidFill>
          <a:ln w="6350">
            <a:solidFill>
              <a:srgbClr val="21262D"/>
            </a:solidFill>
            <a:prstDash val="solid"/>
          </a:ln>
        </p:spPr>
      </p:sp>
      <p:sp>
        <p:nvSpPr>
          <p:cNvPr id="38" name="Shape 36"/>
          <p:cNvSpPr/>
          <p:nvPr/>
        </p:nvSpPr>
        <p:spPr>
          <a:xfrm>
            <a:off x="457200" y="4151376"/>
            <a:ext cx="45720" cy="713232"/>
          </a:xfrm>
          <a:prstGeom prst="rect">
            <a:avLst/>
          </a:prstGeom>
          <a:solidFill>
            <a:srgbClr val="14B8A6"/>
          </a:solidFill>
          <a:ln w="12700">
            <a:solidFill>
              <a:srgbClr val="14B8A6"/>
            </a:solidFill>
            <a:prstDash val="solid"/>
          </a:ln>
        </p:spPr>
      </p:sp>
      <p:sp>
        <p:nvSpPr>
          <p:cNvPr id="39" name="Shape 37"/>
          <p:cNvSpPr/>
          <p:nvPr/>
        </p:nvSpPr>
        <p:spPr>
          <a:xfrm>
            <a:off x="621792" y="4279392"/>
            <a:ext cx="960120" cy="201168"/>
          </a:xfrm>
          <a:prstGeom prst="rect">
            <a:avLst/>
          </a:prstGeom>
          <a:solidFill>
            <a:srgbClr val="1C2230"/>
          </a:solidFill>
          <a:ln w="6350">
            <a:solidFill>
              <a:srgbClr val="14B8A6"/>
            </a:solidFill>
            <a:prstDash val="solid"/>
          </a:ln>
        </p:spPr>
      </p:sp>
      <p:sp>
        <p:nvSpPr>
          <p:cNvPr id="40" name="Text 38"/>
          <p:cNvSpPr/>
          <p:nvPr/>
        </p:nvSpPr>
        <p:spPr>
          <a:xfrm>
            <a:off x="621792" y="4279392"/>
            <a:ext cx="960120" cy="201168"/>
          </a:xfrm>
          <a:prstGeom prst="rect">
            <a:avLst/>
          </a:prstGeom>
          <a:noFill/>
          <a:ln/>
        </p:spPr>
        <p:txBody>
          <a:bodyPr wrap="square" lIns="0" tIns="0" rIns="0" bIns="0" rtlCol="0" anchor="ctr"/>
          <a:lstStyle/>
          <a:p>
            <a:pPr algn="ctr" indent="0" marL="0">
              <a:buNone/>
            </a:pPr>
            <a:r>
              <a:rPr lang="en-US" sz="750" b="1" spc="50" kern="0" dirty="0">
                <a:solidFill>
                  <a:srgbClr val="14B8A6"/>
                </a:solidFill>
                <a:latin typeface="Calibri" pitchFamily="34" charset="0"/>
                <a:ea typeface="Calibri" pitchFamily="34" charset="-122"/>
                <a:cs typeface="Calibri" pitchFamily="34" charset="-120"/>
              </a:rPr>
              <a:t>MONITOR</a:t>
            </a:r>
            <a:endParaRPr lang="en-US" sz="750" dirty="0"/>
          </a:p>
        </p:txBody>
      </p:sp>
      <p:sp>
        <p:nvSpPr>
          <p:cNvPr id="41" name="Text 39"/>
          <p:cNvSpPr/>
          <p:nvPr/>
        </p:nvSpPr>
        <p:spPr>
          <a:xfrm>
            <a:off x="1691640" y="4206240"/>
            <a:ext cx="5303520" cy="256032"/>
          </a:xfrm>
          <a:prstGeom prst="rect">
            <a:avLst/>
          </a:prstGeom>
          <a:noFill/>
          <a:ln/>
        </p:spPr>
        <p:txBody>
          <a:bodyPr wrap="square" lIns="0" tIns="0" rIns="0" bIns="0" rtlCol="0" anchor="ctr"/>
          <a:lstStyle/>
          <a:p>
            <a:pPr indent="0" marL="0">
              <a:buNone/>
            </a:pPr>
            <a:r>
              <a:rPr lang="en-US" sz="1000" b="1" dirty="0">
                <a:solidFill>
                  <a:srgbClr val="F8FAFC"/>
                </a:solidFill>
                <a:latin typeface="Calibri" pitchFamily="34" charset="0"/>
                <a:ea typeface="Calibri" pitchFamily="34" charset="-122"/>
                <a:cs typeface="Calibri" pitchFamily="34" charset="-120"/>
              </a:rPr>
              <a:t>Polysilicon  ·  Track solar PLI investment announcements as upstream demand signal</a:t>
            </a:r>
            <a:endParaRPr lang="en-US" sz="1000" dirty="0"/>
          </a:p>
        </p:txBody>
      </p:sp>
      <p:sp>
        <p:nvSpPr>
          <p:cNvPr id="42" name="Text 40"/>
          <p:cNvSpPr/>
          <p:nvPr/>
        </p:nvSpPr>
        <p:spPr>
          <a:xfrm>
            <a:off x="1691640" y="4480560"/>
            <a:ext cx="5669280" cy="329184"/>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Price DOWN 59.6% — currently MEDIUM risk. However India PLI acceleration could rapidly reverse this. Monitor MNRE announcements as 6-week leading indicator for soda ash competition.</a:t>
            </a:r>
            <a:endParaRPr lang="en-US" sz="850" dirty="0"/>
          </a:p>
        </p:txBody>
      </p:sp>
      <p:sp>
        <p:nvSpPr>
          <p:cNvPr id="43" name="Shape 41"/>
          <p:cNvSpPr/>
          <p:nvPr/>
        </p:nvSpPr>
        <p:spPr>
          <a:xfrm>
            <a:off x="7516368" y="4370832"/>
            <a:ext cx="1005840" cy="274320"/>
          </a:xfrm>
          <a:prstGeom prst="rect">
            <a:avLst/>
          </a:prstGeom>
          <a:solidFill>
            <a:srgbClr val="1C2230"/>
          </a:solidFill>
          <a:ln w="6350">
            <a:solidFill>
              <a:srgbClr val="21262D"/>
            </a:solidFill>
            <a:prstDash val="solid"/>
          </a:ln>
        </p:spPr>
      </p:sp>
      <p:sp>
        <p:nvSpPr>
          <p:cNvPr id="44" name="Text 42"/>
          <p:cNvSpPr/>
          <p:nvPr/>
        </p:nvSpPr>
        <p:spPr>
          <a:xfrm>
            <a:off x="7516368" y="4370832"/>
            <a:ext cx="1005840" cy="274320"/>
          </a:xfrm>
          <a:prstGeom prst="rect">
            <a:avLst/>
          </a:prstGeom>
          <a:noFill/>
          <a:ln/>
        </p:spPr>
        <p:txBody>
          <a:bodyPr wrap="square" lIns="0" tIns="0" rIns="0" bIns="0" rtlCol="0" anchor="ctr"/>
          <a:lstStyle/>
          <a:p>
            <a:pPr algn="ctr" indent="0" marL="0">
              <a:buNone/>
            </a:pPr>
            <a:r>
              <a:rPr lang="en-US" sz="750" dirty="0">
                <a:solidFill>
                  <a:srgbClr val="94A3B8"/>
                </a:solidFill>
                <a:latin typeface="Calibri" pitchFamily="34" charset="0"/>
                <a:ea typeface="Calibri" pitchFamily="34" charset="-122"/>
                <a:cs typeface="Calibri" pitchFamily="34" charset="-120"/>
              </a:rPr>
              <a:t>Monthly review</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STRATEGIC RECOMMENDATIONS</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From Reactive Procurement to Predictive Supply Chain Intelligence</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Shape 3"/>
          <p:cNvSpPr/>
          <p:nvPr/>
        </p:nvSpPr>
        <p:spPr>
          <a:xfrm>
            <a:off x="457200" y="1005840"/>
            <a:ext cx="8229600" cy="841248"/>
          </a:xfrm>
          <a:prstGeom prst="rect">
            <a:avLst/>
          </a:prstGeom>
          <a:solidFill>
            <a:srgbClr val="161B22"/>
          </a:solidFill>
          <a:ln w="9525">
            <a:solidFill>
              <a:srgbClr val="21262D"/>
            </a:solidFill>
            <a:prstDash val="solid"/>
          </a:ln>
        </p:spPr>
      </p:sp>
      <p:sp>
        <p:nvSpPr>
          <p:cNvPr id="6" name="Shape 4"/>
          <p:cNvSpPr/>
          <p:nvPr/>
        </p:nvSpPr>
        <p:spPr>
          <a:xfrm>
            <a:off x="457200" y="1005840"/>
            <a:ext cx="45720" cy="841248"/>
          </a:xfrm>
          <a:prstGeom prst="rect">
            <a:avLst/>
          </a:prstGeom>
          <a:solidFill>
            <a:srgbClr val="D97706"/>
          </a:solidFill>
          <a:ln w="12700">
            <a:solidFill>
              <a:srgbClr val="D97706"/>
            </a:solidFill>
            <a:prstDash val="solid"/>
          </a:ln>
        </p:spPr>
      </p:sp>
      <p:sp>
        <p:nvSpPr>
          <p:cNvPr id="7" name="Text 5"/>
          <p:cNvSpPr/>
          <p:nvPr/>
        </p:nvSpPr>
        <p:spPr>
          <a:xfrm>
            <a:off x="640080" y="1078992"/>
            <a:ext cx="502920" cy="347472"/>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1261872" y="1078992"/>
            <a:ext cx="5486400" cy="27432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Deploy CIIP Index as a Procurement Early Warning System</a:t>
            </a:r>
            <a:endParaRPr lang="en-US" sz="1100" dirty="0"/>
          </a:p>
        </p:txBody>
      </p:sp>
      <p:sp>
        <p:nvSpPr>
          <p:cNvPr id="9" name="Text 7"/>
          <p:cNvSpPr/>
          <p:nvPr/>
        </p:nvSpPr>
        <p:spPr>
          <a:xfrm>
            <a:off x="1261872" y="1371600"/>
            <a:ext cx="6217920" cy="402336"/>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Integrate the CIIP scoring engine into existing procurement review cycles. Run weekly CIIP updates on all five materials. Brief supply chain leadership on any material exceeding 8.0. Requires no new technology — runs on standard Python stack.</a:t>
            </a:r>
            <a:endParaRPr lang="en-US" sz="850" dirty="0"/>
          </a:p>
        </p:txBody>
      </p:sp>
      <p:sp>
        <p:nvSpPr>
          <p:cNvPr id="10" name="Shape 8"/>
          <p:cNvSpPr/>
          <p:nvPr/>
        </p:nvSpPr>
        <p:spPr>
          <a:xfrm>
            <a:off x="7516368" y="1188720"/>
            <a:ext cx="1097280" cy="475488"/>
          </a:xfrm>
          <a:prstGeom prst="rect">
            <a:avLst/>
          </a:prstGeom>
          <a:solidFill>
            <a:srgbClr val="1C2230"/>
          </a:solidFill>
          <a:ln w="6350">
            <a:solidFill>
              <a:srgbClr val="D97706"/>
            </a:solidFill>
            <a:prstDash val="solid"/>
          </a:ln>
        </p:spPr>
      </p:sp>
      <p:sp>
        <p:nvSpPr>
          <p:cNvPr id="11" name="Text 9"/>
          <p:cNvSpPr/>
          <p:nvPr/>
        </p:nvSpPr>
        <p:spPr>
          <a:xfrm>
            <a:off x="7516368" y="1188720"/>
            <a:ext cx="1097280" cy="475488"/>
          </a:xfrm>
          <a:prstGeom prst="rect">
            <a:avLst/>
          </a:prstGeom>
          <a:noFill/>
          <a:ln/>
        </p:spPr>
        <p:txBody>
          <a:bodyPr wrap="square" lIns="0" tIns="0" rIns="0" bIns="0" rtlCol="0" anchor="ctr"/>
          <a:lstStyle/>
          <a:p>
            <a:pPr algn="ctr" indent="0" marL="0">
              <a:buNone/>
            </a:pPr>
            <a:r>
              <a:rPr lang="en-US" sz="800" b="1" dirty="0">
                <a:solidFill>
                  <a:srgbClr val="D97706"/>
                </a:solidFill>
                <a:latin typeface="Calibri" pitchFamily="34" charset="0"/>
                <a:ea typeface="Calibri" pitchFamily="34" charset="-122"/>
                <a:cs typeface="Calibri" pitchFamily="34" charset="-120"/>
              </a:rPr>
              <a:t>6–8 week advance warning</a:t>
            </a:r>
            <a:endParaRPr lang="en-US" sz="800" dirty="0"/>
          </a:p>
        </p:txBody>
      </p:sp>
      <p:sp>
        <p:nvSpPr>
          <p:cNvPr id="12" name="Shape 10"/>
          <p:cNvSpPr/>
          <p:nvPr/>
        </p:nvSpPr>
        <p:spPr>
          <a:xfrm>
            <a:off x="457200" y="1965960"/>
            <a:ext cx="8229600" cy="841248"/>
          </a:xfrm>
          <a:prstGeom prst="rect">
            <a:avLst/>
          </a:prstGeom>
          <a:solidFill>
            <a:srgbClr val="161B22"/>
          </a:solidFill>
          <a:ln w="9525">
            <a:solidFill>
              <a:srgbClr val="21262D"/>
            </a:solidFill>
            <a:prstDash val="solid"/>
          </a:ln>
        </p:spPr>
      </p:sp>
      <p:sp>
        <p:nvSpPr>
          <p:cNvPr id="13" name="Shape 11"/>
          <p:cNvSpPr/>
          <p:nvPr/>
        </p:nvSpPr>
        <p:spPr>
          <a:xfrm>
            <a:off x="457200" y="1965960"/>
            <a:ext cx="45720" cy="841248"/>
          </a:xfrm>
          <a:prstGeom prst="rect">
            <a:avLst/>
          </a:prstGeom>
          <a:solidFill>
            <a:srgbClr val="3B82F6"/>
          </a:solidFill>
          <a:ln w="12700">
            <a:solidFill>
              <a:srgbClr val="3B82F6"/>
            </a:solidFill>
            <a:prstDash val="solid"/>
          </a:ln>
        </p:spPr>
      </p:sp>
      <p:sp>
        <p:nvSpPr>
          <p:cNvPr id="14" name="Text 12"/>
          <p:cNvSpPr/>
          <p:nvPr/>
        </p:nvSpPr>
        <p:spPr>
          <a:xfrm>
            <a:off x="640080" y="2039112"/>
            <a:ext cx="502920" cy="347472"/>
          </a:xfrm>
          <a:prstGeom prst="rect">
            <a:avLst/>
          </a:prstGeom>
          <a:noFill/>
          <a:ln/>
        </p:spPr>
        <p:txBody>
          <a:bodyPr wrap="square" lIns="0" tIns="0" rIns="0" bIns="0" rtlCol="0" anchor="ctr"/>
          <a:lstStyle/>
          <a:p>
            <a:pPr indent="0" marL="0">
              <a:buNone/>
            </a:pPr>
            <a:r>
              <a:rPr lang="en-US" sz="2000" b="1" dirty="0">
                <a:solidFill>
                  <a:srgbClr val="3B82F6"/>
                </a:solidFill>
                <a:latin typeface="Calibri" pitchFamily="34" charset="0"/>
                <a:ea typeface="Calibri" pitchFamily="34" charset="-122"/>
                <a:cs typeface="Calibri" pitchFamily="34" charset="-120"/>
              </a:rPr>
              <a:t>02</a:t>
            </a:r>
            <a:endParaRPr lang="en-US" sz="2000" dirty="0"/>
          </a:p>
        </p:txBody>
      </p:sp>
      <p:sp>
        <p:nvSpPr>
          <p:cNvPr id="15" name="Text 13"/>
          <p:cNvSpPr/>
          <p:nvPr/>
        </p:nvSpPr>
        <p:spPr>
          <a:xfrm>
            <a:off x="1261872" y="2039112"/>
            <a:ext cx="5486400" cy="27432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Build Cross-Industry Input Visibility Into S&amp;OP</a:t>
            </a:r>
            <a:endParaRPr lang="en-US" sz="1100" dirty="0"/>
          </a:p>
        </p:txBody>
      </p:sp>
      <p:sp>
        <p:nvSpPr>
          <p:cNvPr id="16" name="Text 14"/>
          <p:cNvSpPr/>
          <p:nvPr/>
        </p:nvSpPr>
        <p:spPr>
          <a:xfrm>
            <a:off x="1261872" y="2331720"/>
            <a:ext cx="6217920" cy="402336"/>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Current S&amp;OP processes review supplier performance. They do not review upstream input competition from adjacent industries. Embed CIIP signals into monthly S&amp;OP cycle as a pre-review brief. Map which competitors share your upstream inputs.</a:t>
            </a:r>
            <a:endParaRPr lang="en-US" sz="850" dirty="0"/>
          </a:p>
        </p:txBody>
      </p:sp>
      <p:sp>
        <p:nvSpPr>
          <p:cNvPr id="17" name="Shape 15"/>
          <p:cNvSpPr/>
          <p:nvPr/>
        </p:nvSpPr>
        <p:spPr>
          <a:xfrm>
            <a:off x="7516368" y="2148840"/>
            <a:ext cx="1097280" cy="475488"/>
          </a:xfrm>
          <a:prstGeom prst="rect">
            <a:avLst/>
          </a:prstGeom>
          <a:solidFill>
            <a:srgbClr val="1C2230"/>
          </a:solidFill>
          <a:ln w="6350">
            <a:solidFill>
              <a:srgbClr val="3B82F6"/>
            </a:solidFill>
            <a:prstDash val="solid"/>
          </a:ln>
        </p:spPr>
      </p:sp>
      <p:sp>
        <p:nvSpPr>
          <p:cNvPr id="18" name="Text 16"/>
          <p:cNvSpPr/>
          <p:nvPr/>
        </p:nvSpPr>
        <p:spPr>
          <a:xfrm>
            <a:off x="7516368" y="2148840"/>
            <a:ext cx="1097280" cy="475488"/>
          </a:xfrm>
          <a:prstGeom prst="rect">
            <a:avLst/>
          </a:prstGeom>
          <a:noFill/>
          <a:ln/>
        </p:spPr>
        <p:txBody>
          <a:bodyPr wrap="square" lIns="0" tIns="0" rIns="0" bIns="0" rtlCol="0" anchor="ctr"/>
          <a:lstStyle/>
          <a:p>
            <a:pPr algn="ctr" indent="0" marL="0">
              <a:buNone/>
            </a:pPr>
            <a:r>
              <a:rPr lang="en-US" sz="800" b="1" dirty="0">
                <a:solidFill>
                  <a:srgbClr val="3B82F6"/>
                </a:solidFill>
                <a:latin typeface="Calibri" pitchFamily="34" charset="0"/>
                <a:ea typeface="Calibri" pitchFamily="34" charset="-122"/>
                <a:cs typeface="Calibri" pitchFamily="34" charset="-120"/>
              </a:rPr>
              <a:t>Structural resilience</a:t>
            </a:r>
            <a:endParaRPr lang="en-US" sz="800" dirty="0"/>
          </a:p>
        </p:txBody>
      </p:sp>
      <p:sp>
        <p:nvSpPr>
          <p:cNvPr id="19" name="Shape 17"/>
          <p:cNvSpPr/>
          <p:nvPr/>
        </p:nvSpPr>
        <p:spPr>
          <a:xfrm>
            <a:off x="457200" y="2926080"/>
            <a:ext cx="8229600" cy="841248"/>
          </a:xfrm>
          <a:prstGeom prst="rect">
            <a:avLst/>
          </a:prstGeom>
          <a:solidFill>
            <a:srgbClr val="161B22"/>
          </a:solidFill>
          <a:ln w="9525">
            <a:solidFill>
              <a:srgbClr val="21262D"/>
            </a:solidFill>
            <a:prstDash val="solid"/>
          </a:ln>
        </p:spPr>
      </p:sp>
      <p:sp>
        <p:nvSpPr>
          <p:cNvPr id="20" name="Shape 18"/>
          <p:cNvSpPr/>
          <p:nvPr/>
        </p:nvSpPr>
        <p:spPr>
          <a:xfrm>
            <a:off x="457200" y="2926080"/>
            <a:ext cx="45720" cy="841248"/>
          </a:xfrm>
          <a:prstGeom prst="rect">
            <a:avLst/>
          </a:prstGeom>
          <a:solidFill>
            <a:srgbClr val="14B8A6"/>
          </a:solidFill>
          <a:ln w="12700">
            <a:solidFill>
              <a:srgbClr val="14B8A6"/>
            </a:solidFill>
            <a:prstDash val="solid"/>
          </a:ln>
        </p:spPr>
      </p:sp>
      <p:sp>
        <p:nvSpPr>
          <p:cNvPr id="21" name="Text 19"/>
          <p:cNvSpPr/>
          <p:nvPr/>
        </p:nvSpPr>
        <p:spPr>
          <a:xfrm>
            <a:off x="640080" y="2999232"/>
            <a:ext cx="502920" cy="347472"/>
          </a:xfrm>
          <a:prstGeom prst="rect">
            <a:avLst/>
          </a:prstGeom>
          <a:noFill/>
          <a:ln/>
        </p:spPr>
        <p:txBody>
          <a:bodyPr wrap="square" lIns="0" tIns="0" rIns="0" bIns="0" rtlCol="0" anchor="ctr"/>
          <a:lstStyle/>
          <a:p>
            <a:pPr indent="0" marL="0">
              <a:buNone/>
            </a:pPr>
            <a:r>
              <a:rPr lang="en-US" sz="2000" b="1" dirty="0">
                <a:solidFill>
                  <a:srgbClr val="14B8A6"/>
                </a:solidFill>
                <a:latin typeface="Calibri" pitchFamily="34" charset="0"/>
                <a:ea typeface="Calibri" pitchFamily="34" charset="-122"/>
                <a:cs typeface="Calibri" pitchFamily="34" charset="-120"/>
              </a:rPr>
              <a:t>03</a:t>
            </a:r>
            <a:endParaRPr lang="en-US" sz="2000" dirty="0"/>
          </a:p>
        </p:txBody>
      </p:sp>
      <p:sp>
        <p:nvSpPr>
          <p:cNvPr id="22" name="Text 20"/>
          <p:cNvSpPr/>
          <p:nvPr/>
        </p:nvSpPr>
        <p:spPr>
          <a:xfrm>
            <a:off x="1261872" y="2999232"/>
            <a:ext cx="5486400" cy="27432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Expand Material Coverage to API-Specific Inputs</a:t>
            </a:r>
            <a:endParaRPr lang="en-US" sz="1100" dirty="0"/>
          </a:p>
        </p:txBody>
      </p:sp>
      <p:sp>
        <p:nvSpPr>
          <p:cNvPr id="23" name="Text 21"/>
          <p:cNvSpPr/>
          <p:nvPr/>
        </p:nvSpPr>
        <p:spPr>
          <a:xfrm>
            <a:off x="1261872" y="3291840"/>
            <a:ext cx="6217920" cy="402336"/>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Current CIIP covers industrial commodities. Phase 2 should cover pharma-specific inputs: acetic anhydride, toluene, caustic soda, ammonia, and chlorine. These share upstream infrastructure with the petrochemical sector in ways current procurement systems do not map.</a:t>
            </a:r>
            <a:endParaRPr lang="en-US" sz="850" dirty="0"/>
          </a:p>
        </p:txBody>
      </p:sp>
      <p:sp>
        <p:nvSpPr>
          <p:cNvPr id="24" name="Shape 22"/>
          <p:cNvSpPr/>
          <p:nvPr/>
        </p:nvSpPr>
        <p:spPr>
          <a:xfrm>
            <a:off x="7516368" y="3108960"/>
            <a:ext cx="1097280" cy="475488"/>
          </a:xfrm>
          <a:prstGeom prst="rect">
            <a:avLst/>
          </a:prstGeom>
          <a:solidFill>
            <a:srgbClr val="1C2230"/>
          </a:solidFill>
          <a:ln w="6350">
            <a:solidFill>
              <a:srgbClr val="14B8A6"/>
            </a:solidFill>
            <a:prstDash val="solid"/>
          </a:ln>
        </p:spPr>
      </p:sp>
      <p:sp>
        <p:nvSpPr>
          <p:cNvPr id="25" name="Text 23"/>
          <p:cNvSpPr/>
          <p:nvPr/>
        </p:nvSpPr>
        <p:spPr>
          <a:xfrm>
            <a:off x="7516368" y="3108960"/>
            <a:ext cx="1097280" cy="475488"/>
          </a:xfrm>
          <a:prstGeom prst="rect">
            <a:avLst/>
          </a:prstGeom>
          <a:noFill/>
          <a:ln/>
        </p:spPr>
        <p:txBody>
          <a:bodyPr wrap="square" lIns="0" tIns="0" rIns="0" bIns="0" rtlCol="0" anchor="ctr"/>
          <a:lstStyle/>
          <a:p>
            <a:pPr algn="ctr" indent="0" marL="0">
              <a:buNone/>
            </a:pPr>
            <a:r>
              <a:rPr lang="en-US" sz="800" b="1" dirty="0">
                <a:solidFill>
                  <a:srgbClr val="14B8A6"/>
                </a:solidFill>
                <a:latin typeface="Calibri" pitchFamily="34" charset="0"/>
                <a:ea typeface="Calibri" pitchFamily="34" charset="-122"/>
                <a:cs typeface="Calibri" pitchFamily="34" charset="-120"/>
              </a:rPr>
              <a:t>Deeper API protection</a:t>
            </a:r>
            <a:endParaRPr lang="en-US" sz="800" dirty="0"/>
          </a:p>
        </p:txBody>
      </p:sp>
      <p:sp>
        <p:nvSpPr>
          <p:cNvPr id="26" name="Shape 24"/>
          <p:cNvSpPr/>
          <p:nvPr/>
        </p:nvSpPr>
        <p:spPr>
          <a:xfrm>
            <a:off x="457200" y="3886200"/>
            <a:ext cx="8229600" cy="841248"/>
          </a:xfrm>
          <a:prstGeom prst="rect">
            <a:avLst/>
          </a:prstGeom>
          <a:solidFill>
            <a:srgbClr val="161B22"/>
          </a:solidFill>
          <a:ln w="9525">
            <a:solidFill>
              <a:srgbClr val="21262D"/>
            </a:solidFill>
            <a:prstDash val="solid"/>
          </a:ln>
        </p:spPr>
      </p:sp>
      <p:sp>
        <p:nvSpPr>
          <p:cNvPr id="27" name="Shape 25"/>
          <p:cNvSpPr/>
          <p:nvPr/>
        </p:nvSpPr>
        <p:spPr>
          <a:xfrm>
            <a:off x="457200" y="3886200"/>
            <a:ext cx="45720" cy="841248"/>
          </a:xfrm>
          <a:prstGeom prst="rect">
            <a:avLst/>
          </a:prstGeom>
          <a:solidFill>
            <a:srgbClr val="059669"/>
          </a:solidFill>
          <a:ln w="12700">
            <a:solidFill>
              <a:srgbClr val="059669"/>
            </a:solidFill>
            <a:prstDash val="solid"/>
          </a:ln>
        </p:spPr>
      </p:sp>
      <p:sp>
        <p:nvSpPr>
          <p:cNvPr id="28" name="Text 26"/>
          <p:cNvSpPr/>
          <p:nvPr/>
        </p:nvSpPr>
        <p:spPr>
          <a:xfrm>
            <a:off x="640080" y="3959352"/>
            <a:ext cx="502920" cy="347472"/>
          </a:xfrm>
          <a:prstGeom prst="rect">
            <a:avLst/>
          </a:prstGeom>
          <a:noFill/>
          <a:ln/>
        </p:spPr>
        <p:txBody>
          <a:bodyPr wrap="square" lIns="0" tIns="0" rIns="0" bIns="0" rtlCol="0" anchor="ctr"/>
          <a:lstStyle/>
          <a:p>
            <a:pPr indent="0" marL="0">
              <a:buNone/>
            </a:pPr>
            <a:r>
              <a:rPr lang="en-US" sz="2000" b="1" dirty="0">
                <a:solidFill>
                  <a:srgbClr val="059669"/>
                </a:solidFill>
                <a:latin typeface="Calibri" pitchFamily="34" charset="0"/>
                <a:ea typeface="Calibri" pitchFamily="34" charset="-122"/>
                <a:cs typeface="Calibri" pitchFamily="34" charset="-120"/>
              </a:rPr>
              <a:t>04</a:t>
            </a:r>
            <a:endParaRPr lang="en-US" sz="2000" dirty="0"/>
          </a:p>
        </p:txBody>
      </p:sp>
      <p:sp>
        <p:nvSpPr>
          <p:cNvPr id="29" name="Text 27"/>
          <p:cNvSpPr/>
          <p:nvPr/>
        </p:nvSpPr>
        <p:spPr>
          <a:xfrm>
            <a:off x="1261872" y="3959352"/>
            <a:ext cx="5486400" cy="274320"/>
          </a:xfrm>
          <a:prstGeom prst="rect">
            <a:avLst/>
          </a:prstGeom>
          <a:noFill/>
          <a:ln/>
        </p:spPr>
        <p:txBody>
          <a:bodyPr wrap="square" lIns="0" tIns="0" rIns="0" bIns="0" rtlCol="0" anchor="ctr"/>
          <a:lstStyle/>
          <a:p>
            <a:pPr indent="0" marL="0">
              <a:buNone/>
            </a:pPr>
            <a:r>
              <a:rPr lang="en-US" sz="1100" b="1" dirty="0">
                <a:solidFill>
                  <a:srgbClr val="F8FAFC"/>
                </a:solidFill>
                <a:latin typeface="Calibri" pitchFamily="34" charset="0"/>
                <a:ea typeface="Calibri" pitchFamily="34" charset="-122"/>
                <a:cs typeface="Calibri" pitchFamily="34" charset="-120"/>
              </a:rPr>
              <a:t>Integrate Geopolitical Alert Triggers into ERP Decision Architecture</a:t>
            </a:r>
            <a:endParaRPr lang="en-US" sz="1100" dirty="0"/>
          </a:p>
        </p:txBody>
      </p:sp>
      <p:sp>
        <p:nvSpPr>
          <p:cNvPr id="30" name="Text 28"/>
          <p:cNvSpPr/>
          <p:nvPr/>
        </p:nvSpPr>
        <p:spPr>
          <a:xfrm>
            <a:off x="1261872" y="4251960"/>
            <a:ext cx="6217920" cy="402336"/>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When CIIP score exceeds 8.0, ERP procurement workflows should automatically surface extended safety stock recommendations and alternate supplier activation prompts. This is the ERP Logic Layer — operational logic embedded into the system that processes thousands of transactions daily.</a:t>
            </a:r>
            <a:endParaRPr lang="en-US" sz="850" dirty="0"/>
          </a:p>
        </p:txBody>
      </p:sp>
      <p:sp>
        <p:nvSpPr>
          <p:cNvPr id="31" name="Shape 29"/>
          <p:cNvSpPr/>
          <p:nvPr/>
        </p:nvSpPr>
        <p:spPr>
          <a:xfrm>
            <a:off x="7516368" y="4069080"/>
            <a:ext cx="1097280" cy="475488"/>
          </a:xfrm>
          <a:prstGeom prst="rect">
            <a:avLst/>
          </a:prstGeom>
          <a:solidFill>
            <a:srgbClr val="1C2230"/>
          </a:solidFill>
          <a:ln w="6350">
            <a:solidFill>
              <a:srgbClr val="059669"/>
            </a:solidFill>
            <a:prstDash val="solid"/>
          </a:ln>
        </p:spPr>
      </p:sp>
      <p:sp>
        <p:nvSpPr>
          <p:cNvPr id="32" name="Text 30"/>
          <p:cNvSpPr/>
          <p:nvPr/>
        </p:nvSpPr>
        <p:spPr>
          <a:xfrm>
            <a:off x="7516368" y="4069080"/>
            <a:ext cx="1097280" cy="475488"/>
          </a:xfrm>
          <a:prstGeom prst="rect">
            <a:avLst/>
          </a:prstGeom>
          <a:noFill/>
          <a:ln/>
        </p:spPr>
        <p:txBody>
          <a:bodyPr wrap="square" lIns="0" tIns="0" rIns="0" bIns="0" rtlCol="0" anchor="ctr"/>
          <a:lstStyle/>
          <a:p>
            <a:pPr algn="ctr" indent="0" marL="0">
              <a:buNone/>
            </a:pPr>
            <a:r>
              <a:rPr lang="en-US" sz="800" b="1" dirty="0">
                <a:solidFill>
                  <a:srgbClr val="059669"/>
                </a:solidFill>
                <a:latin typeface="Calibri" pitchFamily="34" charset="0"/>
                <a:ea typeface="Calibri" pitchFamily="34" charset="-122"/>
                <a:cs typeface="Calibri" pitchFamily="34" charset="-120"/>
              </a:rPr>
              <a:t>Operational automation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ENTERPRISE DEPLOYMENT ROADMAP</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From Analytical Framework to Enterprise Intelligence Platform</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Shape 3"/>
          <p:cNvSpPr/>
          <p:nvPr/>
        </p:nvSpPr>
        <p:spPr>
          <a:xfrm>
            <a:off x="457200" y="1005840"/>
            <a:ext cx="2715768" cy="3657600"/>
          </a:xfrm>
          <a:prstGeom prst="rect">
            <a:avLst/>
          </a:prstGeom>
          <a:solidFill>
            <a:srgbClr val="161B22"/>
          </a:solidFill>
          <a:ln w="9525">
            <a:solidFill>
              <a:srgbClr val="14B8A6"/>
            </a:solidFill>
            <a:prstDash val="solid"/>
          </a:ln>
        </p:spPr>
      </p:sp>
      <p:sp>
        <p:nvSpPr>
          <p:cNvPr id="6" name="Shape 4"/>
          <p:cNvSpPr/>
          <p:nvPr/>
        </p:nvSpPr>
        <p:spPr>
          <a:xfrm>
            <a:off x="457200" y="1005840"/>
            <a:ext cx="2715768" cy="54864"/>
          </a:xfrm>
          <a:prstGeom prst="rect">
            <a:avLst/>
          </a:prstGeom>
          <a:solidFill>
            <a:srgbClr val="14B8A6"/>
          </a:solidFill>
          <a:ln w="12700">
            <a:solidFill>
              <a:srgbClr val="14B8A6"/>
            </a:solidFill>
            <a:prstDash val="solid"/>
          </a:ln>
        </p:spPr>
      </p:sp>
      <p:sp>
        <p:nvSpPr>
          <p:cNvPr id="7" name="Text 5"/>
          <p:cNvSpPr/>
          <p:nvPr/>
        </p:nvSpPr>
        <p:spPr>
          <a:xfrm>
            <a:off x="594360" y="1115568"/>
            <a:ext cx="2377440" cy="228600"/>
          </a:xfrm>
          <a:prstGeom prst="rect">
            <a:avLst/>
          </a:prstGeom>
          <a:noFill/>
          <a:ln/>
        </p:spPr>
        <p:txBody>
          <a:bodyPr wrap="square" lIns="0" tIns="0" rIns="0" bIns="0" rtlCol="0" anchor="ctr"/>
          <a:lstStyle/>
          <a:p>
            <a:pPr indent="0" marL="0">
              <a:buNone/>
            </a:pPr>
            <a:r>
              <a:rPr lang="en-US" sz="850" b="1" spc="200" kern="0" dirty="0">
                <a:solidFill>
                  <a:srgbClr val="14B8A6"/>
                </a:solidFill>
                <a:latin typeface="Calibri" pitchFamily="34" charset="0"/>
                <a:ea typeface="Calibri" pitchFamily="34" charset="-122"/>
                <a:cs typeface="Calibri" pitchFamily="34" charset="-120"/>
              </a:rPr>
              <a:t>Phase 1</a:t>
            </a:r>
            <a:endParaRPr lang="en-US" sz="850" dirty="0"/>
          </a:p>
        </p:txBody>
      </p:sp>
      <p:sp>
        <p:nvSpPr>
          <p:cNvPr id="8" name="Text 6"/>
          <p:cNvSpPr/>
          <p:nvPr/>
        </p:nvSpPr>
        <p:spPr>
          <a:xfrm>
            <a:off x="594360" y="1335024"/>
            <a:ext cx="2377440" cy="292608"/>
          </a:xfrm>
          <a:prstGeom prst="rect">
            <a:avLst/>
          </a:prstGeom>
          <a:noFill/>
          <a:ln/>
        </p:spPr>
        <p:txBody>
          <a:bodyPr wrap="square" lIns="0" tIns="0" rIns="0" bIns="0" rtlCol="0" anchor="ctr"/>
          <a:lstStyle/>
          <a:p>
            <a:pPr indent="0" marL="0">
              <a:buNone/>
            </a:pPr>
            <a:r>
              <a:rPr lang="en-US" sz="1600" b="1" dirty="0">
                <a:solidFill>
                  <a:srgbClr val="F8FAFC"/>
                </a:solidFill>
                <a:latin typeface="Calibri" pitchFamily="34" charset="0"/>
                <a:ea typeface="Calibri" pitchFamily="34" charset="-122"/>
                <a:cs typeface="Calibri" pitchFamily="34" charset="-120"/>
              </a:rPr>
              <a:t>Foundation</a:t>
            </a:r>
            <a:endParaRPr lang="en-US" sz="1600" dirty="0"/>
          </a:p>
        </p:txBody>
      </p:sp>
      <p:sp>
        <p:nvSpPr>
          <p:cNvPr id="9" name="Shape 7"/>
          <p:cNvSpPr/>
          <p:nvPr/>
        </p:nvSpPr>
        <p:spPr>
          <a:xfrm>
            <a:off x="594360" y="1645920"/>
            <a:ext cx="2377440" cy="237744"/>
          </a:xfrm>
          <a:prstGeom prst="rect">
            <a:avLst/>
          </a:prstGeom>
          <a:solidFill>
            <a:srgbClr val="1C2230"/>
          </a:solidFill>
          <a:ln w="6350">
            <a:solidFill>
              <a:srgbClr val="14B8A6"/>
            </a:solidFill>
            <a:prstDash val="solid"/>
          </a:ln>
        </p:spPr>
      </p:sp>
      <p:sp>
        <p:nvSpPr>
          <p:cNvPr id="10" name="Text 8"/>
          <p:cNvSpPr/>
          <p:nvPr/>
        </p:nvSpPr>
        <p:spPr>
          <a:xfrm>
            <a:off x="594360" y="1645920"/>
            <a:ext cx="2377440" cy="237744"/>
          </a:xfrm>
          <a:prstGeom prst="rect">
            <a:avLst/>
          </a:prstGeom>
          <a:noFill/>
          <a:ln/>
        </p:spPr>
        <p:txBody>
          <a:bodyPr wrap="square" lIns="0" tIns="0" rIns="0" bIns="0" rtlCol="0" anchor="ctr"/>
          <a:lstStyle/>
          <a:p>
            <a:pPr algn="ctr" indent="0" marL="0">
              <a:buNone/>
            </a:pPr>
            <a:r>
              <a:rPr lang="en-US" sz="900" b="1" dirty="0">
                <a:solidFill>
                  <a:srgbClr val="14B8A6"/>
                </a:solidFill>
                <a:latin typeface="Calibri" pitchFamily="34" charset="0"/>
                <a:ea typeface="Calibri" pitchFamily="34" charset="-122"/>
                <a:cs typeface="Calibri" pitchFamily="34" charset="-120"/>
              </a:rPr>
              <a:t>Months 1–3</a:t>
            </a:r>
            <a:endParaRPr lang="en-US" sz="900" dirty="0"/>
          </a:p>
        </p:txBody>
      </p:sp>
      <p:sp>
        <p:nvSpPr>
          <p:cNvPr id="11" name="Shape 9"/>
          <p:cNvSpPr/>
          <p:nvPr/>
        </p:nvSpPr>
        <p:spPr>
          <a:xfrm>
            <a:off x="594360" y="1993392"/>
            <a:ext cx="2377440" cy="438912"/>
          </a:xfrm>
          <a:prstGeom prst="rect">
            <a:avLst/>
          </a:prstGeom>
          <a:solidFill>
            <a:srgbClr val="1C2230"/>
          </a:solidFill>
          <a:ln w="6350">
            <a:solidFill>
              <a:srgbClr val="334155"/>
            </a:solidFill>
            <a:prstDash val="solid"/>
          </a:ln>
        </p:spPr>
      </p:sp>
      <p:sp>
        <p:nvSpPr>
          <p:cNvPr id="12" name="Shape 10"/>
          <p:cNvSpPr/>
          <p:nvPr/>
        </p:nvSpPr>
        <p:spPr>
          <a:xfrm>
            <a:off x="594360" y="1993392"/>
            <a:ext cx="45720" cy="438912"/>
          </a:xfrm>
          <a:prstGeom prst="rect">
            <a:avLst/>
          </a:prstGeom>
          <a:solidFill>
            <a:srgbClr val="14B8A6"/>
          </a:solidFill>
          <a:ln w="12700">
            <a:solidFill>
              <a:srgbClr val="14B8A6"/>
            </a:solidFill>
            <a:prstDash val="solid"/>
          </a:ln>
        </p:spPr>
      </p:sp>
      <p:sp>
        <p:nvSpPr>
          <p:cNvPr id="13" name="Text 11"/>
          <p:cNvSpPr/>
          <p:nvPr/>
        </p:nvSpPr>
        <p:spPr>
          <a:xfrm>
            <a:off x="749808" y="199339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Deploy CIIP scoring engine as weekly procurement brief</a:t>
            </a:r>
            <a:endParaRPr lang="en-US" sz="850" dirty="0"/>
          </a:p>
        </p:txBody>
      </p:sp>
      <p:sp>
        <p:nvSpPr>
          <p:cNvPr id="14" name="Shape 12"/>
          <p:cNvSpPr/>
          <p:nvPr/>
        </p:nvSpPr>
        <p:spPr>
          <a:xfrm>
            <a:off x="594360" y="2496312"/>
            <a:ext cx="2377440" cy="438912"/>
          </a:xfrm>
          <a:prstGeom prst="rect">
            <a:avLst/>
          </a:prstGeom>
          <a:solidFill>
            <a:srgbClr val="1C2230"/>
          </a:solidFill>
          <a:ln w="6350">
            <a:solidFill>
              <a:srgbClr val="334155"/>
            </a:solidFill>
            <a:prstDash val="solid"/>
          </a:ln>
        </p:spPr>
      </p:sp>
      <p:sp>
        <p:nvSpPr>
          <p:cNvPr id="15" name="Shape 13"/>
          <p:cNvSpPr/>
          <p:nvPr/>
        </p:nvSpPr>
        <p:spPr>
          <a:xfrm>
            <a:off x="594360" y="2496312"/>
            <a:ext cx="45720" cy="438912"/>
          </a:xfrm>
          <a:prstGeom prst="rect">
            <a:avLst/>
          </a:prstGeom>
          <a:solidFill>
            <a:srgbClr val="14B8A6"/>
          </a:solidFill>
          <a:ln w="12700">
            <a:solidFill>
              <a:srgbClr val="14B8A6"/>
            </a:solidFill>
            <a:prstDash val="solid"/>
          </a:ln>
        </p:spPr>
      </p:sp>
      <p:sp>
        <p:nvSpPr>
          <p:cNvPr id="16" name="Text 14"/>
          <p:cNvSpPr/>
          <p:nvPr/>
        </p:nvSpPr>
        <p:spPr>
          <a:xfrm>
            <a:off x="749808" y="249631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Integrate Prophet forecasts into ERP reporting layer</a:t>
            </a:r>
            <a:endParaRPr lang="en-US" sz="850" dirty="0"/>
          </a:p>
        </p:txBody>
      </p:sp>
      <p:sp>
        <p:nvSpPr>
          <p:cNvPr id="17" name="Shape 15"/>
          <p:cNvSpPr/>
          <p:nvPr/>
        </p:nvSpPr>
        <p:spPr>
          <a:xfrm>
            <a:off x="594360" y="2999232"/>
            <a:ext cx="2377440" cy="438912"/>
          </a:xfrm>
          <a:prstGeom prst="rect">
            <a:avLst/>
          </a:prstGeom>
          <a:solidFill>
            <a:srgbClr val="1C2230"/>
          </a:solidFill>
          <a:ln w="6350">
            <a:solidFill>
              <a:srgbClr val="334155"/>
            </a:solidFill>
            <a:prstDash val="solid"/>
          </a:ln>
        </p:spPr>
      </p:sp>
      <p:sp>
        <p:nvSpPr>
          <p:cNvPr id="18" name="Shape 16"/>
          <p:cNvSpPr/>
          <p:nvPr/>
        </p:nvSpPr>
        <p:spPr>
          <a:xfrm>
            <a:off x="594360" y="2999232"/>
            <a:ext cx="45720" cy="438912"/>
          </a:xfrm>
          <a:prstGeom prst="rect">
            <a:avLst/>
          </a:prstGeom>
          <a:solidFill>
            <a:srgbClr val="14B8A6"/>
          </a:solidFill>
          <a:ln w="12700">
            <a:solidFill>
              <a:srgbClr val="14B8A6"/>
            </a:solidFill>
            <a:prstDash val="solid"/>
          </a:ln>
        </p:spPr>
      </p:sp>
      <p:sp>
        <p:nvSpPr>
          <p:cNvPr id="19" name="Text 17"/>
          <p:cNvSpPr/>
          <p:nvPr/>
        </p:nvSpPr>
        <p:spPr>
          <a:xfrm>
            <a:off x="749808" y="299923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Train procurement team on upstream signal interpretation</a:t>
            </a:r>
            <a:endParaRPr lang="en-US" sz="850" dirty="0"/>
          </a:p>
        </p:txBody>
      </p:sp>
      <p:sp>
        <p:nvSpPr>
          <p:cNvPr id="20" name="Shape 18"/>
          <p:cNvSpPr/>
          <p:nvPr/>
        </p:nvSpPr>
        <p:spPr>
          <a:xfrm>
            <a:off x="594360" y="3502152"/>
            <a:ext cx="2377440" cy="438912"/>
          </a:xfrm>
          <a:prstGeom prst="rect">
            <a:avLst/>
          </a:prstGeom>
          <a:solidFill>
            <a:srgbClr val="1C2230"/>
          </a:solidFill>
          <a:ln w="6350">
            <a:solidFill>
              <a:srgbClr val="334155"/>
            </a:solidFill>
            <a:prstDash val="solid"/>
          </a:ln>
        </p:spPr>
      </p:sp>
      <p:sp>
        <p:nvSpPr>
          <p:cNvPr id="21" name="Shape 19"/>
          <p:cNvSpPr/>
          <p:nvPr/>
        </p:nvSpPr>
        <p:spPr>
          <a:xfrm>
            <a:off x="594360" y="3502152"/>
            <a:ext cx="45720" cy="438912"/>
          </a:xfrm>
          <a:prstGeom prst="rect">
            <a:avLst/>
          </a:prstGeom>
          <a:solidFill>
            <a:srgbClr val="14B8A6"/>
          </a:solidFill>
          <a:ln w="12700">
            <a:solidFill>
              <a:srgbClr val="14B8A6"/>
            </a:solidFill>
            <a:prstDash val="solid"/>
          </a:ln>
        </p:spPr>
      </p:sp>
      <p:sp>
        <p:nvSpPr>
          <p:cNvPr id="22" name="Text 20"/>
          <p:cNvSpPr/>
          <p:nvPr/>
        </p:nvSpPr>
        <p:spPr>
          <a:xfrm>
            <a:off x="749808" y="350215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Establish 5-material monitoring protocol</a:t>
            </a:r>
            <a:endParaRPr lang="en-US" sz="850" dirty="0"/>
          </a:p>
        </p:txBody>
      </p:sp>
      <p:sp>
        <p:nvSpPr>
          <p:cNvPr id="23" name="Shape 21"/>
          <p:cNvSpPr/>
          <p:nvPr/>
        </p:nvSpPr>
        <p:spPr>
          <a:xfrm>
            <a:off x="594360" y="4041648"/>
            <a:ext cx="2377440" cy="365760"/>
          </a:xfrm>
          <a:prstGeom prst="rect">
            <a:avLst/>
          </a:prstGeom>
          <a:solidFill>
            <a:srgbClr val="161B22"/>
          </a:solidFill>
          <a:ln w="9525">
            <a:solidFill>
              <a:srgbClr val="14B8A6"/>
            </a:solidFill>
            <a:prstDash val="solid"/>
          </a:ln>
        </p:spPr>
      </p:sp>
      <p:sp>
        <p:nvSpPr>
          <p:cNvPr id="24" name="Text 22"/>
          <p:cNvSpPr/>
          <p:nvPr/>
        </p:nvSpPr>
        <p:spPr>
          <a:xfrm>
            <a:off x="594360" y="4041648"/>
            <a:ext cx="2377440" cy="365760"/>
          </a:xfrm>
          <a:prstGeom prst="rect">
            <a:avLst/>
          </a:prstGeom>
          <a:noFill/>
          <a:ln/>
        </p:spPr>
        <p:txBody>
          <a:bodyPr wrap="square" lIns="0" tIns="0" rIns="0" bIns="0" rtlCol="0" anchor="ctr"/>
          <a:lstStyle/>
          <a:p>
            <a:pPr algn="ctr" indent="0" marL="0">
              <a:buNone/>
            </a:pPr>
            <a:r>
              <a:rPr lang="en-US" sz="1000" b="1" dirty="0">
                <a:solidFill>
                  <a:srgbClr val="14B8A6"/>
                </a:solidFill>
                <a:latin typeface="Calibri" pitchFamily="34" charset="0"/>
                <a:ea typeface="Calibri" pitchFamily="34" charset="-122"/>
                <a:cs typeface="Calibri" pitchFamily="34" charset="-120"/>
              </a:rPr>
              <a:t>Deliverable: 5 materials live</a:t>
            </a:r>
            <a:endParaRPr lang="en-US" sz="1000" dirty="0"/>
          </a:p>
        </p:txBody>
      </p:sp>
      <p:sp>
        <p:nvSpPr>
          <p:cNvPr id="25" name="Shape 23"/>
          <p:cNvSpPr/>
          <p:nvPr/>
        </p:nvSpPr>
        <p:spPr>
          <a:xfrm>
            <a:off x="3310128" y="1005840"/>
            <a:ext cx="2715768" cy="3657600"/>
          </a:xfrm>
          <a:prstGeom prst="rect">
            <a:avLst/>
          </a:prstGeom>
          <a:solidFill>
            <a:srgbClr val="161B22"/>
          </a:solidFill>
          <a:ln w="9525">
            <a:solidFill>
              <a:srgbClr val="F59E0B"/>
            </a:solidFill>
            <a:prstDash val="solid"/>
          </a:ln>
        </p:spPr>
      </p:sp>
      <p:sp>
        <p:nvSpPr>
          <p:cNvPr id="26" name="Shape 24"/>
          <p:cNvSpPr/>
          <p:nvPr/>
        </p:nvSpPr>
        <p:spPr>
          <a:xfrm>
            <a:off x="3310128" y="1005840"/>
            <a:ext cx="2715768" cy="54864"/>
          </a:xfrm>
          <a:prstGeom prst="rect">
            <a:avLst/>
          </a:prstGeom>
          <a:solidFill>
            <a:srgbClr val="F59E0B"/>
          </a:solidFill>
          <a:ln w="12700">
            <a:solidFill>
              <a:srgbClr val="F59E0B"/>
            </a:solidFill>
            <a:prstDash val="solid"/>
          </a:ln>
        </p:spPr>
      </p:sp>
      <p:sp>
        <p:nvSpPr>
          <p:cNvPr id="27" name="Text 25"/>
          <p:cNvSpPr/>
          <p:nvPr/>
        </p:nvSpPr>
        <p:spPr>
          <a:xfrm>
            <a:off x="3447288" y="1115568"/>
            <a:ext cx="2377440" cy="228600"/>
          </a:xfrm>
          <a:prstGeom prst="rect">
            <a:avLst/>
          </a:prstGeom>
          <a:noFill/>
          <a:ln/>
        </p:spPr>
        <p:txBody>
          <a:bodyPr wrap="square" lIns="0" tIns="0" rIns="0" bIns="0" rtlCol="0" anchor="ctr"/>
          <a:lstStyle/>
          <a:p>
            <a:pPr indent="0" marL="0">
              <a:buNone/>
            </a:pPr>
            <a:r>
              <a:rPr lang="en-US" sz="850" b="1" spc="200" kern="0" dirty="0">
                <a:solidFill>
                  <a:srgbClr val="F59E0B"/>
                </a:solidFill>
                <a:latin typeface="Calibri" pitchFamily="34" charset="0"/>
                <a:ea typeface="Calibri" pitchFamily="34" charset="-122"/>
                <a:cs typeface="Calibri" pitchFamily="34" charset="-120"/>
              </a:rPr>
              <a:t>Phase 2</a:t>
            </a:r>
            <a:endParaRPr lang="en-US" sz="850" dirty="0"/>
          </a:p>
        </p:txBody>
      </p:sp>
      <p:sp>
        <p:nvSpPr>
          <p:cNvPr id="28" name="Text 26"/>
          <p:cNvSpPr/>
          <p:nvPr/>
        </p:nvSpPr>
        <p:spPr>
          <a:xfrm>
            <a:off x="3447288" y="1335024"/>
            <a:ext cx="2377440" cy="292608"/>
          </a:xfrm>
          <a:prstGeom prst="rect">
            <a:avLst/>
          </a:prstGeom>
          <a:noFill/>
          <a:ln/>
        </p:spPr>
        <p:txBody>
          <a:bodyPr wrap="square" lIns="0" tIns="0" rIns="0" bIns="0" rtlCol="0" anchor="ctr"/>
          <a:lstStyle/>
          <a:p>
            <a:pPr indent="0" marL="0">
              <a:buNone/>
            </a:pPr>
            <a:r>
              <a:rPr lang="en-US" sz="1600" b="1" dirty="0">
                <a:solidFill>
                  <a:srgbClr val="F8FAFC"/>
                </a:solidFill>
                <a:latin typeface="Calibri" pitchFamily="34" charset="0"/>
                <a:ea typeface="Calibri" pitchFamily="34" charset="-122"/>
                <a:cs typeface="Calibri" pitchFamily="34" charset="-120"/>
              </a:rPr>
              <a:t>Expansion</a:t>
            </a:r>
            <a:endParaRPr lang="en-US" sz="1600" dirty="0"/>
          </a:p>
        </p:txBody>
      </p:sp>
      <p:sp>
        <p:nvSpPr>
          <p:cNvPr id="29" name="Shape 27"/>
          <p:cNvSpPr/>
          <p:nvPr/>
        </p:nvSpPr>
        <p:spPr>
          <a:xfrm>
            <a:off x="3447288" y="1645920"/>
            <a:ext cx="2377440" cy="237744"/>
          </a:xfrm>
          <a:prstGeom prst="rect">
            <a:avLst/>
          </a:prstGeom>
          <a:solidFill>
            <a:srgbClr val="1C2230"/>
          </a:solidFill>
          <a:ln w="6350">
            <a:solidFill>
              <a:srgbClr val="F59E0B"/>
            </a:solidFill>
            <a:prstDash val="solid"/>
          </a:ln>
        </p:spPr>
      </p:sp>
      <p:sp>
        <p:nvSpPr>
          <p:cNvPr id="30" name="Text 28"/>
          <p:cNvSpPr/>
          <p:nvPr/>
        </p:nvSpPr>
        <p:spPr>
          <a:xfrm>
            <a:off x="3447288" y="1645920"/>
            <a:ext cx="2377440" cy="237744"/>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Months 4–8</a:t>
            </a:r>
            <a:endParaRPr lang="en-US" sz="900" dirty="0"/>
          </a:p>
        </p:txBody>
      </p:sp>
      <p:sp>
        <p:nvSpPr>
          <p:cNvPr id="31" name="Shape 29"/>
          <p:cNvSpPr/>
          <p:nvPr/>
        </p:nvSpPr>
        <p:spPr>
          <a:xfrm>
            <a:off x="3447288" y="1993392"/>
            <a:ext cx="2377440" cy="438912"/>
          </a:xfrm>
          <a:prstGeom prst="rect">
            <a:avLst/>
          </a:prstGeom>
          <a:solidFill>
            <a:srgbClr val="1C2230"/>
          </a:solidFill>
          <a:ln w="6350">
            <a:solidFill>
              <a:srgbClr val="334155"/>
            </a:solidFill>
            <a:prstDash val="solid"/>
          </a:ln>
        </p:spPr>
      </p:sp>
      <p:sp>
        <p:nvSpPr>
          <p:cNvPr id="32" name="Shape 30"/>
          <p:cNvSpPr/>
          <p:nvPr/>
        </p:nvSpPr>
        <p:spPr>
          <a:xfrm>
            <a:off x="3447288" y="1993392"/>
            <a:ext cx="45720" cy="438912"/>
          </a:xfrm>
          <a:prstGeom prst="rect">
            <a:avLst/>
          </a:prstGeom>
          <a:solidFill>
            <a:srgbClr val="F59E0B"/>
          </a:solidFill>
          <a:ln w="12700">
            <a:solidFill>
              <a:srgbClr val="F59E0B"/>
            </a:solidFill>
            <a:prstDash val="solid"/>
          </a:ln>
        </p:spPr>
      </p:sp>
      <p:sp>
        <p:nvSpPr>
          <p:cNvPr id="33" name="Text 31"/>
          <p:cNvSpPr/>
          <p:nvPr/>
        </p:nvSpPr>
        <p:spPr>
          <a:xfrm>
            <a:off x="3602736" y="199339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Expand to 15+ pharma-specific API inputs</a:t>
            </a:r>
            <a:endParaRPr lang="en-US" sz="850" dirty="0"/>
          </a:p>
        </p:txBody>
      </p:sp>
      <p:sp>
        <p:nvSpPr>
          <p:cNvPr id="34" name="Shape 32"/>
          <p:cNvSpPr/>
          <p:nvPr/>
        </p:nvSpPr>
        <p:spPr>
          <a:xfrm>
            <a:off x="3447288" y="2496312"/>
            <a:ext cx="2377440" cy="438912"/>
          </a:xfrm>
          <a:prstGeom prst="rect">
            <a:avLst/>
          </a:prstGeom>
          <a:solidFill>
            <a:srgbClr val="1C2230"/>
          </a:solidFill>
          <a:ln w="6350">
            <a:solidFill>
              <a:srgbClr val="334155"/>
            </a:solidFill>
            <a:prstDash val="solid"/>
          </a:ln>
        </p:spPr>
      </p:sp>
      <p:sp>
        <p:nvSpPr>
          <p:cNvPr id="35" name="Shape 33"/>
          <p:cNvSpPr/>
          <p:nvPr/>
        </p:nvSpPr>
        <p:spPr>
          <a:xfrm>
            <a:off x="3447288" y="2496312"/>
            <a:ext cx="45720" cy="438912"/>
          </a:xfrm>
          <a:prstGeom prst="rect">
            <a:avLst/>
          </a:prstGeom>
          <a:solidFill>
            <a:srgbClr val="F59E0B"/>
          </a:solidFill>
          <a:ln w="12700">
            <a:solidFill>
              <a:srgbClr val="F59E0B"/>
            </a:solidFill>
            <a:prstDash val="solid"/>
          </a:ln>
        </p:spPr>
      </p:sp>
      <p:sp>
        <p:nvSpPr>
          <p:cNvPr id="36" name="Text 34"/>
          <p:cNvSpPr/>
          <p:nvPr/>
        </p:nvSpPr>
        <p:spPr>
          <a:xfrm>
            <a:off x="3602736" y="249631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UN Comtrade import dependency integration</a:t>
            </a:r>
            <a:endParaRPr lang="en-US" sz="850" dirty="0"/>
          </a:p>
        </p:txBody>
      </p:sp>
      <p:sp>
        <p:nvSpPr>
          <p:cNvPr id="37" name="Shape 35"/>
          <p:cNvSpPr/>
          <p:nvPr/>
        </p:nvSpPr>
        <p:spPr>
          <a:xfrm>
            <a:off x="3447288" y="2999232"/>
            <a:ext cx="2377440" cy="438912"/>
          </a:xfrm>
          <a:prstGeom prst="rect">
            <a:avLst/>
          </a:prstGeom>
          <a:solidFill>
            <a:srgbClr val="1C2230"/>
          </a:solidFill>
          <a:ln w="6350">
            <a:solidFill>
              <a:srgbClr val="334155"/>
            </a:solidFill>
            <a:prstDash val="solid"/>
          </a:ln>
        </p:spPr>
      </p:sp>
      <p:sp>
        <p:nvSpPr>
          <p:cNvPr id="38" name="Shape 36"/>
          <p:cNvSpPr/>
          <p:nvPr/>
        </p:nvSpPr>
        <p:spPr>
          <a:xfrm>
            <a:off x="3447288" y="2999232"/>
            <a:ext cx="45720" cy="438912"/>
          </a:xfrm>
          <a:prstGeom prst="rect">
            <a:avLst/>
          </a:prstGeom>
          <a:solidFill>
            <a:srgbClr val="F59E0B"/>
          </a:solidFill>
          <a:ln w="12700">
            <a:solidFill>
              <a:srgbClr val="F59E0B"/>
            </a:solidFill>
            <a:prstDash val="solid"/>
          </a:ln>
        </p:spPr>
      </p:sp>
      <p:sp>
        <p:nvSpPr>
          <p:cNvPr id="39" name="Text 37"/>
          <p:cNvSpPr/>
          <p:nvPr/>
        </p:nvSpPr>
        <p:spPr>
          <a:xfrm>
            <a:off x="3602736" y="299923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China dependency and supplier concentration scoring</a:t>
            </a:r>
            <a:endParaRPr lang="en-US" sz="850" dirty="0"/>
          </a:p>
        </p:txBody>
      </p:sp>
      <p:sp>
        <p:nvSpPr>
          <p:cNvPr id="40" name="Shape 38"/>
          <p:cNvSpPr/>
          <p:nvPr/>
        </p:nvSpPr>
        <p:spPr>
          <a:xfrm>
            <a:off x="3447288" y="3502152"/>
            <a:ext cx="2377440" cy="438912"/>
          </a:xfrm>
          <a:prstGeom prst="rect">
            <a:avLst/>
          </a:prstGeom>
          <a:solidFill>
            <a:srgbClr val="1C2230"/>
          </a:solidFill>
          <a:ln w="6350">
            <a:solidFill>
              <a:srgbClr val="334155"/>
            </a:solidFill>
            <a:prstDash val="solid"/>
          </a:ln>
        </p:spPr>
      </p:sp>
      <p:sp>
        <p:nvSpPr>
          <p:cNvPr id="41" name="Shape 39"/>
          <p:cNvSpPr/>
          <p:nvPr/>
        </p:nvSpPr>
        <p:spPr>
          <a:xfrm>
            <a:off x="3447288" y="3502152"/>
            <a:ext cx="45720" cy="438912"/>
          </a:xfrm>
          <a:prstGeom prst="rect">
            <a:avLst/>
          </a:prstGeom>
          <a:solidFill>
            <a:srgbClr val="F59E0B"/>
          </a:solidFill>
          <a:ln w="12700">
            <a:solidFill>
              <a:srgbClr val="F59E0B"/>
            </a:solidFill>
            <a:prstDash val="solid"/>
          </a:ln>
        </p:spPr>
      </p:sp>
      <p:sp>
        <p:nvSpPr>
          <p:cNvPr id="42" name="Text 40"/>
          <p:cNvSpPr/>
          <p:nvPr/>
        </p:nvSpPr>
        <p:spPr>
          <a:xfrm>
            <a:off x="3602736" y="350215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Automated alert system via ERP workflow triggers</a:t>
            </a:r>
            <a:endParaRPr lang="en-US" sz="850" dirty="0"/>
          </a:p>
        </p:txBody>
      </p:sp>
      <p:sp>
        <p:nvSpPr>
          <p:cNvPr id="43" name="Shape 41"/>
          <p:cNvSpPr/>
          <p:nvPr/>
        </p:nvSpPr>
        <p:spPr>
          <a:xfrm>
            <a:off x="3447288" y="4041648"/>
            <a:ext cx="2377440" cy="365760"/>
          </a:xfrm>
          <a:prstGeom prst="rect">
            <a:avLst/>
          </a:prstGeom>
          <a:solidFill>
            <a:srgbClr val="161B22"/>
          </a:solidFill>
          <a:ln w="9525">
            <a:solidFill>
              <a:srgbClr val="F59E0B"/>
            </a:solidFill>
            <a:prstDash val="solid"/>
          </a:ln>
        </p:spPr>
      </p:sp>
      <p:sp>
        <p:nvSpPr>
          <p:cNvPr id="44" name="Text 42"/>
          <p:cNvSpPr/>
          <p:nvPr/>
        </p:nvSpPr>
        <p:spPr>
          <a:xfrm>
            <a:off x="3447288" y="4041648"/>
            <a:ext cx="2377440" cy="365760"/>
          </a:xfrm>
          <a:prstGeom prst="rect">
            <a:avLst/>
          </a:prstGeom>
          <a:noFill/>
          <a:ln/>
        </p:spPr>
        <p:txBody>
          <a:bodyPr wrap="square" lIns="0" tIns="0" rIns="0" bIns="0" rtlCol="0" anchor="ctr"/>
          <a:lstStyle/>
          <a:p>
            <a:pPr algn="ctr" indent="0" marL="0">
              <a:buNone/>
            </a:pPr>
            <a:r>
              <a:rPr lang="en-US" sz="1000" b="1" dirty="0">
                <a:solidFill>
                  <a:srgbClr val="F59E0B"/>
                </a:solidFill>
                <a:latin typeface="Calibri" pitchFamily="34" charset="0"/>
                <a:ea typeface="Calibri" pitchFamily="34" charset="-122"/>
                <a:cs typeface="Calibri" pitchFamily="34" charset="-120"/>
              </a:rPr>
              <a:t>Deliverable: 15+ materials</a:t>
            </a:r>
            <a:endParaRPr lang="en-US" sz="1000" dirty="0"/>
          </a:p>
        </p:txBody>
      </p:sp>
      <p:sp>
        <p:nvSpPr>
          <p:cNvPr id="45" name="Shape 43"/>
          <p:cNvSpPr/>
          <p:nvPr/>
        </p:nvSpPr>
        <p:spPr>
          <a:xfrm>
            <a:off x="6163056" y="1005840"/>
            <a:ext cx="2715768" cy="3657600"/>
          </a:xfrm>
          <a:prstGeom prst="rect">
            <a:avLst/>
          </a:prstGeom>
          <a:solidFill>
            <a:srgbClr val="161B22"/>
          </a:solidFill>
          <a:ln w="9525">
            <a:solidFill>
              <a:srgbClr val="3B82F6"/>
            </a:solidFill>
            <a:prstDash val="solid"/>
          </a:ln>
        </p:spPr>
      </p:sp>
      <p:sp>
        <p:nvSpPr>
          <p:cNvPr id="46" name="Shape 44"/>
          <p:cNvSpPr/>
          <p:nvPr/>
        </p:nvSpPr>
        <p:spPr>
          <a:xfrm>
            <a:off x="6163056" y="1005840"/>
            <a:ext cx="2715768" cy="54864"/>
          </a:xfrm>
          <a:prstGeom prst="rect">
            <a:avLst/>
          </a:prstGeom>
          <a:solidFill>
            <a:srgbClr val="3B82F6"/>
          </a:solidFill>
          <a:ln w="12700">
            <a:solidFill>
              <a:srgbClr val="3B82F6"/>
            </a:solidFill>
            <a:prstDash val="solid"/>
          </a:ln>
        </p:spPr>
      </p:sp>
      <p:sp>
        <p:nvSpPr>
          <p:cNvPr id="47" name="Text 45"/>
          <p:cNvSpPr/>
          <p:nvPr/>
        </p:nvSpPr>
        <p:spPr>
          <a:xfrm>
            <a:off x="6300216" y="1115568"/>
            <a:ext cx="2377440" cy="228600"/>
          </a:xfrm>
          <a:prstGeom prst="rect">
            <a:avLst/>
          </a:prstGeom>
          <a:noFill/>
          <a:ln/>
        </p:spPr>
        <p:txBody>
          <a:bodyPr wrap="square" lIns="0" tIns="0" rIns="0" bIns="0" rtlCol="0" anchor="ctr"/>
          <a:lstStyle/>
          <a:p>
            <a:pPr indent="0" marL="0">
              <a:buNone/>
            </a:pPr>
            <a:r>
              <a:rPr lang="en-US" sz="850" b="1" spc="200" kern="0" dirty="0">
                <a:solidFill>
                  <a:srgbClr val="3B82F6"/>
                </a:solidFill>
                <a:latin typeface="Calibri" pitchFamily="34" charset="0"/>
                <a:ea typeface="Calibri" pitchFamily="34" charset="-122"/>
                <a:cs typeface="Calibri" pitchFamily="34" charset="-120"/>
              </a:rPr>
              <a:t>Phase 3</a:t>
            </a:r>
            <a:endParaRPr lang="en-US" sz="850" dirty="0"/>
          </a:p>
        </p:txBody>
      </p:sp>
      <p:sp>
        <p:nvSpPr>
          <p:cNvPr id="48" name="Text 46"/>
          <p:cNvSpPr/>
          <p:nvPr/>
        </p:nvSpPr>
        <p:spPr>
          <a:xfrm>
            <a:off x="6300216" y="1335024"/>
            <a:ext cx="2377440" cy="292608"/>
          </a:xfrm>
          <a:prstGeom prst="rect">
            <a:avLst/>
          </a:prstGeom>
          <a:noFill/>
          <a:ln/>
        </p:spPr>
        <p:txBody>
          <a:bodyPr wrap="square" lIns="0" tIns="0" rIns="0" bIns="0" rtlCol="0" anchor="ctr"/>
          <a:lstStyle/>
          <a:p>
            <a:pPr indent="0" marL="0">
              <a:buNone/>
            </a:pPr>
            <a:r>
              <a:rPr lang="en-US" sz="1600" b="1" dirty="0">
                <a:solidFill>
                  <a:srgbClr val="F8FAFC"/>
                </a:solidFill>
                <a:latin typeface="Calibri" pitchFamily="34" charset="0"/>
                <a:ea typeface="Calibri" pitchFamily="34" charset="-122"/>
                <a:cs typeface="Calibri" pitchFamily="34" charset="-120"/>
              </a:rPr>
              <a:t>Intelligence</a:t>
            </a:r>
            <a:endParaRPr lang="en-US" sz="1600" dirty="0"/>
          </a:p>
        </p:txBody>
      </p:sp>
      <p:sp>
        <p:nvSpPr>
          <p:cNvPr id="49" name="Shape 47"/>
          <p:cNvSpPr/>
          <p:nvPr/>
        </p:nvSpPr>
        <p:spPr>
          <a:xfrm>
            <a:off x="6300216" y="1645920"/>
            <a:ext cx="2377440" cy="237744"/>
          </a:xfrm>
          <a:prstGeom prst="rect">
            <a:avLst/>
          </a:prstGeom>
          <a:solidFill>
            <a:srgbClr val="1C2230"/>
          </a:solidFill>
          <a:ln w="6350">
            <a:solidFill>
              <a:srgbClr val="3B82F6"/>
            </a:solidFill>
            <a:prstDash val="solid"/>
          </a:ln>
        </p:spPr>
      </p:sp>
      <p:sp>
        <p:nvSpPr>
          <p:cNvPr id="50" name="Text 48"/>
          <p:cNvSpPr/>
          <p:nvPr/>
        </p:nvSpPr>
        <p:spPr>
          <a:xfrm>
            <a:off x="6300216" y="1645920"/>
            <a:ext cx="2377440" cy="237744"/>
          </a:xfrm>
          <a:prstGeom prst="rect">
            <a:avLst/>
          </a:prstGeom>
          <a:noFill/>
          <a:ln/>
        </p:spPr>
        <p:txBody>
          <a:bodyPr wrap="square" lIns="0" tIns="0" rIns="0" bIns="0" rtlCol="0" anchor="ctr"/>
          <a:lstStyle/>
          <a:p>
            <a:pPr algn="ctr" indent="0" marL="0">
              <a:buNone/>
            </a:pPr>
            <a:r>
              <a:rPr lang="en-US" sz="900" b="1" dirty="0">
                <a:solidFill>
                  <a:srgbClr val="3B82F6"/>
                </a:solidFill>
                <a:latin typeface="Calibri" pitchFamily="34" charset="0"/>
                <a:ea typeface="Calibri" pitchFamily="34" charset="-122"/>
                <a:cs typeface="Calibri" pitchFamily="34" charset="-120"/>
              </a:rPr>
              <a:t>Months 9–18</a:t>
            </a:r>
            <a:endParaRPr lang="en-US" sz="900" dirty="0"/>
          </a:p>
        </p:txBody>
      </p:sp>
      <p:sp>
        <p:nvSpPr>
          <p:cNvPr id="51" name="Shape 49"/>
          <p:cNvSpPr/>
          <p:nvPr/>
        </p:nvSpPr>
        <p:spPr>
          <a:xfrm>
            <a:off x="6300216" y="1993392"/>
            <a:ext cx="2377440" cy="438912"/>
          </a:xfrm>
          <a:prstGeom prst="rect">
            <a:avLst/>
          </a:prstGeom>
          <a:solidFill>
            <a:srgbClr val="1C2230"/>
          </a:solidFill>
          <a:ln w="6350">
            <a:solidFill>
              <a:srgbClr val="334155"/>
            </a:solidFill>
            <a:prstDash val="solid"/>
          </a:ln>
        </p:spPr>
      </p:sp>
      <p:sp>
        <p:nvSpPr>
          <p:cNvPr id="52" name="Shape 50"/>
          <p:cNvSpPr/>
          <p:nvPr/>
        </p:nvSpPr>
        <p:spPr>
          <a:xfrm>
            <a:off x="6300216" y="1993392"/>
            <a:ext cx="45720" cy="438912"/>
          </a:xfrm>
          <a:prstGeom prst="rect">
            <a:avLst/>
          </a:prstGeom>
          <a:solidFill>
            <a:srgbClr val="3B82F6"/>
          </a:solidFill>
          <a:ln w="12700">
            <a:solidFill>
              <a:srgbClr val="3B82F6"/>
            </a:solidFill>
            <a:prstDash val="solid"/>
          </a:ln>
        </p:spPr>
      </p:sp>
      <p:sp>
        <p:nvSpPr>
          <p:cNvPr id="53" name="Text 51"/>
          <p:cNvSpPr/>
          <p:nvPr/>
        </p:nvSpPr>
        <p:spPr>
          <a:xfrm>
            <a:off x="6455664" y="199339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Real-time freight cost index integration</a:t>
            </a:r>
            <a:endParaRPr lang="en-US" sz="850" dirty="0"/>
          </a:p>
        </p:txBody>
      </p:sp>
      <p:sp>
        <p:nvSpPr>
          <p:cNvPr id="54" name="Shape 52"/>
          <p:cNvSpPr/>
          <p:nvPr/>
        </p:nvSpPr>
        <p:spPr>
          <a:xfrm>
            <a:off x="6300216" y="2496312"/>
            <a:ext cx="2377440" cy="438912"/>
          </a:xfrm>
          <a:prstGeom prst="rect">
            <a:avLst/>
          </a:prstGeom>
          <a:solidFill>
            <a:srgbClr val="1C2230"/>
          </a:solidFill>
          <a:ln w="6350">
            <a:solidFill>
              <a:srgbClr val="334155"/>
            </a:solidFill>
            <a:prstDash val="solid"/>
          </a:ln>
        </p:spPr>
      </p:sp>
      <p:sp>
        <p:nvSpPr>
          <p:cNvPr id="55" name="Shape 53"/>
          <p:cNvSpPr/>
          <p:nvPr/>
        </p:nvSpPr>
        <p:spPr>
          <a:xfrm>
            <a:off x="6300216" y="2496312"/>
            <a:ext cx="45720" cy="438912"/>
          </a:xfrm>
          <a:prstGeom prst="rect">
            <a:avLst/>
          </a:prstGeom>
          <a:solidFill>
            <a:srgbClr val="3B82F6"/>
          </a:solidFill>
          <a:ln w="12700">
            <a:solidFill>
              <a:srgbClr val="3B82F6"/>
            </a:solidFill>
            <a:prstDash val="solid"/>
          </a:ln>
        </p:spPr>
      </p:sp>
      <p:sp>
        <p:nvSpPr>
          <p:cNvPr id="56" name="Text 54"/>
          <p:cNvSpPr/>
          <p:nvPr/>
        </p:nvSpPr>
        <p:spPr>
          <a:xfrm>
            <a:off x="6455664" y="249631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Live geopolitical alert feeds via API</a:t>
            </a:r>
            <a:endParaRPr lang="en-US" sz="850" dirty="0"/>
          </a:p>
        </p:txBody>
      </p:sp>
      <p:sp>
        <p:nvSpPr>
          <p:cNvPr id="57" name="Shape 55"/>
          <p:cNvSpPr/>
          <p:nvPr/>
        </p:nvSpPr>
        <p:spPr>
          <a:xfrm>
            <a:off x="6300216" y="2999232"/>
            <a:ext cx="2377440" cy="438912"/>
          </a:xfrm>
          <a:prstGeom prst="rect">
            <a:avLst/>
          </a:prstGeom>
          <a:solidFill>
            <a:srgbClr val="1C2230"/>
          </a:solidFill>
          <a:ln w="6350">
            <a:solidFill>
              <a:srgbClr val="334155"/>
            </a:solidFill>
            <a:prstDash val="solid"/>
          </a:ln>
        </p:spPr>
      </p:sp>
      <p:sp>
        <p:nvSpPr>
          <p:cNvPr id="58" name="Shape 56"/>
          <p:cNvSpPr/>
          <p:nvPr/>
        </p:nvSpPr>
        <p:spPr>
          <a:xfrm>
            <a:off x="6300216" y="2999232"/>
            <a:ext cx="45720" cy="438912"/>
          </a:xfrm>
          <a:prstGeom prst="rect">
            <a:avLst/>
          </a:prstGeom>
          <a:solidFill>
            <a:srgbClr val="3B82F6"/>
          </a:solidFill>
          <a:ln w="12700">
            <a:solidFill>
              <a:srgbClr val="3B82F6"/>
            </a:solidFill>
            <a:prstDash val="solid"/>
          </a:ln>
        </p:spPr>
      </p:sp>
      <p:sp>
        <p:nvSpPr>
          <p:cNvPr id="59" name="Text 57"/>
          <p:cNvSpPr/>
          <p:nvPr/>
        </p:nvSpPr>
        <p:spPr>
          <a:xfrm>
            <a:off x="6455664" y="299923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S&amp;OP embedded dashboard for leadership briefing</a:t>
            </a:r>
            <a:endParaRPr lang="en-US" sz="850" dirty="0"/>
          </a:p>
        </p:txBody>
      </p:sp>
      <p:sp>
        <p:nvSpPr>
          <p:cNvPr id="60" name="Shape 58"/>
          <p:cNvSpPr/>
          <p:nvPr/>
        </p:nvSpPr>
        <p:spPr>
          <a:xfrm>
            <a:off x="6300216" y="3502152"/>
            <a:ext cx="2377440" cy="438912"/>
          </a:xfrm>
          <a:prstGeom prst="rect">
            <a:avLst/>
          </a:prstGeom>
          <a:solidFill>
            <a:srgbClr val="1C2230"/>
          </a:solidFill>
          <a:ln w="6350">
            <a:solidFill>
              <a:srgbClr val="334155"/>
            </a:solidFill>
            <a:prstDash val="solid"/>
          </a:ln>
        </p:spPr>
      </p:sp>
      <p:sp>
        <p:nvSpPr>
          <p:cNvPr id="61" name="Shape 59"/>
          <p:cNvSpPr/>
          <p:nvPr/>
        </p:nvSpPr>
        <p:spPr>
          <a:xfrm>
            <a:off x="6300216" y="3502152"/>
            <a:ext cx="45720" cy="438912"/>
          </a:xfrm>
          <a:prstGeom prst="rect">
            <a:avLst/>
          </a:prstGeom>
          <a:solidFill>
            <a:srgbClr val="3B82F6"/>
          </a:solidFill>
          <a:ln w="12700">
            <a:solidFill>
              <a:srgbClr val="3B82F6"/>
            </a:solidFill>
            <a:prstDash val="solid"/>
          </a:ln>
        </p:spPr>
      </p:sp>
      <p:sp>
        <p:nvSpPr>
          <p:cNvPr id="62" name="Text 60"/>
          <p:cNvSpPr/>
          <p:nvPr/>
        </p:nvSpPr>
        <p:spPr>
          <a:xfrm>
            <a:off x="6455664" y="3502152"/>
            <a:ext cx="2130552" cy="438912"/>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Procurement optimization recommendation engine</a:t>
            </a:r>
            <a:endParaRPr lang="en-US" sz="850" dirty="0"/>
          </a:p>
        </p:txBody>
      </p:sp>
      <p:sp>
        <p:nvSpPr>
          <p:cNvPr id="63" name="Shape 61"/>
          <p:cNvSpPr/>
          <p:nvPr/>
        </p:nvSpPr>
        <p:spPr>
          <a:xfrm>
            <a:off x="6300216" y="4041648"/>
            <a:ext cx="2377440" cy="365760"/>
          </a:xfrm>
          <a:prstGeom prst="rect">
            <a:avLst/>
          </a:prstGeom>
          <a:solidFill>
            <a:srgbClr val="161B22"/>
          </a:solidFill>
          <a:ln w="9525">
            <a:solidFill>
              <a:srgbClr val="3B82F6"/>
            </a:solidFill>
            <a:prstDash val="solid"/>
          </a:ln>
        </p:spPr>
      </p:sp>
      <p:sp>
        <p:nvSpPr>
          <p:cNvPr id="64" name="Text 62"/>
          <p:cNvSpPr/>
          <p:nvPr/>
        </p:nvSpPr>
        <p:spPr>
          <a:xfrm>
            <a:off x="6300216" y="4041648"/>
            <a:ext cx="2377440" cy="365760"/>
          </a:xfrm>
          <a:prstGeom prst="rect">
            <a:avLst/>
          </a:prstGeom>
          <a:noFill/>
          <a:ln/>
        </p:spPr>
        <p:txBody>
          <a:bodyPr wrap="square" lIns="0" tIns="0" rIns="0" bIns="0" rtlCol="0" anchor="ctr"/>
          <a:lstStyle/>
          <a:p>
            <a:pPr algn="ctr" indent="0" marL="0">
              <a:buNone/>
            </a:pPr>
            <a:r>
              <a:rPr lang="en-US" sz="1000" b="1" dirty="0">
                <a:solidFill>
                  <a:srgbClr val="3B82F6"/>
                </a:solidFill>
                <a:latin typeface="Calibri" pitchFamily="34" charset="0"/>
                <a:ea typeface="Calibri" pitchFamily="34" charset="-122"/>
                <a:cs typeface="Calibri" pitchFamily="34" charset="-120"/>
              </a:rPr>
              <a:t>Deliverable: Real-time system</a:t>
            </a:r>
            <a:endParaRPr lang="en-US" sz="1000" dirty="0"/>
          </a:p>
        </p:txBody>
      </p:sp>
      <p:sp>
        <p:nvSpPr>
          <p:cNvPr id="65" name="Shape 63"/>
          <p:cNvSpPr/>
          <p:nvPr/>
        </p:nvSpPr>
        <p:spPr>
          <a:xfrm>
            <a:off x="457200" y="4754880"/>
            <a:ext cx="8229600" cy="310896"/>
          </a:xfrm>
          <a:prstGeom prst="rect">
            <a:avLst/>
          </a:prstGeom>
          <a:solidFill>
            <a:srgbClr val="1C2230"/>
          </a:solidFill>
          <a:ln w="9525">
            <a:solidFill>
              <a:srgbClr val="21262D"/>
            </a:solidFill>
            <a:prstDash val="solid"/>
          </a:ln>
        </p:spPr>
      </p:sp>
      <p:sp>
        <p:nvSpPr>
          <p:cNvPr id="66" name="Text 64"/>
          <p:cNvSpPr/>
          <p:nvPr/>
        </p:nvSpPr>
        <p:spPr>
          <a:xfrm>
            <a:off x="594360" y="4754880"/>
            <a:ext cx="7955280" cy="310896"/>
          </a:xfrm>
          <a:prstGeom prst="rect">
            <a:avLst/>
          </a:prstGeom>
          <a:noFill/>
          <a:ln/>
        </p:spPr>
        <p:txBody>
          <a:bodyPr wrap="square" lIns="0" tIns="0" rIns="0" bIns="0" rtlCol="0" anchor="ctr"/>
          <a:lstStyle/>
          <a:p>
            <a:pPr indent="0" marL="0">
              <a:buNone/>
            </a:pPr>
            <a:r>
              <a:rPr lang="en-US" sz="950" i="1" dirty="0">
                <a:solidFill>
                  <a:srgbClr val="D97706"/>
                </a:solidFill>
                <a:latin typeface="Calibri" pitchFamily="34" charset="0"/>
                <a:ea typeface="Calibri" pitchFamily="34" charset="-122"/>
                <a:cs typeface="Calibri" pitchFamily="34" charset="-120"/>
              </a:rPr>
              <a:t>AI accelerates operational logic. It does not create it. The foundation is the framework — the deployment makes it enterprise-grade.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457200" y="201168"/>
            <a:ext cx="82296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TECHNOLOGY ARCHITECTURE</a:t>
            </a:r>
            <a:endParaRPr lang="en-US" sz="900" dirty="0"/>
          </a:p>
        </p:txBody>
      </p:sp>
      <p:sp>
        <p:nvSpPr>
          <p:cNvPr id="3" name="Text 1"/>
          <p:cNvSpPr/>
          <p:nvPr/>
        </p:nvSpPr>
        <p:spPr>
          <a:xfrm>
            <a:off x="457200" y="457200"/>
            <a:ext cx="7772400" cy="411480"/>
          </a:xfrm>
          <a:prstGeom prst="rect">
            <a:avLst/>
          </a:prstGeom>
          <a:noFill/>
          <a:ln/>
        </p:spPr>
        <p:txBody>
          <a:bodyPr wrap="square" lIns="0" tIns="0" rIns="0" bIns="0" rtlCol="0" anchor="ctr"/>
          <a:lstStyle/>
          <a:p>
            <a:pPr indent="0" marL="0">
              <a:buNone/>
            </a:pPr>
            <a:r>
              <a:rPr lang="en-US" sz="2200" b="1" dirty="0">
                <a:solidFill>
                  <a:srgbClr val="F8FAFC"/>
                </a:solidFill>
                <a:latin typeface="Calibri" pitchFamily="34" charset="0"/>
                <a:ea typeface="Calibri" pitchFamily="34" charset="-122"/>
                <a:cs typeface="Calibri" pitchFamily="34" charset="-120"/>
              </a:rPr>
              <a:t>Enterprise-Grade Stack — From Data to Decision Intelligence</a:t>
            </a:r>
            <a:endParaRPr lang="en-US" sz="2200" dirty="0"/>
          </a:p>
        </p:txBody>
      </p:sp>
      <p:sp>
        <p:nvSpPr>
          <p:cNvPr id="4" name="Shape 2"/>
          <p:cNvSpPr/>
          <p:nvPr/>
        </p:nvSpPr>
        <p:spPr>
          <a:xfrm>
            <a:off x="457200" y="886968"/>
            <a:ext cx="8229600" cy="10973"/>
          </a:xfrm>
          <a:prstGeom prst="rect">
            <a:avLst/>
          </a:prstGeom>
          <a:solidFill>
            <a:srgbClr val="334155"/>
          </a:solidFill>
          <a:ln w="12700">
            <a:solidFill>
              <a:srgbClr val="334155"/>
            </a:solidFill>
            <a:prstDash val="solid"/>
          </a:ln>
        </p:spPr>
      </p:sp>
      <p:sp>
        <p:nvSpPr>
          <p:cNvPr id="5" name="Shape 3"/>
          <p:cNvSpPr/>
          <p:nvPr/>
        </p:nvSpPr>
        <p:spPr>
          <a:xfrm>
            <a:off x="457200" y="1005840"/>
            <a:ext cx="2057400" cy="3383280"/>
          </a:xfrm>
          <a:prstGeom prst="rect">
            <a:avLst/>
          </a:prstGeom>
          <a:solidFill>
            <a:srgbClr val="161B22"/>
          </a:solidFill>
          <a:ln w="9525">
            <a:solidFill>
              <a:srgbClr val="14B8A6"/>
            </a:solidFill>
            <a:prstDash val="solid"/>
          </a:ln>
        </p:spPr>
      </p:sp>
      <p:sp>
        <p:nvSpPr>
          <p:cNvPr id="6" name="Shape 4"/>
          <p:cNvSpPr/>
          <p:nvPr/>
        </p:nvSpPr>
        <p:spPr>
          <a:xfrm>
            <a:off x="457200" y="1005840"/>
            <a:ext cx="2057400" cy="54864"/>
          </a:xfrm>
          <a:prstGeom prst="rect">
            <a:avLst/>
          </a:prstGeom>
          <a:solidFill>
            <a:srgbClr val="14B8A6"/>
          </a:solidFill>
          <a:ln w="12700">
            <a:solidFill>
              <a:srgbClr val="14B8A6"/>
            </a:solidFill>
            <a:prstDash val="solid"/>
          </a:ln>
        </p:spPr>
      </p:sp>
      <p:sp>
        <p:nvSpPr>
          <p:cNvPr id="7" name="Text 5"/>
          <p:cNvSpPr/>
          <p:nvPr/>
        </p:nvSpPr>
        <p:spPr>
          <a:xfrm>
            <a:off x="566928" y="1115568"/>
            <a:ext cx="1828800" cy="274320"/>
          </a:xfrm>
          <a:prstGeom prst="rect">
            <a:avLst/>
          </a:prstGeom>
          <a:noFill/>
          <a:ln/>
        </p:spPr>
        <p:txBody>
          <a:bodyPr wrap="square" lIns="0" tIns="0" rIns="0" bIns="0" rtlCol="0" anchor="ctr"/>
          <a:lstStyle/>
          <a:p>
            <a:pPr indent="0" marL="0">
              <a:buNone/>
            </a:pPr>
            <a:r>
              <a:rPr lang="en-US" sz="850" b="1" spc="100" kern="0" dirty="0">
                <a:solidFill>
                  <a:srgbClr val="14B8A6"/>
                </a:solidFill>
                <a:latin typeface="Calibri" pitchFamily="34" charset="0"/>
                <a:ea typeface="Calibri" pitchFamily="34" charset="-122"/>
                <a:cs typeface="Calibri" pitchFamily="34" charset="-120"/>
              </a:rPr>
              <a:t>DATA LAYER</a:t>
            </a:r>
            <a:endParaRPr lang="en-US" sz="850" dirty="0"/>
          </a:p>
        </p:txBody>
      </p:sp>
      <p:sp>
        <p:nvSpPr>
          <p:cNvPr id="8" name="Shape 6"/>
          <p:cNvSpPr/>
          <p:nvPr/>
        </p:nvSpPr>
        <p:spPr>
          <a:xfrm>
            <a:off x="566928" y="1508760"/>
            <a:ext cx="1828800" cy="804672"/>
          </a:xfrm>
          <a:prstGeom prst="rect">
            <a:avLst/>
          </a:prstGeom>
          <a:solidFill>
            <a:srgbClr val="1C2230"/>
          </a:solidFill>
          <a:ln w="6350">
            <a:solidFill>
              <a:srgbClr val="21262D"/>
            </a:solidFill>
            <a:prstDash val="solid"/>
          </a:ln>
        </p:spPr>
      </p:sp>
      <p:sp>
        <p:nvSpPr>
          <p:cNvPr id="9" name="Text 7"/>
          <p:cNvSpPr/>
          <p:nvPr/>
        </p:nvSpPr>
        <p:spPr>
          <a:xfrm>
            <a:off x="621792" y="15819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World Bank Pink Sheet</a:t>
            </a:r>
            <a:endParaRPr lang="en-US" sz="950" dirty="0"/>
          </a:p>
        </p:txBody>
      </p:sp>
      <p:sp>
        <p:nvSpPr>
          <p:cNvPr id="10" name="Text 8"/>
          <p:cNvSpPr/>
          <p:nvPr/>
        </p:nvSpPr>
        <p:spPr>
          <a:xfrm>
            <a:off x="621792" y="18745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LNG Japan historical prices (PRIMARY)</a:t>
            </a:r>
            <a:endParaRPr lang="en-US" sz="800" dirty="0"/>
          </a:p>
        </p:txBody>
      </p:sp>
      <p:sp>
        <p:nvSpPr>
          <p:cNvPr id="11" name="Shape 9"/>
          <p:cNvSpPr/>
          <p:nvPr/>
        </p:nvSpPr>
        <p:spPr>
          <a:xfrm>
            <a:off x="566928" y="2423160"/>
            <a:ext cx="1828800" cy="804672"/>
          </a:xfrm>
          <a:prstGeom prst="rect">
            <a:avLst/>
          </a:prstGeom>
          <a:solidFill>
            <a:srgbClr val="1C2230"/>
          </a:solidFill>
          <a:ln w="6350">
            <a:solidFill>
              <a:srgbClr val="21262D"/>
            </a:solidFill>
            <a:prstDash val="solid"/>
          </a:ln>
        </p:spPr>
      </p:sp>
      <p:sp>
        <p:nvSpPr>
          <p:cNvPr id="12" name="Text 10"/>
          <p:cNvSpPr/>
          <p:nvPr/>
        </p:nvSpPr>
        <p:spPr>
          <a:xfrm>
            <a:off x="621792" y="24963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Methanex Contract Prices</a:t>
            </a:r>
            <a:endParaRPr lang="en-US" sz="950" dirty="0"/>
          </a:p>
        </p:txBody>
      </p:sp>
      <p:sp>
        <p:nvSpPr>
          <p:cNvPr id="13" name="Text 11"/>
          <p:cNvSpPr/>
          <p:nvPr/>
        </p:nvSpPr>
        <p:spPr>
          <a:xfrm>
            <a:off x="621792" y="27889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Methanol historical prices (PRIMARY)</a:t>
            </a:r>
            <a:endParaRPr lang="en-US" sz="800" dirty="0"/>
          </a:p>
        </p:txBody>
      </p:sp>
      <p:sp>
        <p:nvSpPr>
          <p:cNvPr id="14" name="Shape 12"/>
          <p:cNvSpPr/>
          <p:nvPr/>
        </p:nvSpPr>
        <p:spPr>
          <a:xfrm>
            <a:off x="566928" y="3337560"/>
            <a:ext cx="1828800" cy="804672"/>
          </a:xfrm>
          <a:prstGeom prst="rect">
            <a:avLst/>
          </a:prstGeom>
          <a:solidFill>
            <a:srgbClr val="1C2230"/>
          </a:solidFill>
          <a:ln w="6350">
            <a:solidFill>
              <a:srgbClr val="21262D"/>
            </a:solidFill>
            <a:prstDash val="solid"/>
          </a:ln>
        </p:spPr>
      </p:sp>
      <p:sp>
        <p:nvSpPr>
          <p:cNvPr id="15" name="Text 13"/>
          <p:cNvSpPr/>
          <p:nvPr/>
        </p:nvSpPr>
        <p:spPr>
          <a:xfrm>
            <a:off x="621792" y="34107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FRED / Chemanalyst / PVInsights</a:t>
            </a:r>
            <a:endParaRPr lang="en-US" sz="950" dirty="0"/>
          </a:p>
        </p:txBody>
      </p:sp>
      <p:sp>
        <p:nvSpPr>
          <p:cNvPr id="16" name="Text 14"/>
          <p:cNvSpPr/>
          <p:nvPr/>
        </p:nvSpPr>
        <p:spPr>
          <a:xfrm>
            <a:off x="621792" y="37033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Proxy reconstructed series (PROXY)</a:t>
            </a:r>
            <a:endParaRPr lang="en-US" sz="800" dirty="0"/>
          </a:p>
        </p:txBody>
      </p:sp>
      <p:sp>
        <p:nvSpPr>
          <p:cNvPr id="17" name="Shape 15"/>
          <p:cNvSpPr/>
          <p:nvPr/>
        </p:nvSpPr>
        <p:spPr>
          <a:xfrm>
            <a:off x="2651760" y="1005840"/>
            <a:ext cx="2057400" cy="3383280"/>
          </a:xfrm>
          <a:prstGeom prst="rect">
            <a:avLst/>
          </a:prstGeom>
          <a:solidFill>
            <a:srgbClr val="161B22"/>
          </a:solidFill>
          <a:ln w="9525">
            <a:solidFill>
              <a:srgbClr val="F59E0B"/>
            </a:solidFill>
            <a:prstDash val="solid"/>
          </a:ln>
        </p:spPr>
      </p:sp>
      <p:sp>
        <p:nvSpPr>
          <p:cNvPr id="18" name="Shape 16"/>
          <p:cNvSpPr/>
          <p:nvPr/>
        </p:nvSpPr>
        <p:spPr>
          <a:xfrm>
            <a:off x="2651760" y="1005840"/>
            <a:ext cx="2057400" cy="54864"/>
          </a:xfrm>
          <a:prstGeom prst="rect">
            <a:avLst/>
          </a:prstGeom>
          <a:solidFill>
            <a:srgbClr val="F59E0B"/>
          </a:solidFill>
          <a:ln w="12700">
            <a:solidFill>
              <a:srgbClr val="F59E0B"/>
            </a:solidFill>
            <a:prstDash val="solid"/>
          </a:ln>
        </p:spPr>
      </p:sp>
      <p:sp>
        <p:nvSpPr>
          <p:cNvPr id="19" name="Text 17"/>
          <p:cNvSpPr/>
          <p:nvPr/>
        </p:nvSpPr>
        <p:spPr>
          <a:xfrm>
            <a:off x="2761488" y="1115568"/>
            <a:ext cx="1828800" cy="274320"/>
          </a:xfrm>
          <a:prstGeom prst="rect">
            <a:avLst/>
          </a:prstGeom>
          <a:noFill/>
          <a:ln/>
        </p:spPr>
        <p:txBody>
          <a:bodyPr wrap="square" lIns="0" tIns="0" rIns="0" bIns="0" rtlCol="0" anchor="ctr"/>
          <a:lstStyle/>
          <a:p>
            <a:pPr indent="0" marL="0">
              <a:buNone/>
            </a:pPr>
            <a:r>
              <a:rPr lang="en-US" sz="850" b="1" spc="100" kern="0" dirty="0">
                <a:solidFill>
                  <a:srgbClr val="F59E0B"/>
                </a:solidFill>
                <a:latin typeface="Calibri" pitchFamily="34" charset="0"/>
                <a:ea typeface="Calibri" pitchFamily="34" charset="-122"/>
                <a:cs typeface="Calibri" pitchFamily="34" charset="-120"/>
              </a:rPr>
              <a:t>ANALYTICS LAYER</a:t>
            </a:r>
            <a:endParaRPr lang="en-US" sz="850" dirty="0"/>
          </a:p>
        </p:txBody>
      </p:sp>
      <p:sp>
        <p:nvSpPr>
          <p:cNvPr id="20" name="Shape 18"/>
          <p:cNvSpPr/>
          <p:nvPr/>
        </p:nvSpPr>
        <p:spPr>
          <a:xfrm>
            <a:off x="2761488" y="1508760"/>
            <a:ext cx="1828800" cy="804672"/>
          </a:xfrm>
          <a:prstGeom prst="rect">
            <a:avLst/>
          </a:prstGeom>
          <a:solidFill>
            <a:srgbClr val="1C2230"/>
          </a:solidFill>
          <a:ln w="6350">
            <a:solidFill>
              <a:srgbClr val="21262D"/>
            </a:solidFill>
            <a:prstDash val="solid"/>
          </a:ln>
        </p:spPr>
      </p:sp>
      <p:sp>
        <p:nvSpPr>
          <p:cNvPr id="21" name="Text 19"/>
          <p:cNvSpPr/>
          <p:nvPr/>
        </p:nvSpPr>
        <p:spPr>
          <a:xfrm>
            <a:off x="2816352" y="15819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Prophet (Meta, 2017)</a:t>
            </a:r>
            <a:endParaRPr lang="en-US" sz="950" dirty="0"/>
          </a:p>
        </p:txBody>
      </p:sp>
      <p:sp>
        <p:nvSpPr>
          <p:cNvPr id="22" name="Text 20"/>
          <p:cNvSpPr/>
          <p:nvPr/>
        </p:nvSpPr>
        <p:spPr>
          <a:xfrm>
            <a:off x="2816352" y="18745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Time series forecasting — monthly, 12-month horizon</a:t>
            </a:r>
            <a:endParaRPr lang="en-US" sz="800" dirty="0"/>
          </a:p>
        </p:txBody>
      </p:sp>
      <p:sp>
        <p:nvSpPr>
          <p:cNvPr id="23" name="Shape 21"/>
          <p:cNvSpPr/>
          <p:nvPr/>
        </p:nvSpPr>
        <p:spPr>
          <a:xfrm>
            <a:off x="2761488" y="2423160"/>
            <a:ext cx="1828800" cy="804672"/>
          </a:xfrm>
          <a:prstGeom prst="rect">
            <a:avLst/>
          </a:prstGeom>
          <a:solidFill>
            <a:srgbClr val="1C2230"/>
          </a:solidFill>
          <a:ln w="6350">
            <a:solidFill>
              <a:srgbClr val="21262D"/>
            </a:solidFill>
            <a:prstDash val="solid"/>
          </a:ln>
        </p:spPr>
      </p:sp>
      <p:sp>
        <p:nvSpPr>
          <p:cNvPr id="24" name="Text 22"/>
          <p:cNvSpPr/>
          <p:nvPr/>
        </p:nvSpPr>
        <p:spPr>
          <a:xfrm>
            <a:off x="2816352" y="24963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scikit-learn</a:t>
            </a:r>
            <a:endParaRPr lang="en-US" sz="950" dirty="0"/>
          </a:p>
        </p:txBody>
      </p:sp>
      <p:sp>
        <p:nvSpPr>
          <p:cNvPr id="25" name="Text 23"/>
          <p:cNvSpPr/>
          <p:nvPr/>
        </p:nvSpPr>
        <p:spPr>
          <a:xfrm>
            <a:off x="2816352" y="27889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MAPE, MAE, RMSE validation — walk-forward train/test</a:t>
            </a:r>
            <a:endParaRPr lang="en-US" sz="800" dirty="0"/>
          </a:p>
        </p:txBody>
      </p:sp>
      <p:sp>
        <p:nvSpPr>
          <p:cNvPr id="26" name="Shape 24"/>
          <p:cNvSpPr/>
          <p:nvPr/>
        </p:nvSpPr>
        <p:spPr>
          <a:xfrm>
            <a:off x="2761488" y="3337560"/>
            <a:ext cx="1828800" cy="804672"/>
          </a:xfrm>
          <a:prstGeom prst="rect">
            <a:avLst/>
          </a:prstGeom>
          <a:solidFill>
            <a:srgbClr val="1C2230"/>
          </a:solidFill>
          <a:ln w="6350">
            <a:solidFill>
              <a:srgbClr val="21262D"/>
            </a:solidFill>
            <a:prstDash val="solid"/>
          </a:ln>
        </p:spPr>
      </p:sp>
      <p:sp>
        <p:nvSpPr>
          <p:cNvPr id="27" name="Text 25"/>
          <p:cNvSpPr/>
          <p:nvPr/>
        </p:nvSpPr>
        <p:spPr>
          <a:xfrm>
            <a:off x="2816352" y="34107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NumPy + SciPy</a:t>
            </a:r>
            <a:endParaRPr lang="en-US" sz="950" dirty="0"/>
          </a:p>
        </p:txBody>
      </p:sp>
      <p:sp>
        <p:nvSpPr>
          <p:cNvPr id="28" name="Text 26"/>
          <p:cNvSpPr/>
          <p:nvPr/>
        </p:nvSpPr>
        <p:spPr>
          <a:xfrm>
            <a:off x="2816352" y="37033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Monte Carlo simulation — 10,000 paths, t-distribution</a:t>
            </a:r>
            <a:endParaRPr lang="en-US" sz="800" dirty="0"/>
          </a:p>
        </p:txBody>
      </p:sp>
      <p:sp>
        <p:nvSpPr>
          <p:cNvPr id="29" name="Shape 27"/>
          <p:cNvSpPr/>
          <p:nvPr/>
        </p:nvSpPr>
        <p:spPr>
          <a:xfrm>
            <a:off x="4846320" y="1005840"/>
            <a:ext cx="2057400" cy="3383280"/>
          </a:xfrm>
          <a:prstGeom prst="rect">
            <a:avLst/>
          </a:prstGeom>
          <a:solidFill>
            <a:srgbClr val="161B22"/>
          </a:solidFill>
          <a:ln w="9525">
            <a:solidFill>
              <a:srgbClr val="3B82F6"/>
            </a:solidFill>
            <a:prstDash val="solid"/>
          </a:ln>
        </p:spPr>
      </p:sp>
      <p:sp>
        <p:nvSpPr>
          <p:cNvPr id="30" name="Shape 28"/>
          <p:cNvSpPr/>
          <p:nvPr/>
        </p:nvSpPr>
        <p:spPr>
          <a:xfrm>
            <a:off x="4846320" y="1005840"/>
            <a:ext cx="2057400" cy="54864"/>
          </a:xfrm>
          <a:prstGeom prst="rect">
            <a:avLst/>
          </a:prstGeom>
          <a:solidFill>
            <a:srgbClr val="3B82F6"/>
          </a:solidFill>
          <a:ln w="12700">
            <a:solidFill>
              <a:srgbClr val="3B82F6"/>
            </a:solidFill>
            <a:prstDash val="solid"/>
          </a:ln>
        </p:spPr>
      </p:sp>
      <p:sp>
        <p:nvSpPr>
          <p:cNvPr id="31" name="Text 29"/>
          <p:cNvSpPr/>
          <p:nvPr/>
        </p:nvSpPr>
        <p:spPr>
          <a:xfrm>
            <a:off x="4956048" y="1115568"/>
            <a:ext cx="1828800" cy="274320"/>
          </a:xfrm>
          <a:prstGeom prst="rect">
            <a:avLst/>
          </a:prstGeom>
          <a:noFill/>
          <a:ln/>
        </p:spPr>
        <p:txBody>
          <a:bodyPr wrap="square" lIns="0" tIns="0" rIns="0" bIns="0" rtlCol="0" anchor="ctr"/>
          <a:lstStyle/>
          <a:p>
            <a:pPr indent="0" marL="0">
              <a:buNone/>
            </a:pPr>
            <a:r>
              <a:rPr lang="en-US" sz="850" b="1" spc="100" kern="0" dirty="0">
                <a:solidFill>
                  <a:srgbClr val="3B82F6"/>
                </a:solidFill>
                <a:latin typeface="Calibri" pitchFamily="34" charset="0"/>
                <a:ea typeface="Calibri" pitchFamily="34" charset="-122"/>
                <a:cs typeface="Calibri" pitchFamily="34" charset="-120"/>
              </a:rPr>
              <a:t>INTELLIGENCE LAYER</a:t>
            </a:r>
            <a:endParaRPr lang="en-US" sz="850" dirty="0"/>
          </a:p>
        </p:txBody>
      </p:sp>
      <p:sp>
        <p:nvSpPr>
          <p:cNvPr id="32" name="Shape 30"/>
          <p:cNvSpPr/>
          <p:nvPr/>
        </p:nvSpPr>
        <p:spPr>
          <a:xfrm>
            <a:off x="4956048" y="1508760"/>
            <a:ext cx="1828800" cy="804672"/>
          </a:xfrm>
          <a:prstGeom prst="rect">
            <a:avLst/>
          </a:prstGeom>
          <a:solidFill>
            <a:srgbClr val="1C2230"/>
          </a:solidFill>
          <a:ln w="6350">
            <a:solidFill>
              <a:srgbClr val="21262D"/>
            </a:solidFill>
            <a:prstDash val="solid"/>
          </a:ln>
        </p:spPr>
      </p:sp>
      <p:sp>
        <p:nvSpPr>
          <p:cNvPr id="33" name="Text 31"/>
          <p:cNvSpPr/>
          <p:nvPr/>
        </p:nvSpPr>
        <p:spPr>
          <a:xfrm>
            <a:off x="5010912" y="15819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CIIP Scoring Engine</a:t>
            </a:r>
            <a:endParaRPr lang="en-US" sz="950" dirty="0"/>
          </a:p>
        </p:txBody>
      </p:sp>
      <p:sp>
        <p:nvSpPr>
          <p:cNvPr id="34" name="Text 32"/>
          <p:cNvSpPr/>
          <p:nvPr/>
        </p:nvSpPr>
        <p:spPr>
          <a:xfrm>
            <a:off x="5010912" y="18745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Leontief I-O framework — 3 weighted components</a:t>
            </a:r>
            <a:endParaRPr lang="en-US" sz="800" dirty="0"/>
          </a:p>
        </p:txBody>
      </p:sp>
      <p:sp>
        <p:nvSpPr>
          <p:cNvPr id="35" name="Shape 33"/>
          <p:cNvSpPr/>
          <p:nvPr/>
        </p:nvSpPr>
        <p:spPr>
          <a:xfrm>
            <a:off x="4956048" y="2423160"/>
            <a:ext cx="1828800" cy="804672"/>
          </a:xfrm>
          <a:prstGeom prst="rect">
            <a:avLst/>
          </a:prstGeom>
          <a:solidFill>
            <a:srgbClr val="1C2230"/>
          </a:solidFill>
          <a:ln w="6350">
            <a:solidFill>
              <a:srgbClr val="21262D"/>
            </a:solidFill>
            <a:prstDash val="solid"/>
          </a:ln>
        </p:spPr>
      </p:sp>
      <p:sp>
        <p:nvSpPr>
          <p:cNvPr id="36" name="Text 34"/>
          <p:cNvSpPr/>
          <p:nvPr/>
        </p:nvSpPr>
        <p:spPr>
          <a:xfrm>
            <a:off x="5010912" y="24963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Analytical Weighting</a:t>
            </a:r>
            <a:endParaRPr lang="en-US" sz="950" dirty="0"/>
          </a:p>
        </p:txBody>
      </p:sp>
      <p:sp>
        <p:nvSpPr>
          <p:cNvPr id="37" name="Text 35"/>
          <p:cNvSpPr/>
          <p:nvPr/>
        </p:nvSpPr>
        <p:spPr>
          <a:xfrm>
            <a:off x="5010912" y="27889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Volatility, import dependency, energy correlation, concentration</a:t>
            </a:r>
            <a:endParaRPr lang="en-US" sz="800" dirty="0"/>
          </a:p>
        </p:txBody>
      </p:sp>
      <p:sp>
        <p:nvSpPr>
          <p:cNvPr id="38" name="Shape 36"/>
          <p:cNvSpPr/>
          <p:nvPr/>
        </p:nvSpPr>
        <p:spPr>
          <a:xfrm>
            <a:off x="4956048" y="3337560"/>
            <a:ext cx="1828800" cy="804672"/>
          </a:xfrm>
          <a:prstGeom prst="rect">
            <a:avLst/>
          </a:prstGeom>
          <a:solidFill>
            <a:srgbClr val="1C2230"/>
          </a:solidFill>
          <a:ln w="6350">
            <a:solidFill>
              <a:srgbClr val="21262D"/>
            </a:solidFill>
            <a:prstDash val="solid"/>
          </a:ln>
        </p:spPr>
      </p:sp>
      <p:sp>
        <p:nvSpPr>
          <p:cNvPr id="39" name="Text 37"/>
          <p:cNvSpPr/>
          <p:nvPr/>
        </p:nvSpPr>
        <p:spPr>
          <a:xfrm>
            <a:off x="5010912" y="34107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Scenario Engine</a:t>
            </a:r>
            <a:endParaRPr lang="en-US" sz="950" dirty="0"/>
          </a:p>
        </p:txBody>
      </p:sp>
      <p:sp>
        <p:nvSpPr>
          <p:cNvPr id="40" name="Text 38"/>
          <p:cNvSpPr/>
          <p:nvPr/>
        </p:nvSpPr>
        <p:spPr>
          <a:xfrm>
            <a:off x="5010912" y="37033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3 enterprise stress scenarios with CIIP delta and escalation alerts</a:t>
            </a:r>
            <a:endParaRPr lang="en-US" sz="800" dirty="0"/>
          </a:p>
        </p:txBody>
      </p:sp>
      <p:sp>
        <p:nvSpPr>
          <p:cNvPr id="41" name="Shape 39"/>
          <p:cNvSpPr/>
          <p:nvPr/>
        </p:nvSpPr>
        <p:spPr>
          <a:xfrm>
            <a:off x="7040880" y="1005840"/>
            <a:ext cx="2057400" cy="3383280"/>
          </a:xfrm>
          <a:prstGeom prst="rect">
            <a:avLst/>
          </a:prstGeom>
          <a:solidFill>
            <a:srgbClr val="161B22"/>
          </a:solidFill>
          <a:ln w="9525">
            <a:solidFill>
              <a:srgbClr val="0A2A1E"/>
            </a:solidFill>
            <a:prstDash val="solid"/>
          </a:ln>
        </p:spPr>
      </p:sp>
      <p:sp>
        <p:nvSpPr>
          <p:cNvPr id="42" name="Shape 40"/>
          <p:cNvSpPr/>
          <p:nvPr/>
        </p:nvSpPr>
        <p:spPr>
          <a:xfrm>
            <a:off x="7040880" y="1005840"/>
            <a:ext cx="2057400" cy="54864"/>
          </a:xfrm>
          <a:prstGeom prst="rect">
            <a:avLst/>
          </a:prstGeom>
          <a:solidFill>
            <a:srgbClr val="0A2A1E"/>
          </a:solidFill>
          <a:ln w="12700">
            <a:solidFill>
              <a:srgbClr val="0A2A1E"/>
            </a:solidFill>
            <a:prstDash val="solid"/>
          </a:ln>
        </p:spPr>
      </p:sp>
      <p:sp>
        <p:nvSpPr>
          <p:cNvPr id="43" name="Text 41"/>
          <p:cNvSpPr/>
          <p:nvPr/>
        </p:nvSpPr>
        <p:spPr>
          <a:xfrm>
            <a:off x="7150608" y="1115568"/>
            <a:ext cx="1828800" cy="274320"/>
          </a:xfrm>
          <a:prstGeom prst="rect">
            <a:avLst/>
          </a:prstGeom>
          <a:noFill/>
          <a:ln/>
        </p:spPr>
        <p:txBody>
          <a:bodyPr wrap="square" lIns="0" tIns="0" rIns="0" bIns="0" rtlCol="0" anchor="ctr"/>
          <a:lstStyle/>
          <a:p>
            <a:pPr indent="0" marL="0">
              <a:buNone/>
            </a:pPr>
            <a:r>
              <a:rPr lang="en-US" sz="850" b="1" spc="100" kern="0" dirty="0">
                <a:solidFill>
                  <a:srgbClr val="0A2A1E"/>
                </a:solidFill>
                <a:latin typeface="Calibri" pitchFamily="34" charset="0"/>
                <a:ea typeface="Calibri" pitchFamily="34" charset="-122"/>
                <a:cs typeface="Calibri" pitchFamily="34" charset="-120"/>
              </a:rPr>
              <a:t>PRESENTATION LAYER</a:t>
            </a:r>
            <a:endParaRPr lang="en-US" sz="850" dirty="0"/>
          </a:p>
        </p:txBody>
      </p:sp>
      <p:sp>
        <p:nvSpPr>
          <p:cNvPr id="44" name="Shape 42"/>
          <p:cNvSpPr/>
          <p:nvPr/>
        </p:nvSpPr>
        <p:spPr>
          <a:xfrm>
            <a:off x="7150608" y="1508760"/>
            <a:ext cx="1828800" cy="804672"/>
          </a:xfrm>
          <a:prstGeom prst="rect">
            <a:avLst/>
          </a:prstGeom>
          <a:solidFill>
            <a:srgbClr val="1C2230"/>
          </a:solidFill>
          <a:ln w="6350">
            <a:solidFill>
              <a:srgbClr val="21262D"/>
            </a:solidFill>
            <a:prstDash val="solid"/>
          </a:ln>
        </p:spPr>
      </p:sp>
      <p:sp>
        <p:nvSpPr>
          <p:cNvPr id="45" name="Text 43"/>
          <p:cNvSpPr/>
          <p:nvPr/>
        </p:nvSpPr>
        <p:spPr>
          <a:xfrm>
            <a:off x="7205472" y="15819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Streamlit</a:t>
            </a:r>
            <a:endParaRPr lang="en-US" sz="950" dirty="0"/>
          </a:p>
        </p:txBody>
      </p:sp>
      <p:sp>
        <p:nvSpPr>
          <p:cNvPr id="46" name="Text 44"/>
          <p:cNvSpPr/>
          <p:nvPr/>
        </p:nvSpPr>
        <p:spPr>
          <a:xfrm>
            <a:off x="7205472" y="18745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Interactive executive dashboard — deployed on Streamlit Cloud</a:t>
            </a:r>
            <a:endParaRPr lang="en-US" sz="800" dirty="0"/>
          </a:p>
        </p:txBody>
      </p:sp>
      <p:sp>
        <p:nvSpPr>
          <p:cNvPr id="47" name="Shape 45"/>
          <p:cNvSpPr/>
          <p:nvPr/>
        </p:nvSpPr>
        <p:spPr>
          <a:xfrm>
            <a:off x="7150608" y="2423160"/>
            <a:ext cx="1828800" cy="804672"/>
          </a:xfrm>
          <a:prstGeom prst="rect">
            <a:avLst/>
          </a:prstGeom>
          <a:solidFill>
            <a:srgbClr val="1C2230"/>
          </a:solidFill>
          <a:ln w="6350">
            <a:solidFill>
              <a:srgbClr val="21262D"/>
            </a:solidFill>
            <a:prstDash val="solid"/>
          </a:ln>
        </p:spPr>
      </p:sp>
      <p:sp>
        <p:nvSpPr>
          <p:cNvPr id="48" name="Text 46"/>
          <p:cNvSpPr/>
          <p:nvPr/>
        </p:nvSpPr>
        <p:spPr>
          <a:xfrm>
            <a:off x="7205472" y="24963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Plotly</a:t>
            </a:r>
            <a:endParaRPr lang="en-US" sz="950" dirty="0"/>
          </a:p>
        </p:txBody>
      </p:sp>
      <p:sp>
        <p:nvSpPr>
          <p:cNvPr id="49" name="Text 47"/>
          <p:cNvSpPr/>
          <p:nvPr/>
        </p:nvSpPr>
        <p:spPr>
          <a:xfrm>
            <a:off x="7205472" y="27889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Interactive charts — CIIP scorecard, forecast curves, scenario output</a:t>
            </a:r>
            <a:endParaRPr lang="en-US" sz="800" dirty="0"/>
          </a:p>
        </p:txBody>
      </p:sp>
      <p:sp>
        <p:nvSpPr>
          <p:cNvPr id="50" name="Shape 48"/>
          <p:cNvSpPr/>
          <p:nvPr/>
        </p:nvSpPr>
        <p:spPr>
          <a:xfrm>
            <a:off x="7150608" y="3337560"/>
            <a:ext cx="1828800" cy="804672"/>
          </a:xfrm>
          <a:prstGeom prst="rect">
            <a:avLst/>
          </a:prstGeom>
          <a:solidFill>
            <a:srgbClr val="1C2230"/>
          </a:solidFill>
          <a:ln w="6350">
            <a:solidFill>
              <a:srgbClr val="21262D"/>
            </a:solidFill>
            <a:prstDash val="solid"/>
          </a:ln>
        </p:spPr>
      </p:sp>
      <p:sp>
        <p:nvSpPr>
          <p:cNvPr id="51" name="Text 49"/>
          <p:cNvSpPr/>
          <p:nvPr/>
        </p:nvSpPr>
        <p:spPr>
          <a:xfrm>
            <a:off x="7205472" y="3410712"/>
            <a:ext cx="1719072" cy="274320"/>
          </a:xfrm>
          <a:prstGeom prst="rect">
            <a:avLst/>
          </a:prstGeom>
          <a:noFill/>
          <a:ln/>
        </p:spPr>
        <p:txBody>
          <a:bodyPr wrap="square" lIns="0" tIns="0" rIns="0" bIns="0" rtlCol="0" anchor="ctr"/>
          <a:lstStyle/>
          <a:p>
            <a:pPr indent="0" marL="0">
              <a:buNone/>
            </a:pPr>
            <a:r>
              <a:rPr lang="en-US" sz="950" b="1" dirty="0">
                <a:solidFill>
                  <a:srgbClr val="F8FAFC"/>
                </a:solidFill>
                <a:latin typeface="Calibri" pitchFamily="34" charset="0"/>
                <a:ea typeface="Calibri" pitchFamily="34" charset="-122"/>
                <a:cs typeface="Calibri" pitchFamily="34" charset="-120"/>
              </a:rPr>
              <a:t>Pandas + Matplotlib</a:t>
            </a:r>
            <a:endParaRPr lang="en-US" sz="950" dirty="0"/>
          </a:p>
        </p:txBody>
      </p:sp>
      <p:sp>
        <p:nvSpPr>
          <p:cNvPr id="52" name="Text 50"/>
          <p:cNvSpPr/>
          <p:nvPr/>
        </p:nvSpPr>
        <p:spPr>
          <a:xfrm>
            <a:off x="7205472" y="3703320"/>
            <a:ext cx="1719072" cy="384048"/>
          </a:xfrm>
          <a:prstGeom prst="rect">
            <a:avLst/>
          </a:prstGeom>
          <a:noFill/>
          <a:ln/>
        </p:spPr>
        <p:txBody>
          <a:bodyPr wrap="square" lIns="0" tIns="0" rIns="0" bIns="0" rtlCol="0" anchor="ctr"/>
          <a:lstStyle/>
          <a:p>
            <a:pPr indent="0" marL="0">
              <a:buNone/>
            </a:pPr>
            <a:r>
              <a:rPr lang="en-US" sz="800" dirty="0">
                <a:solidFill>
                  <a:srgbClr val="94A3B8"/>
                </a:solidFill>
                <a:latin typeface="Calibri" pitchFamily="34" charset="0"/>
                <a:ea typeface="Calibri" pitchFamily="34" charset="-122"/>
                <a:cs typeface="Calibri" pitchFamily="34" charset="-120"/>
              </a:rPr>
              <a:t>Data pipeline, analytical output, static visualizations</a:t>
            </a:r>
            <a:endParaRPr lang="en-US" sz="800" dirty="0"/>
          </a:p>
        </p:txBody>
      </p:sp>
      <p:sp>
        <p:nvSpPr>
          <p:cNvPr id="53" name="Shape 51"/>
          <p:cNvSpPr/>
          <p:nvPr/>
        </p:nvSpPr>
        <p:spPr>
          <a:xfrm>
            <a:off x="457200" y="4498848"/>
            <a:ext cx="8229600" cy="566928"/>
          </a:xfrm>
          <a:prstGeom prst="rect">
            <a:avLst/>
          </a:prstGeom>
          <a:solidFill>
            <a:srgbClr val="1C2230"/>
          </a:solidFill>
          <a:ln w="9525">
            <a:solidFill>
              <a:srgbClr val="21262D"/>
            </a:solidFill>
            <a:prstDash val="solid"/>
          </a:ln>
        </p:spPr>
      </p:sp>
      <p:sp>
        <p:nvSpPr>
          <p:cNvPr id="54" name="Text 52"/>
          <p:cNvSpPr/>
          <p:nvPr/>
        </p:nvSpPr>
        <p:spPr>
          <a:xfrm>
            <a:off x="594360" y="4572000"/>
            <a:ext cx="1371600" cy="274320"/>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Live Dashboard:</a:t>
            </a:r>
            <a:endParaRPr lang="en-US" sz="950" dirty="0"/>
          </a:p>
        </p:txBody>
      </p:sp>
      <p:sp>
        <p:nvSpPr>
          <p:cNvPr id="55" name="Text 53"/>
          <p:cNvSpPr/>
          <p:nvPr/>
        </p:nvSpPr>
        <p:spPr>
          <a:xfrm>
            <a:off x="1920240" y="4572000"/>
            <a:ext cx="4572000" cy="274320"/>
          </a:xfrm>
          <a:prstGeom prst="rect">
            <a:avLst/>
          </a:prstGeom>
          <a:noFill/>
          <a:ln/>
        </p:spPr>
        <p:txBody>
          <a:bodyPr wrap="square" lIns="0" tIns="0" rIns="0" bIns="0" rtlCol="0" anchor="ctr"/>
          <a:lstStyle/>
          <a:p>
            <a:pPr indent="0" marL="0">
              <a:buNone/>
            </a:pPr>
            <a:r>
              <a:rPr lang="en-US" sz="950" dirty="0">
                <a:solidFill>
                  <a:srgbClr val="F59E0B"/>
                </a:solidFill>
                <a:latin typeface="Consolas" pitchFamily="34" charset="0"/>
                <a:ea typeface="Consolas" pitchFamily="34" charset="-122"/>
                <a:cs typeface="Consolas" pitchFamily="34" charset="-120"/>
              </a:rPr>
              <a:t>share.streamlit.io  ·  ciip-pharma-supply-chain-intelligence</a:t>
            </a:r>
            <a:endParaRPr lang="en-US" sz="950" dirty="0"/>
          </a:p>
        </p:txBody>
      </p:sp>
      <p:sp>
        <p:nvSpPr>
          <p:cNvPr id="56" name="Text 54"/>
          <p:cNvSpPr/>
          <p:nvPr/>
        </p:nvSpPr>
        <p:spPr>
          <a:xfrm>
            <a:off x="594360" y="4828032"/>
            <a:ext cx="1371600" cy="201168"/>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GitHub:</a:t>
            </a:r>
            <a:endParaRPr lang="en-US" sz="900" dirty="0"/>
          </a:p>
        </p:txBody>
      </p:sp>
      <p:sp>
        <p:nvSpPr>
          <p:cNvPr id="57" name="Text 55"/>
          <p:cNvSpPr/>
          <p:nvPr/>
        </p:nvSpPr>
        <p:spPr>
          <a:xfrm>
            <a:off x="1920240" y="4828032"/>
            <a:ext cx="5486400" cy="201168"/>
          </a:xfrm>
          <a:prstGeom prst="rect">
            <a:avLst/>
          </a:prstGeom>
          <a:noFill/>
          <a:ln/>
        </p:spPr>
        <p:txBody>
          <a:bodyPr wrap="square" lIns="0" tIns="0" rIns="0" bIns="0" rtlCol="0" anchor="ctr"/>
          <a:lstStyle/>
          <a:p>
            <a:pPr indent="0" marL="0">
              <a:buNone/>
            </a:pPr>
            <a:r>
              <a:rPr lang="en-US" sz="900" dirty="0">
                <a:solidFill>
                  <a:srgbClr val="14B8A6"/>
                </a:solidFill>
                <a:latin typeface="Consolas" pitchFamily="34" charset="0"/>
                <a:ea typeface="Consolas" pitchFamily="34" charset="-122"/>
                <a:cs typeface="Consolas" pitchFamily="34" charset="-120"/>
              </a:rPr>
              <a:t>github.com/adityavsivaram/ciip-pharma-supply-chain-intelligence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B0D"/>
        </a:solidFill>
      </p:bgPr>
    </p:bg>
    <p:spTree>
      <p:nvGrpSpPr>
        <p:cNvPr id="1" name=""/>
        <p:cNvGrpSpPr/>
        <p:nvPr/>
      </p:nvGrpSpPr>
      <p:grpSpPr>
        <a:xfrm>
          <a:off x="0" y="0"/>
          <a:ext cx="0" cy="0"/>
          <a:chOff x="0" y="0"/>
          <a:chExt cx="0" cy="0"/>
        </a:xfrm>
      </p:grpSpPr>
      <p:sp>
        <p:nvSpPr>
          <p:cNvPr id="2" name="Shape 0"/>
          <p:cNvSpPr/>
          <p:nvPr/>
        </p:nvSpPr>
        <p:spPr>
          <a:xfrm>
            <a:off x="0" y="0"/>
            <a:ext cx="9144000" cy="27432"/>
          </a:xfrm>
          <a:prstGeom prst="rect">
            <a:avLst/>
          </a:prstGeom>
          <a:solidFill>
            <a:srgbClr val="D97706"/>
          </a:solidFill>
          <a:ln w="12700">
            <a:solidFill>
              <a:srgbClr val="D97706"/>
            </a:solidFill>
            <a:prstDash val="solid"/>
          </a:ln>
        </p:spPr>
      </p:sp>
      <p:sp>
        <p:nvSpPr>
          <p:cNvPr id="3" name="Shape 1"/>
          <p:cNvSpPr/>
          <p:nvPr/>
        </p:nvSpPr>
        <p:spPr>
          <a:xfrm>
            <a:off x="502920" y="731520"/>
            <a:ext cx="54864" cy="3840480"/>
          </a:xfrm>
          <a:prstGeom prst="rect">
            <a:avLst/>
          </a:prstGeom>
          <a:solidFill>
            <a:srgbClr val="D97706"/>
          </a:solidFill>
          <a:ln w="12700">
            <a:solidFill>
              <a:srgbClr val="D97706"/>
            </a:solidFill>
            <a:prstDash val="solid"/>
          </a:ln>
        </p:spPr>
      </p:sp>
      <p:sp>
        <p:nvSpPr>
          <p:cNvPr id="4" name="Text 2"/>
          <p:cNvSpPr/>
          <p:nvPr/>
        </p:nvSpPr>
        <p:spPr>
          <a:xfrm>
            <a:off x="713232" y="713232"/>
            <a:ext cx="6400800" cy="256032"/>
          </a:xfrm>
          <a:prstGeom prst="rect">
            <a:avLst/>
          </a:prstGeom>
          <a:noFill/>
          <a:ln/>
        </p:spPr>
        <p:txBody>
          <a:bodyPr wrap="square" lIns="0" tIns="0" rIns="0" bIns="0" rtlCol="0" anchor="ctr"/>
          <a:lstStyle/>
          <a:p>
            <a:pPr indent="0" marL="0">
              <a:buNone/>
            </a:pPr>
            <a:r>
              <a:rPr lang="en-US" sz="900" b="1" spc="500" kern="0" dirty="0">
                <a:solidFill>
                  <a:srgbClr val="D97706"/>
                </a:solidFill>
                <a:latin typeface="Calibri" pitchFamily="34" charset="0"/>
                <a:ea typeface="Calibri" pitchFamily="34" charset="-122"/>
                <a:cs typeface="Calibri" pitchFamily="34" charset="-120"/>
              </a:rPr>
              <a:t>CONCLUSION</a:t>
            </a:r>
            <a:endParaRPr lang="en-US" sz="900" dirty="0"/>
          </a:p>
        </p:txBody>
      </p:sp>
      <p:sp>
        <p:nvSpPr>
          <p:cNvPr id="5" name="Text 3"/>
          <p:cNvSpPr/>
          <p:nvPr/>
        </p:nvSpPr>
        <p:spPr>
          <a:xfrm>
            <a:off x="713232" y="960120"/>
            <a:ext cx="6858000" cy="1188720"/>
          </a:xfrm>
          <a:prstGeom prst="rect">
            <a:avLst/>
          </a:prstGeom>
          <a:noFill/>
          <a:ln/>
        </p:spPr>
        <p:txBody>
          <a:bodyPr wrap="square" lIns="0" tIns="0" rIns="0" bIns="0" rtlCol="0" anchor="ctr"/>
          <a:lstStyle/>
          <a:p>
            <a:pPr indent="0" marL="0">
              <a:buNone/>
            </a:pPr>
            <a:r>
              <a:rPr lang="en-US" sz="2800" b="1" dirty="0">
                <a:solidFill>
                  <a:srgbClr val="F8FAFC"/>
                </a:solidFill>
                <a:latin typeface="Calibri" pitchFamily="34" charset="0"/>
                <a:ea typeface="Calibri" pitchFamily="34" charset="-122"/>
                <a:cs typeface="Calibri" pitchFamily="34" charset="-120"/>
              </a:rPr>
              <a:t>The Risk Is Upstream.</a:t>
            </a:r>
            <a:endParaRPr lang="en-US" sz="2800" dirty="0"/>
          </a:p>
          <a:p>
            <a:pPr indent="0" marL="0">
              <a:buNone/>
            </a:pPr>
            <a:r>
              <a:rPr lang="en-US" sz="2800" b="1" dirty="0">
                <a:solidFill>
                  <a:srgbClr val="F8FAFC"/>
                </a:solidFill>
                <a:latin typeface="Calibri" pitchFamily="34" charset="0"/>
                <a:ea typeface="Calibri" pitchFamily="34" charset="-122"/>
                <a:cs typeface="Calibri" pitchFamily="34" charset="-120"/>
              </a:rPr>
              <a:t>Most Systems Are Looking Downstream.</a:t>
            </a:r>
            <a:endParaRPr lang="en-US" sz="2800" dirty="0"/>
          </a:p>
        </p:txBody>
      </p:sp>
      <p:sp>
        <p:nvSpPr>
          <p:cNvPr id="6" name="Shape 4"/>
          <p:cNvSpPr/>
          <p:nvPr/>
        </p:nvSpPr>
        <p:spPr>
          <a:xfrm>
            <a:off x="713232" y="2212848"/>
            <a:ext cx="6400800" cy="10973"/>
          </a:xfrm>
          <a:prstGeom prst="rect">
            <a:avLst/>
          </a:prstGeom>
          <a:solidFill>
            <a:srgbClr val="334155"/>
          </a:solidFill>
          <a:ln w="12700">
            <a:solidFill>
              <a:srgbClr val="334155"/>
            </a:solidFill>
            <a:prstDash val="solid"/>
          </a:ln>
        </p:spPr>
      </p:sp>
      <p:sp>
        <p:nvSpPr>
          <p:cNvPr id="7" name="Text 5"/>
          <p:cNvSpPr/>
          <p:nvPr/>
        </p:nvSpPr>
        <p:spPr>
          <a:xfrm>
            <a:off x="713232" y="2304288"/>
            <a:ext cx="6858000" cy="310896"/>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The CIIP Index does not solve a data problem. It solves a visibility architecture problem.</a:t>
            </a:r>
            <a:endParaRPr lang="en-US" sz="1200" dirty="0"/>
          </a:p>
        </p:txBody>
      </p:sp>
      <p:sp>
        <p:nvSpPr>
          <p:cNvPr id="8" name="Text 6"/>
          <p:cNvSpPr/>
          <p:nvPr/>
        </p:nvSpPr>
        <p:spPr>
          <a:xfrm>
            <a:off x="713232" y="2706624"/>
            <a:ext cx="6858000" cy="38404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Standard procurement systems monitor suppliers. The CIIP Index monitors what feeds those suppliers.</a:t>
            </a:r>
            <a:endParaRPr lang="en-US" sz="1000" dirty="0"/>
          </a:p>
        </p:txBody>
      </p:sp>
      <p:sp>
        <p:nvSpPr>
          <p:cNvPr id="9" name="Text 7"/>
          <p:cNvSpPr/>
          <p:nvPr/>
        </p:nvSpPr>
        <p:spPr>
          <a:xfrm>
            <a:off x="713232" y="3145536"/>
            <a:ext cx="6858000" cy="38404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Disruption forms 6–8 weeks upstream. That window is the intervention opportunity most organisations never see.</a:t>
            </a:r>
            <a:endParaRPr lang="en-US" sz="1000" dirty="0"/>
          </a:p>
        </p:txBody>
      </p:sp>
      <p:sp>
        <p:nvSpPr>
          <p:cNvPr id="10" name="Text 8"/>
          <p:cNvSpPr/>
          <p:nvPr/>
        </p:nvSpPr>
        <p:spPr>
          <a:xfrm>
            <a:off x="713232" y="3584448"/>
            <a:ext cx="6858000" cy="38404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Cross-industry demand competition is invisible to single-sector dashboards. It is not invisible to input-output analytics.</a:t>
            </a:r>
            <a:endParaRPr lang="en-US" sz="1000" dirty="0"/>
          </a:p>
        </p:txBody>
      </p:sp>
      <p:sp>
        <p:nvSpPr>
          <p:cNvPr id="11" name="Text 9"/>
          <p:cNvSpPr/>
          <p:nvPr/>
        </p:nvSpPr>
        <p:spPr>
          <a:xfrm>
            <a:off x="713232" y="4023360"/>
            <a:ext cx="6858000" cy="384048"/>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  Deployable today on existing Python infrastructure. The methodology requires no new technology — only new analytical questions.</a:t>
            </a:r>
            <a:endParaRPr lang="en-US" sz="1000" dirty="0"/>
          </a:p>
        </p:txBody>
      </p:sp>
      <p:sp>
        <p:nvSpPr>
          <p:cNvPr id="12" name="Shape 10"/>
          <p:cNvSpPr/>
          <p:nvPr/>
        </p:nvSpPr>
        <p:spPr>
          <a:xfrm>
            <a:off x="713232" y="4553712"/>
            <a:ext cx="6400800" cy="10973"/>
          </a:xfrm>
          <a:prstGeom prst="rect">
            <a:avLst/>
          </a:prstGeom>
          <a:solidFill>
            <a:srgbClr val="334155"/>
          </a:solidFill>
          <a:ln w="12700">
            <a:solidFill>
              <a:srgbClr val="334155"/>
            </a:solidFill>
            <a:prstDash val="solid"/>
          </a:ln>
        </p:spPr>
      </p:sp>
      <p:sp>
        <p:nvSpPr>
          <p:cNvPr id="13" name="Text 11"/>
          <p:cNvSpPr/>
          <p:nvPr/>
        </p:nvSpPr>
        <p:spPr>
          <a:xfrm>
            <a:off x="713232" y="4663440"/>
            <a:ext cx="5943600" cy="256032"/>
          </a:xfrm>
          <a:prstGeom prst="rect">
            <a:avLst/>
          </a:prstGeom>
          <a:noFill/>
          <a:ln/>
        </p:spPr>
        <p:txBody>
          <a:bodyPr wrap="square" lIns="0" tIns="0" rIns="0" bIns="0" rtlCol="0" anchor="ctr"/>
          <a:lstStyle/>
          <a:p>
            <a:pPr indent="0" marL="0">
              <a:buNone/>
            </a:pPr>
            <a:r>
              <a:rPr lang="en-US" sz="1000" i="1" dirty="0">
                <a:solidFill>
                  <a:srgbClr val="D97706"/>
                </a:solidFill>
                <a:latin typeface="Calibri" pitchFamily="34" charset="0"/>
                <a:ea typeface="Calibri" pitchFamily="34" charset="-122"/>
                <a:cs typeface="Calibri" pitchFamily="34" charset="-120"/>
              </a:rPr>
              <a:t>AI accelerates operational logic. It does not create it.</a:t>
            </a:r>
            <a:endParaRPr lang="en-US" sz="1000" dirty="0"/>
          </a:p>
        </p:txBody>
      </p:sp>
      <p:sp>
        <p:nvSpPr>
          <p:cNvPr id="14" name="Shape 12"/>
          <p:cNvSpPr/>
          <p:nvPr/>
        </p:nvSpPr>
        <p:spPr>
          <a:xfrm>
            <a:off x="7132320" y="1005840"/>
            <a:ext cx="1645920" cy="3840480"/>
          </a:xfrm>
          <a:prstGeom prst="rect">
            <a:avLst/>
          </a:prstGeom>
          <a:solidFill>
            <a:srgbClr val="161B22"/>
          </a:solidFill>
          <a:ln w="9525">
            <a:solidFill>
              <a:srgbClr val="21262D"/>
            </a:solidFill>
            <a:prstDash val="solid"/>
          </a:ln>
        </p:spPr>
      </p:sp>
      <p:sp>
        <p:nvSpPr>
          <p:cNvPr id="15" name="Text 13"/>
          <p:cNvSpPr/>
          <p:nvPr/>
        </p:nvSpPr>
        <p:spPr>
          <a:xfrm>
            <a:off x="7205472" y="1115568"/>
            <a:ext cx="1499616" cy="640080"/>
          </a:xfrm>
          <a:prstGeom prst="rect">
            <a:avLst/>
          </a:prstGeom>
          <a:noFill/>
          <a:ln/>
        </p:spPr>
        <p:txBody>
          <a:bodyPr wrap="square" lIns="0" tIns="0" rIns="0" bIns="0" rtlCol="0" anchor="ctr"/>
          <a:lstStyle/>
          <a:p>
            <a:pPr indent="0" marL="0">
              <a:buNone/>
            </a:pPr>
            <a:r>
              <a:rPr lang="en-US" sz="1200" b="1" dirty="0">
                <a:solidFill>
                  <a:srgbClr val="F8FAFC"/>
                </a:solidFill>
                <a:latin typeface="Calibri" pitchFamily="34" charset="0"/>
                <a:ea typeface="Calibri" pitchFamily="34" charset="-122"/>
                <a:cs typeface="Calibri" pitchFamily="34" charset="-120"/>
              </a:rPr>
              <a:t>Aditya V Sivaram</a:t>
            </a:r>
            <a:endParaRPr lang="en-US" sz="1200" dirty="0"/>
          </a:p>
          <a:p>
            <a:pPr indent="0" marL="0">
              <a:buNone/>
            </a:pPr>
            <a:r>
              <a:rPr lang="en-US" sz="1200" b="1" dirty="0">
                <a:solidFill>
                  <a:srgbClr val="F8FAFC"/>
                </a:solidFill>
                <a:latin typeface="Calibri" pitchFamily="34" charset="0"/>
                <a:ea typeface="Calibri" pitchFamily="34" charset="-122"/>
                <a:cs typeface="Calibri" pitchFamily="34" charset="-120"/>
              </a:rPr>
              <a:t>Poduri</a:t>
            </a:r>
            <a:endParaRPr lang="en-US" sz="1200" dirty="0"/>
          </a:p>
        </p:txBody>
      </p:sp>
      <p:sp>
        <p:nvSpPr>
          <p:cNvPr id="16" name="Text 14"/>
          <p:cNvSpPr/>
          <p:nvPr/>
        </p:nvSpPr>
        <p:spPr>
          <a:xfrm>
            <a:off x="7205472" y="1792224"/>
            <a:ext cx="1499616" cy="68580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Operational Intelligence</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Supply Chain Risk</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21+ Yrs Infrastructure</a:t>
            </a:r>
            <a:endParaRPr lang="en-US" sz="850" dirty="0"/>
          </a:p>
        </p:txBody>
      </p:sp>
      <p:sp>
        <p:nvSpPr>
          <p:cNvPr id="17" name="Shape 15"/>
          <p:cNvSpPr/>
          <p:nvPr/>
        </p:nvSpPr>
        <p:spPr>
          <a:xfrm>
            <a:off x="7205472" y="2523744"/>
            <a:ext cx="1499616" cy="10973"/>
          </a:xfrm>
          <a:prstGeom prst="rect">
            <a:avLst/>
          </a:prstGeom>
          <a:solidFill>
            <a:srgbClr val="334155"/>
          </a:solidFill>
          <a:ln w="12700">
            <a:solidFill>
              <a:srgbClr val="334155"/>
            </a:solidFill>
            <a:prstDash val="solid"/>
          </a:ln>
        </p:spPr>
      </p:sp>
      <p:sp>
        <p:nvSpPr>
          <p:cNvPr id="18" name="Text 16"/>
          <p:cNvSpPr/>
          <p:nvPr/>
        </p:nvSpPr>
        <p:spPr>
          <a:xfrm>
            <a:off x="7205472" y="2606040"/>
            <a:ext cx="1499616" cy="640080"/>
          </a:xfrm>
          <a:prstGeom prst="rect">
            <a:avLst/>
          </a:prstGeom>
          <a:noFill/>
          <a:ln/>
        </p:spPr>
        <p:txBody>
          <a:bodyPr wrap="square" lIns="0" tIns="0" rIns="0" bIns="0" rtlCol="0" anchor="ctr"/>
          <a:lstStyle/>
          <a:p>
            <a:pPr indent="0" marL="0">
              <a:buNone/>
            </a:pPr>
            <a:r>
              <a:rPr lang="en-US" sz="850" dirty="0">
                <a:solidFill>
                  <a:srgbClr val="D97706"/>
                </a:solidFill>
                <a:latin typeface="Calibri" pitchFamily="34" charset="0"/>
                <a:ea typeface="Calibri" pitchFamily="34" charset="-122"/>
                <a:cs typeface="Calibri" pitchFamily="34" charset="-120"/>
              </a:rPr>
              <a:t>India Supply</a:t>
            </a:r>
            <a:endParaRPr lang="en-US" sz="850" dirty="0"/>
          </a:p>
          <a:p>
            <a:pPr indent="0" marL="0">
              <a:buNone/>
            </a:pPr>
            <a:r>
              <a:rPr lang="en-US" sz="850" dirty="0">
                <a:solidFill>
                  <a:srgbClr val="D97706"/>
                </a:solidFill>
                <a:latin typeface="Calibri" pitchFamily="34" charset="0"/>
                <a:ea typeface="Calibri" pitchFamily="34" charset="-122"/>
                <a:cs typeface="Calibri" pitchFamily="34" charset="-120"/>
              </a:rPr>
              <a:t>Chain Signals</a:t>
            </a:r>
            <a:endParaRPr lang="en-US" sz="850" dirty="0"/>
          </a:p>
        </p:txBody>
      </p:sp>
      <p:sp>
        <p:nvSpPr>
          <p:cNvPr id="19" name="Text 17"/>
          <p:cNvSpPr/>
          <p:nvPr/>
        </p:nvSpPr>
        <p:spPr>
          <a:xfrm>
            <a:off x="7205472" y="3319272"/>
            <a:ext cx="1499616" cy="640080"/>
          </a:xfrm>
          <a:prstGeom prst="rect">
            <a:avLst/>
          </a:prstGeom>
          <a:noFill/>
          <a:ln/>
        </p:spPr>
        <p:txBody>
          <a:bodyPr wrap="square" lIns="0" tIns="0" rIns="0" bIns="0" rtlCol="0" anchor="ctr"/>
          <a:lstStyle/>
          <a:p>
            <a:pPr indent="0" marL="0">
              <a:buNone/>
            </a:pPr>
            <a:r>
              <a:rPr lang="en-US" sz="850" dirty="0">
                <a:solidFill>
                  <a:srgbClr val="14B8A6"/>
                </a:solidFill>
                <a:latin typeface="Calibri" pitchFamily="34" charset="0"/>
                <a:ea typeface="Calibri" pitchFamily="34" charset="-122"/>
                <a:cs typeface="Calibri" pitchFamily="34" charset="-120"/>
              </a:rPr>
              <a:t>indiasupply</a:t>
            </a:r>
            <a:endParaRPr lang="en-US" sz="850" dirty="0"/>
          </a:p>
          <a:p>
            <a:pPr indent="0" marL="0">
              <a:buNone/>
            </a:pPr>
            <a:r>
              <a:rPr lang="en-US" sz="850" dirty="0">
                <a:solidFill>
                  <a:srgbClr val="14B8A6"/>
                </a:solidFill>
                <a:latin typeface="Calibri" pitchFamily="34" charset="0"/>
                <a:ea typeface="Calibri" pitchFamily="34" charset="-122"/>
                <a:cs typeface="Calibri" pitchFamily="34" charset="-120"/>
              </a:rPr>
              <a:t>chainsignals.</a:t>
            </a:r>
            <a:endParaRPr lang="en-US" sz="850" dirty="0"/>
          </a:p>
          <a:p>
            <a:pPr indent="0" marL="0">
              <a:buNone/>
            </a:pPr>
            <a:r>
              <a:rPr lang="en-US" sz="850" dirty="0">
                <a:solidFill>
                  <a:srgbClr val="14B8A6"/>
                </a:solidFill>
                <a:latin typeface="Calibri" pitchFamily="34" charset="0"/>
                <a:ea typeface="Calibri" pitchFamily="34" charset="-122"/>
                <a:cs typeface="Calibri" pitchFamily="34" charset="-120"/>
              </a:rPr>
              <a:t>substack.com</a:t>
            </a:r>
            <a:endParaRPr lang="en-US" sz="850" dirty="0"/>
          </a:p>
        </p:txBody>
      </p:sp>
      <p:sp>
        <p:nvSpPr>
          <p:cNvPr id="20" name="Text 18"/>
          <p:cNvSpPr/>
          <p:nvPr/>
        </p:nvSpPr>
        <p:spPr>
          <a:xfrm>
            <a:off x="7205472" y="4032504"/>
            <a:ext cx="1499616" cy="640080"/>
          </a:xfrm>
          <a:prstGeom prst="rect">
            <a:avLst/>
          </a:prstGeom>
          <a:noFill/>
          <a:ln/>
        </p:spPr>
        <p:txBody>
          <a:bodyPr wrap="square" lIns="0" tIns="0" rIns="0" bIns="0" rtlCol="0" anchor="ctr"/>
          <a:lstStyle/>
          <a:p>
            <a:pPr indent="0" marL="0">
              <a:buNone/>
            </a:pPr>
            <a:r>
              <a:rPr lang="en-US" sz="850" dirty="0">
                <a:solidFill>
                  <a:srgbClr val="94A3B8"/>
                </a:solidFill>
                <a:latin typeface="Calibri" pitchFamily="34" charset="0"/>
                <a:ea typeface="Calibri" pitchFamily="34" charset="-122"/>
                <a:cs typeface="Calibri" pitchFamily="34" charset="-120"/>
              </a:rPr>
              <a:t>adityavsivaram</a:t>
            </a:r>
            <a:endParaRPr lang="en-US" sz="850" dirty="0"/>
          </a:p>
          <a:p>
            <a:pPr indent="0" marL="0">
              <a:buNone/>
            </a:pPr>
            <a:r>
              <a:rPr lang="en-US" sz="850" dirty="0">
                <a:solidFill>
                  <a:srgbClr val="94A3B8"/>
                </a:solidFill>
                <a:latin typeface="Calibri" pitchFamily="34" charset="0"/>
                <a:ea typeface="Calibri" pitchFamily="34" charset="-122"/>
                <a:cs typeface="Calibri" pitchFamily="34" charset="-120"/>
              </a:rPr>
              <a:t>@gmail.com</a:t>
            </a:r>
            <a:endParaRPr lang="en-US" sz="850" dirty="0"/>
          </a:p>
        </p:txBody>
      </p:sp>
      <p:sp>
        <p:nvSpPr>
          <p:cNvPr id="21" name="Shape 19"/>
          <p:cNvSpPr/>
          <p:nvPr/>
        </p:nvSpPr>
        <p:spPr>
          <a:xfrm>
            <a:off x="0" y="5116068"/>
            <a:ext cx="9144000" cy="27432"/>
          </a:xfrm>
          <a:prstGeom prst="rect">
            <a:avLst/>
          </a:prstGeom>
          <a:solidFill>
            <a:srgbClr val="1C2230"/>
          </a:solidFill>
          <a:ln w="12700">
            <a:solidFill>
              <a:srgbClr val="1C2230"/>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CIIP Index — India Pharma Supply Chain Intelligence System</dc:title>
  <dc:subject>PptxGenJS Presentation</dc:subject>
  <dc:creator>Aditya V Sivaram Poduri</dc:creator>
  <cp:lastModifiedBy>Aditya V Sivaram Poduri</cp:lastModifiedBy>
  <cp:revision>1</cp:revision>
  <dcterms:created xsi:type="dcterms:W3CDTF">2026-06-03T05:38:29Z</dcterms:created>
  <dcterms:modified xsi:type="dcterms:W3CDTF">2026-06-03T05:38:29Z</dcterms:modified>
</cp:coreProperties>
</file>